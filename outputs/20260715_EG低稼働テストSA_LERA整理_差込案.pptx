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820" r:id="rId4"/>
    <p:sldMasterId id="2147483902" r:id="rId5"/>
  </p:sldMasterIdLst>
  <p:notesMasterIdLst>
    <p:notesMasterId r:id="rId8"/>
  </p:notesMasterIdLst>
  <p:handoutMasterIdLst>
    <p:handoutMasterId r:id="rId9"/>
  </p:handoutMasterIdLst>
  <p:sldIdLst>
    <p:sldId id="277" r:id="rId7"/>
    <p:sldId id="278" r:id="rId15"/>
    <p:sldId id="279" r:id="rId16"/>
    <p:sldId id="280" r:id="rId17"/>
    <p:sldId id="281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232"/>
    <a:srgbClr val="FFFFFF"/>
    <a:srgbClr val="FDF0CC"/>
    <a:srgbClr val="CCEDD8"/>
    <a:srgbClr val="ECF1F4"/>
    <a:srgbClr val="333333"/>
    <a:srgbClr val="EFF3F4"/>
    <a:srgbClr val="EFF4F5"/>
    <a:srgbClr val="EEF3F5"/>
    <a:srgbClr val="ED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162A68-733E-4F3C-9ADD-924EC3511053}" v="15" dt="2026-06-28T01:50:16.693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 autoAdjust="0"/>
    <p:restoredTop sz="94558"/>
  </p:normalViewPr>
  <p:slideViewPr>
    <p:cSldViewPr snapToGrid="0">
      <p:cViewPr>
        <p:scale>
          <a:sx n="125" d="100"/>
          <a:sy n="125" d="100"/>
        </p:scale>
        <p:origin x="111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320" y="152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2707A5F-A7D6-C641-8208-3E6DFDB2F4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0554B22-9586-484A-A766-0C4435114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2A3B7-46B2-E94A-9EF8-D8D874E780F7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85D71E-D7E7-1E4D-A100-20172004F5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F7FD02-B9AC-5040-9426-86C1B469DF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C1043-B07B-A34C-A6AD-E266C03B38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209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F1F98-6922-D549-90B4-4FEE2DCA453F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9B8F7-F11D-7247-854D-760B01224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86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145FA22-8B15-8165-6374-D653E8B173C9}"/>
              </a:ext>
            </a:extLst>
          </p:cNvPr>
          <p:cNvSpPr/>
          <p:nvPr userDrawn="1"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10925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プレゼンテーション</a:t>
            </a:r>
            <a:r>
              <a:rPr kumimoji="1" lang="en-US" altLang="ja-JP" dirty="0"/>
              <a:t> </a:t>
            </a:r>
            <a:r>
              <a:rPr kumimoji="1" lang="ja-JP" altLang="en-US"/>
              <a:t>タイトル</a:t>
            </a:r>
            <a:br>
              <a:rPr kumimoji="1" lang="en-US" altLang="ja-JP" dirty="0"/>
            </a:br>
            <a:r>
              <a:rPr kumimoji="1" lang="ja-JP" altLang="en-US"/>
              <a:t>游ゴシック</a:t>
            </a:r>
            <a:r>
              <a:rPr kumimoji="1" lang="en-US" altLang="ja-JP" dirty="0"/>
              <a:t> Bold 42pt </a:t>
            </a:r>
            <a:br>
              <a:rPr kumimoji="1" lang="en-US" altLang="ja-JP" dirty="0"/>
            </a:br>
            <a:r>
              <a:rPr kumimoji="1" lang="ja-JP" altLang="en-US"/>
              <a:t>行間</a:t>
            </a:r>
            <a:r>
              <a:rPr kumimoji="1" lang="en-US" altLang="ja-JP" dirty="0"/>
              <a:t>0.95</a:t>
            </a:r>
            <a:endParaRPr kumimoji="1" lang="ja-JP" altLang="en-US" dirty="0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10925374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18pt / </a:t>
            </a:r>
            <a:r>
              <a:rPr kumimoji="1" lang="ja-JP" altLang="en-US"/>
              <a:t>行間</a:t>
            </a:r>
            <a:r>
              <a:rPr kumimoji="1" lang="en-US" altLang="ja-JP" dirty="0"/>
              <a:t>1</a:t>
            </a:r>
            <a:br>
              <a:rPr kumimoji="1" lang="en-US" altLang="ja-JP" dirty="0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 dirty="0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10925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24pt</a:t>
            </a:r>
            <a:endParaRPr kumimoji="1" lang="ja-JP" altLang="en-US" dirty="0"/>
          </a:p>
        </p:txBody>
      </p:sp>
      <p:pic>
        <p:nvPicPr>
          <p:cNvPr id="3" name="図 2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64AB173A-EA3B-7645-9D0D-8E3868B405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A0EB70-8290-4B6C-601C-66C676EEEC59}"/>
              </a:ext>
            </a:extLst>
          </p:cNvPr>
          <p:cNvSpPr txBox="1"/>
          <p:nvPr userDrawn="1"/>
        </p:nvSpPr>
        <p:spPr>
          <a:xfrm>
            <a:off x="10768120" y="6481123"/>
            <a:ext cx="1188000" cy="226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000" b="0" i="0" dirty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000" b="0" i="0" dirty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5572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1BC9BC-7E85-1F07-EBFA-39A9BB38A2B7}"/>
              </a:ext>
            </a:extLst>
          </p:cNvPr>
          <p:cNvSpPr/>
          <p:nvPr userDrawn="1"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10925374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6" y="2867723"/>
            <a:ext cx="10925374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 dirty="0"/>
            </a:br>
            <a:r>
              <a:rPr lang="ja-JP" altLang="en-US" sz="4000"/>
              <a:t>游ゴシック</a:t>
            </a:r>
            <a:r>
              <a:rPr lang="en-US" altLang="ja-JP" sz="4000" dirty="0"/>
              <a:t> Bold 40pt / </a:t>
            </a:r>
            <a:r>
              <a:rPr lang="ja-JP" altLang="en-US" sz="4000"/>
              <a:t>行間</a:t>
            </a:r>
            <a:r>
              <a:rPr lang="en-US" altLang="ja-JP" sz="4000" dirty="0"/>
              <a:t>1</a:t>
            </a:r>
            <a:endParaRPr kumimoji="1" lang="ja-JP" altLang="en-US" dirty="0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59FEB064-9E10-7E77-2F7C-DF29C7A3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8D456C-3A5F-8896-F0EE-B33399FAFE73}"/>
              </a:ext>
            </a:extLst>
          </p:cNvPr>
          <p:cNvSpPr txBox="1"/>
          <p:nvPr userDrawn="1"/>
        </p:nvSpPr>
        <p:spPr>
          <a:xfrm>
            <a:off x="10768120" y="6481123"/>
            <a:ext cx="1188000" cy="226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000" b="0" i="0" dirty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000" b="0" i="0" dirty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30653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54A9AD2-A44F-6C4C-90A5-7E0F6615A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6" y="255264"/>
            <a:ext cx="9327072" cy="369332"/>
          </a:xfrm>
        </p:spPr>
        <p:txBody>
          <a:bodyPr/>
          <a:lstStyle/>
          <a:p>
            <a:r>
              <a:rPr kumimoji="1" lang="ja-JP" altLang="en-US"/>
              <a:t>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Bold 24pt</a:t>
            </a:r>
            <a:endParaRPr kumimoji="1" lang="ja-JP" alt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F51E5A19-FBB7-6442-9D4F-1E3DFA3936D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4338" y="1187355"/>
            <a:ext cx="11550650" cy="5049933"/>
          </a:xfrm>
        </p:spPr>
        <p:txBody>
          <a:bodyPr/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16pt / </a:t>
            </a:r>
            <a:r>
              <a:rPr kumimoji="1" lang="ja-JP" altLang="en-US"/>
              <a:t>行間</a:t>
            </a:r>
            <a:r>
              <a:rPr kumimoji="1" lang="en-US" altLang="ja-JP" dirty="0"/>
              <a:t>1.5</a:t>
            </a:r>
            <a:br>
              <a:rPr kumimoji="1" lang="en-US" altLang="ja-JP" dirty="0"/>
            </a:br>
            <a:r>
              <a:rPr kumimoji="1" lang="ja-JP" altLang="en-US"/>
              <a:t>テーマカラー：</a:t>
            </a:r>
            <a:r>
              <a:rPr kumimoji="1" lang="en-US" altLang="ja-JP" dirty="0"/>
              <a:t>Blue and Cool gray 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8411784-F115-E34D-82CF-2B9A4DC7E26D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 descr="アイコン&#10;&#10;低い精度で自動的に生成された説明">
            <a:extLst>
              <a:ext uri="{FF2B5EF4-FFF2-40B4-BE49-F238E27FC236}">
                <a16:creationId xmlns:a16="http://schemas.microsoft.com/office/drawing/2014/main" id="{CE14A7BB-2994-99E1-3721-81C07CB69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31" y="66162"/>
            <a:ext cx="1441424" cy="66290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EEFED9-E019-710B-72E6-0656FE0ABEE4}"/>
              </a:ext>
            </a:extLst>
          </p:cNvPr>
          <p:cNvSpPr txBox="1"/>
          <p:nvPr userDrawn="1"/>
        </p:nvSpPr>
        <p:spPr>
          <a:xfrm>
            <a:off x="10768120" y="6481123"/>
            <a:ext cx="1188000" cy="226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000" b="0" i="0" dirty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000" b="0" i="0" dirty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313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145FA22-8B15-8165-6374-D653E8B173C9}"/>
              </a:ext>
            </a:extLst>
          </p:cNvPr>
          <p:cNvSpPr/>
          <p:nvPr userDrawn="1"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10925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プレゼンテーション</a:t>
            </a:r>
            <a:r>
              <a:rPr kumimoji="1" lang="en-US" altLang="ja-JP" dirty="0"/>
              <a:t> </a:t>
            </a:r>
            <a:r>
              <a:rPr kumimoji="1" lang="ja-JP" altLang="en-US"/>
              <a:t>タイトル</a:t>
            </a:r>
            <a:br>
              <a:rPr kumimoji="1" lang="en-US" altLang="ja-JP" dirty="0"/>
            </a:br>
            <a:r>
              <a:rPr kumimoji="1" lang="ja-JP" altLang="en-US"/>
              <a:t>游ゴシック</a:t>
            </a:r>
            <a:r>
              <a:rPr kumimoji="1" lang="en-US" altLang="ja-JP" dirty="0"/>
              <a:t> Bold 42pt </a:t>
            </a:r>
            <a:br>
              <a:rPr kumimoji="1" lang="en-US" altLang="ja-JP" dirty="0"/>
            </a:br>
            <a:r>
              <a:rPr kumimoji="1" lang="ja-JP" altLang="en-US"/>
              <a:t>行間</a:t>
            </a:r>
            <a:r>
              <a:rPr kumimoji="1" lang="en-US" altLang="ja-JP" dirty="0"/>
              <a:t>0.95</a:t>
            </a:r>
            <a:endParaRPr kumimoji="1" lang="ja-JP" altLang="en-US" dirty="0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10925374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18pt / </a:t>
            </a:r>
            <a:r>
              <a:rPr kumimoji="1" lang="ja-JP" altLang="en-US"/>
              <a:t>行間</a:t>
            </a:r>
            <a:r>
              <a:rPr kumimoji="1" lang="en-US" altLang="ja-JP" dirty="0"/>
              <a:t>1</a:t>
            </a:r>
            <a:br>
              <a:rPr kumimoji="1" lang="en-US" altLang="ja-JP" dirty="0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 dirty="0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10925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24pt</a:t>
            </a:r>
            <a:endParaRPr kumimoji="1" lang="ja-JP" altLang="en-US" dirty="0"/>
          </a:p>
        </p:txBody>
      </p:sp>
      <p:pic>
        <p:nvPicPr>
          <p:cNvPr id="3" name="図 2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64AB173A-EA3B-7645-9D0D-8E3868B405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84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1BC9BC-7E85-1F07-EBFA-39A9BB38A2B7}"/>
              </a:ext>
            </a:extLst>
          </p:cNvPr>
          <p:cNvSpPr/>
          <p:nvPr userDrawn="1"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10925374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6" y="2867723"/>
            <a:ext cx="10925374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 dirty="0"/>
            </a:br>
            <a:r>
              <a:rPr lang="ja-JP" altLang="en-US" sz="4000"/>
              <a:t>游ゴシック</a:t>
            </a:r>
            <a:r>
              <a:rPr lang="en-US" altLang="ja-JP" sz="4000" dirty="0"/>
              <a:t> Bold 40pt / </a:t>
            </a:r>
            <a:r>
              <a:rPr lang="ja-JP" altLang="en-US" sz="4000"/>
              <a:t>行間</a:t>
            </a:r>
            <a:r>
              <a:rPr lang="en-US" altLang="ja-JP" sz="4000" dirty="0"/>
              <a:t>1</a:t>
            </a:r>
            <a:endParaRPr kumimoji="1" lang="ja-JP" altLang="en-US" dirty="0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59FEB064-9E10-7E77-2F7C-DF29C7A3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20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54A9AD2-A44F-6C4C-90A5-7E0F6615A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6" y="255264"/>
            <a:ext cx="9327072" cy="369332"/>
          </a:xfrm>
        </p:spPr>
        <p:txBody>
          <a:bodyPr/>
          <a:lstStyle/>
          <a:p>
            <a:r>
              <a:rPr kumimoji="1" lang="ja-JP" altLang="en-US"/>
              <a:t>タイトル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Bold 24pt</a:t>
            </a:r>
            <a:endParaRPr kumimoji="1" lang="ja-JP" alt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F51E5A19-FBB7-6442-9D4F-1E3DFA3936D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4338" y="1187355"/>
            <a:ext cx="11550650" cy="5049933"/>
          </a:xfrm>
        </p:spPr>
        <p:txBody>
          <a:bodyPr/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 dirty="0"/>
              <a:t> </a:t>
            </a:r>
            <a:r>
              <a:rPr kumimoji="1" lang="ja-JP" altLang="en-US"/>
              <a:t>游ゴシック </a:t>
            </a:r>
            <a:r>
              <a:rPr kumimoji="1" lang="en-US" altLang="ja-JP" dirty="0"/>
              <a:t>Medium 16pt / </a:t>
            </a:r>
            <a:r>
              <a:rPr kumimoji="1" lang="ja-JP" altLang="en-US"/>
              <a:t>行間</a:t>
            </a:r>
            <a:r>
              <a:rPr kumimoji="1" lang="en-US" altLang="ja-JP" dirty="0"/>
              <a:t>1.5</a:t>
            </a:r>
            <a:br>
              <a:rPr kumimoji="1" lang="en-US" altLang="ja-JP" dirty="0"/>
            </a:br>
            <a:r>
              <a:rPr kumimoji="1" lang="ja-JP" altLang="en-US"/>
              <a:t>テーマカラー：</a:t>
            </a:r>
            <a:r>
              <a:rPr kumimoji="1" lang="en-US" altLang="ja-JP" dirty="0"/>
              <a:t>Blue and Cool gray 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8411784-F115-E34D-82CF-2B9A4DC7E26D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 descr="アイコン&#10;&#10;低い精度で自動的に生成された説明">
            <a:extLst>
              <a:ext uri="{FF2B5EF4-FFF2-40B4-BE49-F238E27FC236}">
                <a16:creationId xmlns:a16="http://schemas.microsoft.com/office/drawing/2014/main" id="{CE14A7BB-2994-99E1-3721-81C07CB69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31" y="66162"/>
            <a:ext cx="1441424" cy="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29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フッター プレースホルダー 2">
            <a:extLst>
              <a:ext uri="{FF2B5EF4-FFF2-40B4-BE49-F238E27FC236}">
                <a16:creationId xmlns:a16="http://schemas.microsoft.com/office/drawing/2014/main" id="{793D33C9-6286-93AD-F690-DD106EE41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39" name="スライド番号プレースホルダー 3">
            <a:extLst>
              <a:ext uri="{FF2B5EF4-FFF2-40B4-BE49-F238E27FC236}">
                <a16:creationId xmlns:a16="http://schemas.microsoft.com/office/drawing/2014/main" id="{1E9F7E52-3585-A248-DCF9-10FD61D02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タイトル プレースホルダー 4">
            <a:extLst>
              <a:ext uri="{FF2B5EF4-FFF2-40B4-BE49-F238E27FC236}">
                <a16:creationId xmlns:a16="http://schemas.microsoft.com/office/drawing/2014/main" id="{20757BDD-7C5A-9847-972C-E62918DA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6" y="255264"/>
            <a:ext cx="9548530" cy="3693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AEC7C21-0104-334A-9DA4-A2175358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187354"/>
            <a:ext cx="11556999" cy="504993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9639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58" r:id="rId2"/>
    <p:sldLayoutId id="2147483864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1" i="0" kern="1200" spc="-50" baseline="0">
          <a:solidFill>
            <a:schemeClr val="tx1"/>
          </a:solidFill>
          <a:latin typeface="+mj-lt"/>
          <a:ea typeface="+mj-ea"/>
          <a:cs typeface="Meiryo" charset="-128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4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6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2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00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537" userDrawn="1">
          <p15:clr>
            <a:srgbClr val="F26B43"/>
          </p15:clr>
        </p15:guide>
        <p15:guide id="5" pos="25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フッター プレースホルダー 2">
            <a:extLst>
              <a:ext uri="{FF2B5EF4-FFF2-40B4-BE49-F238E27FC236}">
                <a16:creationId xmlns:a16="http://schemas.microsoft.com/office/drawing/2014/main" id="{793D33C9-6286-93AD-F690-DD106EE41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39" name="スライド番号プレースホルダー 3">
            <a:extLst>
              <a:ext uri="{FF2B5EF4-FFF2-40B4-BE49-F238E27FC236}">
                <a16:creationId xmlns:a16="http://schemas.microsoft.com/office/drawing/2014/main" id="{1E9F7E52-3585-A248-DCF9-10FD61D02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タイトル プレースホルダー 4">
            <a:extLst>
              <a:ext uri="{FF2B5EF4-FFF2-40B4-BE49-F238E27FC236}">
                <a16:creationId xmlns:a16="http://schemas.microsoft.com/office/drawing/2014/main" id="{20757BDD-7C5A-9847-972C-E62918DA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6" y="255264"/>
            <a:ext cx="9548530" cy="3693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AEC7C21-0104-334A-9DA4-A2175358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187354"/>
            <a:ext cx="11556999" cy="504993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マスター テキストの書式設定</a:t>
            </a:r>
          </a:p>
          <a:p>
            <a:pPr marL="64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2 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レベル</a:t>
            </a:r>
          </a:p>
          <a:p>
            <a:pPr marL="100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3 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レベル</a:t>
            </a:r>
          </a:p>
          <a:p>
            <a:pPr marL="1365750" marR="0" lvl="3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4 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レベル</a:t>
            </a:r>
          </a:p>
          <a:p>
            <a:pPr marL="1725750" marR="0" lvl="4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5 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游ゴシック Medium"/>
                <a:cs typeface="+mn-cs"/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2232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1" i="0" kern="1200" spc="-50" baseline="0">
          <a:solidFill>
            <a:schemeClr val="tx1"/>
          </a:solidFill>
          <a:latin typeface="+mj-lt"/>
          <a:ea typeface="+mj-ea"/>
          <a:cs typeface="Meiryo" charset="-128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00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537" userDrawn="1">
          <p15:clr>
            <a:srgbClr val="F26B43"/>
          </p15:clr>
        </p15:guide>
        <p15:guide id="5" pos="257" userDrawn="1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2EBE981-D14D-9DAC-FFD6-E8A23E4D5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BA6464-558C-CBE0-D5B9-0F57DEA01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406D690-2A83-8777-CE41-8BF3F0C4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テストの目的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702000"/>
            <a:ext cx="116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latin typeface="BIZ UDPゴシック"/>
                <a:ea typeface="BIZ UDPゴシック"/>
              </a:rPr>
              <a:t>対策を織り込んだM50相当運転で、製品品質が規格・運転管理値に収まり、想定外の変化がないことを実機で確認する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296000"/>
            <a:ext cx="11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latin typeface="BIZ UDPゴシック"/>
                <a:ea typeface="BIZ UDPゴシック"/>
              </a:rPr>
              <a:t>背景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IZ UDPゴシック"/>
                <a:ea typeface="BIZ UDPゴシック"/>
              </a:rPr>
              <a:t>・M50運転では系内の不純物濃度が上がり、製品品質の確保が課題となる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IZ UDPゴシック"/>
                <a:ea typeface="BIZ UDPゴシック"/>
              </a:rPr>
              <a:t>・対策（リン酸塩添加・MEG塔温度低減）を検討しており、有効と考えている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3096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latin typeface="BIZ UDPゴシック"/>
                <a:ea typeface="BIZ UDPゴシック"/>
              </a:rPr>
              <a:t>実機テスト目的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IZ UDPゴシック"/>
                <a:ea typeface="BIZ UDPゴシック"/>
              </a:rPr>
              <a:t>・M50相当の運転条件（低稼働・低水比）において、対策を織り込んだ運転で以下を確認する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IZ UDPゴシック"/>
                <a:ea typeface="BIZ UDPゴシック"/>
              </a:rPr>
              <a:t>　確認①：製品（MEG・DEG・TEG）の品質が規格・運転管理値に収まること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IZ UDPゴシック"/>
                <a:ea typeface="BIZ UDPゴシック"/>
              </a:rPr>
              <a:t>　確認②：系内の不純物バランスが想定どおりであること（想定外の変化がないことの確認）</a:t>
            </a:r>
          </a:p>
        </p:txBody>
      </p:sp>
    </p:spTree>
    <p:extLst>
      <p:ext uri="{BB962C8B-B14F-4D97-AF65-F5344CB8AC3E}">
        <p14:creationId xmlns:p14="http://schemas.microsoft.com/office/powerpoint/2010/main" val="342009702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2EBE981-D14D-9DAC-FFD6-E8A23E4D5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BA6464-558C-CBE0-D5B9-0F57DEA01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406D690-2A83-8777-CE41-8BF3F0C4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LERA運転モードの比較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702000"/>
            <a:ext cx="116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latin typeface="BIZ UDPゴシック"/>
                <a:ea typeface="BIZ UDPゴシック"/>
              </a:rPr>
              <a:t>どちらのモードでもテスト目的は達成できる。現場負荷とリスクの見合いで選択したい（相談）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1999" y="1098000"/>
          <a:ext cx="11663999" cy="502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5999"/>
                <a:gridCol w="5004000"/>
                <a:gridCol w="5004000"/>
              </a:tblGrid>
              <a:tr h="558000"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BIZ UDPゴシック"/>
                          <a:ea typeface="BIZ UDPゴシック"/>
                        </a:rPr>
                        <a:t>観点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BIZ UDPゴシック"/>
                          <a:ea typeface="BIZ UDPゴシック"/>
                        </a:rPr>
                        <a:t>LERA to EG（現計画）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BIZ UDPゴシック"/>
                          <a:ea typeface="BIZ UDPゴシック"/>
                        </a:rPr>
                        <a:t>LERA to EO（切替案）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テスト成立性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成立（EG行きEO＝精製塔2.3＋LERA 5.2 t/h）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成立（EG行きEO＝精製塔7.5 t/h）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制御・安定運転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0000"/>
                          </a:solidFill>
                          <a:latin typeface="BIZ UDPゴシック"/>
                          <a:ea typeface="BIZ UDPゴシック"/>
                        </a:rPr>
                        <a:t>課題：</a:t>
                      </a:r>
                      <a:r>
                        <a:rPr sz="1600" b="0">
                          <a:latin typeface="BIZ UDPゴシック"/>
                          <a:ea typeface="BIZ UDPゴシック"/>
                        </a:rPr>
                        <a:t>EO 2.3t/h＝CV開度2〜3%・LL近接。成立性を定量評価中（次頁）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FF"/>
                          </a:solidFill>
                          <a:latin typeface="BIZ UDPゴシック"/>
                          <a:ea typeface="BIZ UDPゴシック"/>
                        </a:rPr>
                        <a:t>CV通常開度域＝制御課題は解消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保安（I/L）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FK1432 LL 6.0→0.6 t/hの変更要（期間限定・終了後復旧）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FF"/>
                          </a:solidFill>
                          <a:latin typeface="BIZ UDPゴシック"/>
                          <a:ea typeface="BIZ UDPゴシック"/>
                        </a:rPr>
                        <a:t>I/L変更不要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非定常操作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切替操作なし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0000"/>
                          </a:solidFill>
                          <a:latin typeface="BIZ UDPゴシック"/>
                          <a:ea typeface="BIZ UDPゴシック"/>
                        </a:rPr>
                        <a:t>課題：</a:t>
                      </a:r>
                      <a:r>
                        <a:rPr sz="1600" b="0">
                          <a:latin typeface="BIZ UDPゴシック"/>
                          <a:ea typeface="BIZ UDPゴシック"/>
                        </a:rPr>
                        <a:t>切替操作あり（半日・ボード4名専念）＝役割を事前指名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現場負荷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通常直で対応可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切替日に応援・時間外が必要（人数・日程は運転と調整中）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生産・外販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外販253t/d・50%稼働を維持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切替直後に外販約10t/hの一時ダウン（外販バランスへ織込み）。EG2は70%稼働可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経済性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増分なし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蒸気＋10t/h＝＋0.6〜1.1百万円/日（約3週間で12〜17百万円）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開始時期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7/28開始可（現計画）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制御性評価と切替準備の完了後＝1週ずらし案とセット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1999" y="6173999"/>
            <a:ext cx="116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BIZ UDPゴシック"/>
                <a:ea typeface="BIZ UDPゴシック"/>
              </a:rPr>
              <a:t>決め手＝EG行きEO 2.3t/hの制御性評価（次頁）。切替の場合は実施時期と合わせて判断する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2EBE981-D14D-9DAC-FFD6-E8A23E4D5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BA6464-558C-CBE0-D5B9-0F57DEA01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406D690-2A83-8777-CE41-8BF3F0C4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EG行きEO 2.3t/hの制御性評価（LERA to EG継続の成立条件）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702000"/>
            <a:ext cx="116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latin typeface="BIZ UDPゴシック"/>
                <a:ea typeface="BIZ UDPゴシック"/>
              </a:rPr>
              <a:t>3段の問いで定量評価し、その結果でLERA運転モードを確定する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224000"/>
            <a:ext cx="1116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latin typeface="BIZ UDPゴシック"/>
                <a:ea typeface="BIZ UDPゴシック"/>
              </a:rPr>
              <a:t>① トータルEO比率制御（カスケード）を切れるか</a:t>
            </a:r>
          </a:p>
          <a:p>
            <a:pPr>
              <a:spcAft>
                <a:spcPts val="1000"/>
              </a:spcAft>
            </a:pPr>
            <a:r>
              <a:rPr sz="1600" b="0">
                <a:latin typeface="BIZ UDPゴシック"/>
                <a:ea typeface="BIZ UDPゴシック"/>
              </a:rPr>
              <a:t>　・LERA吸収量の変動が乗るため制御幅が大きい＝切離しの可否をトレンドで確認（※トレンド貼付）</a:t>
            </a:r>
          </a:p>
          <a:p>
            <a:pPr>
              <a:spcAft>
                <a:spcPts val="1000"/>
              </a:spcAft>
            </a:pPr>
            <a:r>
              <a:rPr sz="1800" b="1">
                <a:latin typeface="BIZ UDPゴシック"/>
                <a:ea typeface="BIZ UDPゴシック"/>
              </a:rPr>
              <a:t>② 単独FC（FC1402）で2.3t/hを制御できるか</a:t>
            </a:r>
          </a:p>
          <a:p>
            <a:pPr>
              <a:spcAft>
                <a:spcPts val="1000"/>
              </a:spcAft>
            </a:pPr>
            <a:r>
              <a:rPr sz="1600" b="0">
                <a:latin typeface="BIZ UDPゴシック"/>
                <a:ea typeface="BIZ UDPゴシック"/>
              </a:rPr>
              <a:t>　・判断基準：FK1432指示ブレ（実測±0.2〜0.4t/h）に対する運転点2.3t/h・LL 0.6t/hの余裕</a:t>
            </a:r>
          </a:p>
          <a:p>
            <a:pPr>
              <a:spcAft>
                <a:spcPts val="1000"/>
              </a:spcAft>
            </a:pPr>
            <a:r>
              <a:rPr sz="1600" b="0">
                <a:latin typeface="BIZ UDPゴシック"/>
                <a:ea typeface="BIZ UDPゴシック"/>
              </a:rPr>
              <a:t>　・CV開度2〜3%域での制御実績の有無</a:t>
            </a:r>
          </a:p>
          <a:p>
            <a:pPr>
              <a:spcAft>
                <a:spcPts val="1000"/>
              </a:spcAft>
            </a:pPr>
            <a:r>
              <a:rPr sz="1800" b="1">
                <a:latin typeface="BIZ UDPゴシック"/>
                <a:ea typeface="BIZ UDPゴシック"/>
              </a:rPr>
              <a:t>③ （②が不可の場合）マニュアル一定でテストが成立するか</a:t>
            </a:r>
          </a:p>
          <a:p>
            <a:pPr>
              <a:spcAft>
                <a:spcPts val="1000"/>
              </a:spcAft>
            </a:pPr>
            <a:r>
              <a:rPr sz="1600" b="0">
                <a:latin typeface="BIZ UDPゴシック"/>
                <a:ea typeface="BIZ UDPゴシック"/>
              </a:rPr>
              <a:t>　・成立の最低条件＝流量指示が正常範囲で見えていること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4680000"/>
            <a:ext cx="111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latin typeface="BIZ UDPゴシック"/>
                <a:ea typeface="BIZ UDPゴシック"/>
              </a:rPr>
              <a:t>結論の出し方：</a:t>
            </a:r>
            <a:r>
              <a:rPr sz="1600" b="0">
                <a:latin typeface="BIZ UDPゴシック"/>
                <a:ea typeface="BIZ UDPゴシック"/>
              </a:rPr>
              <a:t>評価完了の期日を決めて運転と共有。不成立ならLERA to EO切替（前頁）と実施時期見直しをセットで判断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6173999"/>
            <a:ext cx="116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BIZ UDPゴシック"/>
                <a:ea typeface="BIZ UDPゴシック"/>
              </a:rPr>
              <a:t>※現状は定性評価にとどまるため、指示ブレと余裕の定量比較で言い切れる形にする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2EBE981-D14D-9DAC-FFD6-E8A23E4D5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BA6464-558C-CBE0-D5B9-0F57DEA01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406D690-2A83-8777-CE41-8BF3F0C4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実施時期の決め方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702000"/>
            <a:ext cx="116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latin typeface="BIZ UDPゴシック"/>
                <a:ea typeface="BIZ UDPゴシック"/>
              </a:rPr>
              <a:t>時期はオフタンク余力・現場人繰り・DEGタンク繰りの3要因で決まる。8月頭開始なら3要因とも余裕を持って成立の見込み（調整中）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1999" y="1296000"/>
          <a:ext cx="11664000" cy="288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80000"/>
                <a:gridCol w="4392000"/>
                <a:gridCol w="4392000"/>
              </a:tblGrid>
              <a:tr h="720000"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BIZ UDPゴシック"/>
                          <a:ea typeface="BIZ UDPゴシック"/>
                        </a:rPr>
                        <a:t>決定要因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BIZ UDPゴシック"/>
                          <a:ea typeface="BIZ UDPゴシック"/>
                        </a:rPr>
                        <a:t>7/28開始（現計画）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BIZ UDPゴシック"/>
                          <a:ea typeface="BIZ UDPゴシック"/>
                        </a:rPr>
                        <a:t>8月頭開始（1週ずらし）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① オフタンク余力（150〜200t）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7/21回収開始・約6日間＝到達ぎりぎり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FF"/>
                          </a:solidFill>
                          <a:latin typeface="BIZ UDPゴシック"/>
                          <a:ea typeface="BIZ UDPゴシック"/>
                        </a:rPr>
                        <a:t>余力増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② 現場の人繰り・残業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0000"/>
                          </a:solidFill>
                          <a:latin typeface="BIZ UDPゴシック"/>
                          <a:ea typeface="BIZ UDPゴシック"/>
                        </a:rPr>
                        <a:t>課題：</a:t>
                      </a:r>
                      <a:r>
                        <a:rPr sz="1600" b="0">
                          <a:latin typeface="BIZ UDPゴシック"/>
                          <a:ea typeface="BIZ UDPゴシック"/>
                        </a:rPr>
                        <a:t>SU直後で時間外がかさむ（事前教育は時間外で7/23〜24調整中）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FF"/>
                          </a:solidFill>
                          <a:latin typeface="BIZ UDPゴシック"/>
                          <a:ea typeface="BIZ UDPゴシック"/>
                        </a:rPr>
                        <a:t>緩和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③ DEGタンク繰り・盆中の出荷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BIZ UDPゴシック"/>
                          <a:ea typeface="BIZ UDPゴシック"/>
                        </a:rPr>
                        <a:t>盆前後の分割実施が前提（T-604・保管評価8日）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FF"/>
                          </a:solidFill>
                          <a:latin typeface="BIZ UDPゴシック"/>
                          <a:ea typeface="BIZ UDPゴシック"/>
                        </a:rPr>
                        <a:t>SPタンク移送・スポット船の確度が上がる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4536000"/>
            <a:ext cx="111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latin typeface="BIZ UDPゴシック"/>
                <a:ea typeface="BIZ UDPゴシック"/>
              </a:rPr>
              <a:t>合わせて整合を取る事項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BIZ UDPゴシック"/>
                <a:ea typeface="BIZ UDPゴシック"/>
              </a:rPr>
              <a:t>・抜出比率0.82の検証（1日で実施可）＝LERA to EG期間中に実施する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BIZ UDPゴシック"/>
                <a:ea typeface="BIZ UDPゴシック"/>
              </a:rPr>
              <a:t>・M100テストとは干渉しない（7/27まで周期制約のため大きな条件変更なし）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BIZ UDPゴシック"/>
                <a:ea typeface="BIZ UDPゴシック"/>
              </a:rPr>
              <a:t>・後ろ倒しにするほど検証後の対策検討期間が短くなる（8月中の実施が限度）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2EBE981-D14D-9DAC-FFD6-E8A23E4D5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BA6464-558C-CBE0-D5B9-0F57DEA01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406D690-2A83-8777-CE41-8BF3F0C4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資料構成の見直し案（参考）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702000"/>
            <a:ext cx="116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latin typeface="BIZ UDPゴシック"/>
                <a:ea typeface="BIZ UDPゴシック"/>
              </a:rPr>
              <a:t>目的で立てたキーワード（規格・運転管理値／不純物バランス／想定内外）を後段で回収する並びに組み替える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１．目的（P1改）＝キーワードの布石：規格・運転管理値／不純物バランス／想定内外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２．課題（P2〜4：M50課題・足元の不純物・GALD影響予測）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３．対策と有効性（P5〜7：リン酸塩・MEG塔圧ダウン・織込み事項）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４．テストコンセプト・条件（P8〜10：運転マップで「実績データが少ない＝想定外がないことの確認」を明記）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５．実施方式の選択＝LERA（比較 → 制御性評価 → 切替作業 → 変動費）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６．変更点に対する対応（P27〜42：運転・保安・品質）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７．テスト計画（実施時期 → 計画 → 監視項目 → 分析 → 関係先連絡P80）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８．SA総合評価（P54〜56）</a:t>
            </a:r>
          </a:p>
          <a:p>
            <a:pPr>
              <a:spcAft>
                <a:spcPts val="900"/>
              </a:spcAft>
            </a:pPr>
            <a:r>
              <a:rPr sz="1600" b="0">
                <a:latin typeface="BIZ UDPゴシック"/>
                <a:ea typeface="BIZ UDPゴシック"/>
              </a:rPr>
              <a:t>補足：APHAメカニズム（P15）・旧条件図（P76〜79）は付録へ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nfidential_Main template_Blue and Cool gray">
  <a:themeElements>
    <a:clrScheme name="blue and cool gray 1">
      <a:dk1>
        <a:srgbClr val="000000"/>
      </a:dk1>
      <a:lt1>
        <a:srgbClr val="FFFFFF"/>
      </a:lt1>
      <a:dk2>
        <a:srgbClr val="D6E0E5"/>
      </a:dk2>
      <a:lt2>
        <a:srgbClr val="EBEFF2"/>
      </a:lt2>
      <a:accent1>
        <a:srgbClr val="005BAB"/>
      </a:accent1>
      <a:accent2>
        <a:srgbClr val="003F7E"/>
      </a:accent2>
      <a:accent3>
        <a:srgbClr val="8A9093"/>
      </a:accent3>
      <a:accent4>
        <a:srgbClr val="B3BBBF"/>
      </a:accent4>
      <a:accent5>
        <a:srgbClr val="D7E0E5"/>
      </a:accent5>
      <a:accent6>
        <a:srgbClr val="6F92CC"/>
      </a:accent6>
      <a:hlink>
        <a:srgbClr val="005BAB"/>
      </a:hlink>
      <a:folHlink>
        <a:srgbClr val="000000"/>
      </a:folHlink>
    </a:clrScheme>
    <a:fontScheme name="BIZ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72000" rIns="234000" bIns="0" anchor="t" anchorCtr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90904_KIOXIA_PPTTemplate_16×9_EN.pptx" id="{5AD8D898-F077-B642-BDB7-6C321C9FDD91}" vid="{90AFABDF-A4D8-0844-B6E0-EEFE7C005DB1}"/>
    </a:ext>
  </a:extLst>
</a:theme>
</file>

<file path=ppt/theme/theme2.xml><?xml version="1.0" encoding="utf-8"?>
<a:theme xmlns:a="http://schemas.openxmlformats.org/drawingml/2006/main" name="2_Main template_Blue and Cool gray">
  <a:themeElements>
    <a:clrScheme name="blue and cool gray 1">
      <a:dk1>
        <a:srgbClr val="000000"/>
      </a:dk1>
      <a:lt1>
        <a:srgbClr val="FFFFFF"/>
      </a:lt1>
      <a:dk2>
        <a:srgbClr val="D6E0E5"/>
      </a:dk2>
      <a:lt2>
        <a:srgbClr val="EBEFF2"/>
      </a:lt2>
      <a:accent1>
        <a:srgbClr val="005BAB"/>
      </a:accent1>
      <a:accent2>
        <a:srgbClr val="003F7E"/>
      </a:accent2>
      <a:accent3>
        <a:srgbClr val="8A9093"/>
      </a:accent3>
      <a:accent4>
        <a:srgbClr val="B3BBBF"/>
      </a:accent4>
      <a:accent5>
        <a:srgbClr val="D7E0E5"/>
      </a:accent5>
      <a:accent6>
        <a:srgbClr val="6F92CC"/>
      </a:accent6>
      <a:hlink>
        <a:srgbClr val="005BAB"/>
      </a:hlink>
      <a:folHlink>
        <a:srgbClr val="000000"/>
      </a:folHlink>
    </a:clrScheme>
    <a:fontScheme name="BIZ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72000" rIns="234000" bIns="0" anchor="t" anchorCtr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90904_KIOXIA_PPTTemplate_16×9_EN.pptx" id="{5AD8D898-F077-B642-BDB7-6C321C9FDD91}" vid="{90AFABDF-A4D8-0844-B6E0-EEFE7C005DB1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98f16ab-5b94-4383-b991-fd30b24dfbf2" xsi:nil="true"/>
    <CategoryTag1 xmlns="fb0d79b4-6e75-4c63-abb0-afc13c5fac1c" xsi:nil="true"/>
    <lcf76f155ced4ddcb4097134ff3c332f xmlns="fb0d79b4-6e75-4c63-abb0-afc13c5fac1c">
      <Terms xmlns="http://schemas.microsoft.com/office/infopath/2007/PartnerControls"/>
    </lcf76f155ced4ddcb4097134ff3c332f>
    <CategoryTag3 xmlns="fb0d79b4-6e75-4c63-abb0-afc13c5fac1c" xsi:nil="true"/>
    <CategoryTag2 xmlns="fb0d79b4-6e75-4c63-abb0-afc13c5fac1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3CD549599ACDE4EB46FF537B9C6D770" ma:contentTypeVersion="18" ma:contentTypeDescription="新しいドキュメントを作成します。" ma:contentTypeScope="" ma:versionID="af538e86e5502a741315876542bef372">
  <xsd:schema xmlns:xsd="http://www.w3.org/2001/XMLSchema" xmlns:xs="http://www.w3.org/2001/XMLSchema" xmlns:p="http://schemas.microsoft.com/office/2006/metadata/properties" xmlns:ns2="fb0d79b4-6e75-4c63-abb0-afc13c5fac1c" xmlns:ns3="798f16ab-5b94-4383-b991-fd30b24dfbf2" targetNamespace="http://schemas.microsoft.com/office/2006/metadata/properties" ma:root="true" ma:fieldsID="7f3628564aebbb7ef27f9ca95c202fe2" ns2:_="" ns3:_="">
    <xsd:import namespace="fb0d79b4-6e75-4c63-abb0-afc13c5fac1c"/>
    <xsd:import namespace="798f16ab-5b94-4383-b991-fd30b24dfbf2"/>
    <xsd:element name="properties">
      <xsd:complexType>
        <xsd:sequence>
          <xsd:element name="documentManagement">
            <xsd:complexType>
              <xsd:all>
                <xsd:element ref="ns2:CategoryTag1" minOccurs="0"/>
                <xsd:element ref="ns2:CategoryTag2" minOccurs="0"/>
                <xsd:element ref="ns2:CategoryTag3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d79b4-6e75-4c63-abb0-afc13c5fac1c" elementFormDefault="qualified">
    <xsd:import namespace="http://schemas.microsoft.com/office/2006/documentManagement/types"/>
    <xsd:import namespace="http://schemas.microsoft.com/office/infopath/2007/PartnerControls"/>
    <xsd:element name="CategoryTag1" ma:index="8" nillable="true" ma:displayName="Tag1" ma:internalName="CategoryTag1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/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CategoryTag2" ma:index="9" nillable="true" ma:displayName="Tag2" ma:internalName="CategoryTag2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/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CategoryTag3" ma:index="10" nillable="true" ma:displayName="Tag3" ma:internalName="CategoryTag3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/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08ec21e9-19a1-4e51-8266-82527bcf33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8f16ab-5b94-4383-b991-fd30b24dfbf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e6a644e-494c-4e3b-9b41-f551a267158f}" ma:internalName="TaxCatchAll" ma:showField="CatchAllData" ma:web="798f16ab-5b94-4383-b991-fd30b24dfb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94982C-FEF5-486F-93C5-A509FA78D727}">
  <ds:schemaRefs>
    <ds:schemaRef ds:uri="http://purl.org/dc/elements/1.1/"/>
    <ds:schemaRef ds:uri="ff596463-d9ca-42f7-b2ce-f11622d5270b"/>
    <ds:schemaRef ds:uri="04af1f95-395b-4930-a263-976f68ef36f3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9c7ae05a-e6a7-4ee8-b639-c513d1be333d"/>
    <ds:schemaRef ds:uri="798f16ab-5b94-4383-b991-fd30b24dfbf2"/>
    <ds:schemaRef ds:uri="fb0d79b4-6e75-4c63-abb0-afc13c5fac1c"/>
  </ds:schemaRefs>
</ds:datastoreItem>
</file>

<file path=customXml/itemProps2.xml><?xml version="1.0" encoding="utf-8"?>
<ds:datastoreItem xmlns:ds="http://schemas.openxmlformats.org/officeDocument/2006/customXml" ds:itemID="{42C68F7B-E34F-4514-ACFE-59A5A7B754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EF05E2-A8A3-448F-9E31-0DE4E38A9F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0d79b4-6e75-4c63-abb0-afc13c5fac1c"/>
    <ds:schemaRef ds:uri="798f16ab-5b94-4383-b991-fd30b24dfb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BIZ UDPゴシック</vt:lpstr>
      <vt:lpstr>游ゴシック</vt:lpstr>
      <vt:lpstr>Arial</vt:lpstr>
      <vt:lpstr>1_Confidential_Main template_Blue and Cool gray</vt:lpstr>
      <vt:lpstr>2_Main template_Blue and Cool gray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EG低稼働品質確認テスト 差込スライド案</dc:title>
  <dc:subject/>
  <dc:creator>平尾　一陽</dc:creator>
  <cp:keywords/>
  <dc:description/>
  <cp:lastModifiedBy>平尾　一陽</cp:lastModifiedBy>
  <cp:revision>1</cp:revision>
  <dcterms:created xsi:type="dcterms:W3CDTF">2023-12-01T06:05:09Z</dcterms:created>
  <dcterms:modified xsi:type="dcterms:W3CDTF">2026-06-28T01:54:36Z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0x0101003975DA3025CE1B40B339364647D5548B</vt:lpwstr>
  </property>
  <property fmtid="{D5CDD505-2E9C-101B-9397-08002B2CF9AE}" pid="3" name="MediaServiceImageTags">
    <vt:lpwstr/>
  </property>
</Properties>
</file>