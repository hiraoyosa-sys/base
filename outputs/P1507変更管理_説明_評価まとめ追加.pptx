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1"/>
    <p:sldMasterId id="2147483902" r:id="rId2"/>
    <p:sldMasterId id="2147483892" r:id="rId3"/>
    <p:sldMasterId id="2147483917" r:id="rId4"/>
  </p:sldMasterIdLst>
  <p:notesMasterIdLst>
    <p:notesMasterId r:id="rId6"/>
  </p:notesMasterIdLst>
  <p:handoutMasterIdLst>
    <p:handoutMasterId r:id="rId7"/>
  </p:handoutMasterIdLst>
  <p:sldIdLst>
    <p:sldId id="278" r:id="rId5"/>
    <p:sldId id="27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323232"/>
    <a:srgbClr val="FFFFFF"/>
    <a:srgbClr val="FDF0CC"/>
    <a:srgbClr val="CCEDD8"/>
    <a:srgbClr val="ECF1F4"/>
    <a:srgbClr val="333333"/>
    <a:srgbClr val="EFF3F4"/>
    <a:srgbClr val="EFF4F5"/>
    <a:srgbClr val="EEF3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558"/>
  </p:normalViewPr>
  <p:slideViewPr>
    <p:cSldViewPr snapToGrid="0">
      <p:cViewPr>
        <p:scale>
          <a:sx n="50" d="100"/>
          <a:sy n="50" d="100"/>
        </p:scale>
        <p:origin x="396" y="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5320" y="15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閉塞率 → ストレーナ差圧（約83%で余裕喪失）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ストレーナ差圧[kPa]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3.6</c:v>
                </c:pt>
                <c:pt idx="1">
                  <c:v>7.3</c:v>
                </c:pt>
                <c:pt idx="2">
                  <c:v>14.2</c:v>
                </c:pt>
                <c:pt idx="3">
                  <c:v>39.6</c:v>
                </c:pt>
                <c:pt idx="4">
                  <c:v>89</c:v>
                </c:pt>
                <c:pt idx="5">
                  <c:v>123</c:v>
                </c:pt>
                <c:pt idx="6">
                  <c:v>158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NPSH余力(限界117kPa)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117</c:v>
                </c:pt>
                <c:pt idx="1">
                  <c:v>117</c:v>
                </c:pt>
                <c:pt idx="2">
                  <c:v>117</c:v>
                </c:pt>
                <c:pt idx="3">
                  <c:v>117</c:v>
                </c:pt>
                <c:pt idx="4">
                  <c:v>117</c:v>
                </c:pt>
                <c:pt idx="5">
                  <c:v>117</c:v>
                </c:pt>
                <c:pt idx="6">
                  <c:v>117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閉塞率 [%]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0.0"/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差圧 [kPa]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t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FBA75B-73F9-C2BD-82A5-BB1CC51D09F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55855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144AC8A-33B5-1A05-F51D-90EC0A00A9FC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84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208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298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715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8457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9690" y="4071257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332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9616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603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7237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164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338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35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3980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52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622023-E1FB-4EAE-2A34-9A027BBB5CB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9878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A2AC2B7-03B4-4678-DBB5-2564949C5CC8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69890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4889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858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80" r:id="rId9"/>
    <p:sldLayoutId id="2147483881" r:id="rId10"/>
    <p:sldLayoutId id="2147483888" r:id="rId11"/>
    <p:sldLayoutId id="2147483890" r:id="rId12"/>
    <p:sldLayoutId id="2147483885" r:id="rId13"/>
    <p:sldLayoutId id="214748388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4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6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2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22324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3" r:id="rId1"/>
    <p:sldLayoutId id="2147483904" r:id="rId2"/>
    <p:sldLayoutId id="2147483905" r:id="rId3"/>
    <p:sldLayoutId id="2147483906" r:id="rId4"/>
    <p:sldLayoutId id="2147483907" r:id="rId5"/>
    <p:sldLayoutId id="2147483908" r:id="rId6"/>
    <p:sldLayoutId id="2147483909" r:id="rId7"/>
    <p:sldLayoutId id="2147483910" r:id="rId8"/>
    <p:sldLayoutId id="2147483911" r:id="rId9"/>
    <p:sldLayoutId id="2147483912" r:id="rId10"/>
    <p:sldLayoutId id="2147483913" r:id="rId11"/>
    <p:sldLayoutId id="2147483914" r:id="rId12"/>
    <p:sldLayoutId id="2147483915" r:id="rId13"/>
    <p:sldLayoutId id="214748391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700818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901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42810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FA64AB4-7066-4561-6173-0007350AE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6E24FE4-EFA3-18D3-0300-ED1E0CB7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P-1507A/B</a:t>
            </a:r>
            <a:r>
              <a:rPr kumimoji="1" lang="ja-JP" altLang="en-US"/>
              <a:t>吸入ストレーナー メッシュ</a:t>
            </a:r>
            <a:r>
              <a:rPr lang="ja-JP" altLang="en-US"/>
              <a:t>サイズ</a:t>
            </a:r>
            <a:r>
              <a:rPr kumimoji="1" lang="ja-JP" altLang="en-US"/>
              <a:t>変更</a:t>
            </a:r>
            <a:r>
              <a:rPr kumimoji="1" lang="en-US" altLang="ja-JP"/>
              <a:t>(40</a:t>
            </a:r>
            <a:r>
              <a:rPr kumimoji="1" lang="ja-JP" altLang="en-US"/>
              <a:t>→</a:t>
            </a:r>
            <a:r>
              <a:rPr kumimoji="1" lang="en-US" altLang="ja-JP"/>
              <a:t>250</a:t>
            </a:r>
            <a:r>
              <a:rPr kumimoji="1" lang="ja-JP" altLang="en-US"/>
              <a:t>メッシュ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469B3-7B16-9BDE-F561-3757138D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4467" b="10778"/>
          <a:stretch>
            <a:fillRect/>
          </a:stretch>
        </p:blipFill>
        <p:spPr>
          <a:xfrm>
            <a:off x="9185166" y="3572820"/>
            <a:ext cx="1796730" cy="24962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A11D544-0970-E028-AE35-2337C68423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038"/>
          <a:stretch>
            <a:fillRect/>
          </a:stretch>
        </p:blipFill>
        <p:spPr>
          <a:xfrm>
            <a:off x="2141536" y="3429000"/>
            <a:ext cx="6226765" cy="2762107"/>
          </a:xfrm>
          <a:prstGeom prst="rect">
            <a:avLst/>
          </a:prstGeom>
        </p:spPr>
      </p:pic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CB6F6513-7099-B633-E9C0-CFD01935FA79}"/>
              </a:ext>
            </a:extLst>
          </p:cNvPr>
          <p:cNvSpPr/>
          <p:nvPr/>
        </p:nvSpPr>
        <p:spPr>
          <a:xfrm rot="5400000">
            <a:off x="4857246" y="5121151"/>
            <a:ext cx="174150" cy="154519"/>
          </a:xfrm>
          <a:prstGeom prst="triangle">
            <a:avLst/>
          </a:prstGeom>
          <a:pattFill prst="openDmnd">
            <a:fgClr>
              <a:srgbClr val="FF0000"/>
            </a:fgClr>
            <a:bgClr>
              <a:schemeClr val="bg1"/>
            </a:bgClr>
          </a:patt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B3D345-0D28-61CF-455A-114E1D1DC38F}"/>
              </a:ext>
            </a:extLst>
          </p:cNvPr>
          <p:cNvSpPr txBox="1"/>
          <p:nvPr/>
        </p:nvSpPr>
        <p:spPr>
          <a:xfrm>
            <a:off x="93950" y="812599"/>
            <a:ext cx="13069389" cy="1775234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b="1"/>
              <a:t>変更対象：</a:t>
            </a:r>
            <a:r>
              <a:rPr kumimoji="1" lang="en-US" altLang="ja-JP"/>
              <a:t>P-1507A/B </a:t>
            </a:r>
            <a:r>
              <a:rPr kumimoji="1" lang="ja-JP" altLang="en-US"/>
              <a:t>吸入ストレーナー</a:t>
            </a:r>
            <a:endParaRPr lang="en-US" altLang="ja-JP"/>
          </a:p>
          <a:p>
            <a:pPr algn="l"/>
            <a:r>
              <a:rPr lang="ja-JP" altLang="en-US" b="1"/>
              <a:t>　　内容：メッシュサイズ </a:t>
            </a:r>
            <a:r>
              <a:rPr lang="en-US" altLang="ja-JP" b="1"/>
              <a:t>40</a:t>
            </a:r>
            <a:r>
              <a:rPr lang="ja-JP" altLang="en-US" b="1"/>
              <a:t>→</a:t>
            </a:r>
            <a:r>
              <a:rPr lang="en-US" altLang="ja-JP" b="1"/>
              <a:t>250</a:t>
            </a:r>
            <a:r>
              <a:rPr lang="ja-JP" altLang="en-US" b="1"/>
              <a:t>メッシュ</a:t>
            </a:r>
            <a:endParaRPr lang="en-US" altLang="ja-JP" b="1"/>
          </a:p>
          <a:p>
            <a:r>
              <a:rPr lang="ja-JP" altLang="en-US" b="1"/>
              <a:t>　　目的：</a:t>
            </a:r>
            <a:r>
              <a:rPr lang="en-US" altLang="ja-JP" b="1"/>
              <a:t>C-1503</a:t>
            </a:r>
            <a:r>
              <a:rPr lang="ja-JP" altLang="en-US" b="1"/>
              <a:t>塔頂で確認された黒色異物（主成分</a:t>
            </a:r>
            <a:r>
              <a:rPr lang="en-US" altLang="ja-JP" b="1"/>
              <a:t>=</a:t>
            </a:r>
            <a:r>
              <a:rPr lang="ja-JP" altLang="en-US" b="1"/>
              <a:t>鉄錆）の製品</a:t>
            </a:r>
            <a:r>
              <a:rPr lang="en-US" altLang="ja-JP" b="1"/>
              <a:t>DEG</a:t>
            </a:r>
            <a:r>
              <a:rPr lang="ja-JP" altLang="en-US" b="1"/>
              <a:t>出荷ラインへの流出を抑制する</a:t>
            </a:r>
            <a:r>
              <a:rPr lang="ja-JP" altLang="en-US"/>
              <a:t>。</a:t>
            </a:r>
            <a:endParaRPr lang="en-US" altLang="ja-JP"/>
          </a:p>
          <a:p>
            <a:r>
              <a:rPr lang="ja-JP" altLang="en-US" b="1"/>
              <a:t>　　影響：</a:t>
            </a:r>
            <a:r>
              <a:rPr lang="ja-JP" altLang="en-US"/>
              <a:t>メッシュが細かくなることにより閉塞が早期化し、</a:t>
            </a:r>
            <a:endParaRPr lang="en-US" altLang="ja-JP"/>
          </a:p>
          <a:p>
            <a:r>
              <a:rPr lang="ja-JP" altLang="en-US"/>
              <a:t>　　　　　</a:t>
            </a:r>
            <a:r>
              <a:rPr lang="en-US" altLang="ja-JP"/>
              <a:t>P-1507A/B</a:t>
            </a:r>
            <a:r>
              <a:rPr lang="ja-JP" altLang="en-US"/>
              <a:t>キャビテーションによる機器損傷リスクが高まる。特に運転開始直後が懸念。</a:t>
            </a:r>
            <a:endParaRPr lang="en-US" altLang="ja-JP"/>
          </a:p>
          <a:p>
            <a:endParaRPr lang="en-US" altLang="ja-JP" sz="1050"/>
          </a:p>
          <a:p>
            <a:r>
              <a:rPr lang="ja-JP" altLang="en-US"/>
              <a:t>　　</a:t>
            </a:r>
            <a:r>
              <a:rPr lang="ja-JP" altLang="en-US" b="1"/>
              <a:t>対応：ポンプ下流ＣＶ開度を監視し、閉塞時は予備機にポンプ切り替えて清掃を実施</a:t>
            </a:r>
            <a:endParaRPr lang="en-US" altLang="ja-JP" b="1"/>
          </a:p>
          <a:p>
            <a:r>
              <a:rPr lang="ja-JP" altLang="en-US"/>
              <a:t>　　　　（吸スト閉塞傾向は下流の流量制御弁 </a:t>
            </a:r>
            <a:r>
              <a:rPr lang="en-US" altLang="ja-JP"/>
              <a:t>FC1531 ,FC1534</a:t>
            </a:r>
            <a:r>
              <a:rPr lang="ja-JP" altLang="en-US"/>
              <a:t> の</a:t>
            </a:r>
            <a:r>
              <a:rPr lang="en-US" altLang="ja-JP"/>
              <a:t>CV</a:t>
            </a:r>
            <a:r>
              <a:rPr lang="ja-JP" altLang="en-US"/>
              <a:t>開度で監視が可能）</a:t>
            </a:r>
            <a:endParaRPr lang="en-US" altLang="ja-JP"/>
          </a:p>
          <a:p>
            <a:r>
              <a:rPr kumimoji="1" lang="ja-JP" altLang="en-US"/>
              <a:t>　　　 </a:t>
            </a:r>
            <a:endParaRPr kumimoji="1" lang="ja-JP" altLang="en-US" dirty="0" err="1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106E181-1946-EDF8-ED89-763195EEBFDE}"/>
              </a:ext>
            </a:extLst>
          </p:cNvPr>
          <p:cNvSpPr/>
          <p:nvPr/>
        </p:nvSpPr>
        <p:spPr>
          <a:xfrm>
            <a:off x="5021581" y="4427521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E0E84B79-1579-1DE0-03FF-317ABDD48DFD}"/>
              </a:ext>
            </a:extLst>
          </p:cNvPr>
          <p:cNvSpPr/>
          <p:nvPr/>
        </p:nvSpPr>
        <p:spPr>
          <a:xfrm>
            <a:off x="7643912" y="5361933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F4CEB29-455B-16F9-A95F-A20A46FE6B29}"/>
              </a:ext>
            </a:extLst>
          </p:cNvPr>
          <p:cNvSpPr txBox="1"/>
          <p:nvPr/>
        </p:nvSpPr>
        <p:spPr>
          <a:xfrm>
            <a:off x="3635756" y="6399784"/>
            <a:ext cx="4008156" cy="377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0070C0"/>
                </a:solidFill>
              </a:rPr>
              <a:t>監視項目：</a:t>
            </a:r>
            <a:r>
              <a:rPr lang="en-US" altLang="ja-JP">
                <a:solidFill>
                  <a:srgbClr val="0070C0"/>
                </a:solidFill>
              </a:rPr>
              <a:t>FC1531,FC1534 CV</a:t>
            </a:r>
            <a:r>
              <a:rPr lang="ja-JP" altLang="en-US">
                <a:solidFill>
                  <a:srgbClr val="0070C0"/>
                </a:solidFill>
              </a:rPr>
              <a:t>開度</a:t>
            </a:r>
            <a:endParaRPr kumimoji="1" lang="ja-JP" altLang="en-US" dirty="0" err="1">
              <a:solidFill>
                <a:srgbClr val="0070C0"/>
              </a:solidFill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B80010D-07F3-27EA-B24C-AE07E2B95400}"/>
              </a:ext>
            </a:extLst>
          </p:cNvPr>
          <p:cNvCxnSpPr>
            <a:endCxn id="14" idx="5"/>
          </p:cNvCxnSpPr>
          <p:nvPr/>
        </p:nvCxnSpPr>
        <p:spPr>
          <a:xfrm flipH="1" flipV="1">
            <a:off x="5596556" y="5013616"/>
            <a:ext cx="110825" cy="1348683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EDD55F5-2F3F-12B4-1DF9-ABE364CA35D2}"/>
              </a:ext>
            </a:extLst>
          </p:cNvPr>
          <p:cNvCxnSpPr>
            <a:cxnSpLocks/>
          </p:cNvCxnSpPr>
          <p:nvPr/>
        </p:nvCxnSpPr>
        <p:spPr>
          <a:xfrm flipV="1">
            <a:off x="5707381" y="5800304"/>
            <a:ext cx="1842529" cy="586095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ED88B40-AD82-35E9-C748-E22913788F93}"/>
              </a:ext>
            </a:extLst>
          </p:cNvPr>
          <p:cNvSpPr txBox="1"/>
          <p:nvPr/>
        </p:nvSpPr>
        <p:spPr>
          <a:xfrm>
            <a:off x="8471040" y="6091684"/>
            <a:ext cx="3720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/>
              <a:t>吸入ストレーナーや下流配管でも微量の異物確認⇒製品ラインへの流出を抑制したい</a:t>
            </a:r>
            <a:endParaRPr kumimoji="1" lang="ja-JP" altLang="en-US" sz="1600" dirty="0" err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C8A85BA-92DD-B86A-ECFA-EA400E9C8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637" y="3572820"/>
            <a:ext cx="1353411" cy="1805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766042A9-1707-3708-5974-2586A7A79442}"/>
              </a:ext>
            </a:extLst>
          </p:cNvPr>
          <p:cNvCxnSpPr>
            <a:cxnSpLocks/>
          </p:cNvCxnSpPr>
          <p:nvPr/>
        </p:nvCxnSpPr>
        <p:spPr>
          <a:xfrm>
            <a:off x="1902164" y="4810053"/>
            <a:ext cx="2101101" cy="47543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2B8D7F1-577C-C676-4AF0-370AF23ED487}"/>
              </a:ext>
            </a:extLst>
          </p:cNvPr>
          <p:cNvSpPr txBox="1"/>
          <p:nvPr/>
        </p:nvSpPr>
        <p:spPr>
          <a:xfrm>
            <a:off x="399663" y="5493186"/>
            <a:ext cx="17418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/>
              <a:t>2026</a:t>
            </a:r>
            <a:r>
              <a:rPr lang="ja-JP" altLang="en-US" sz="1400"/>
              <a:t>年開放時</a:t>
            </a:r>
            <a:r>
              <a:rPr lang="ja-JP" altLang="ja-JP" sz="1400"/>
              <a:t>塔壁全体に黒色付着物</a:t>
            </a:r>
            <a:r>
              <a:rPr lang="ja-JP" altLang="en-US" sz="1400"/>
              <a:t>を確認</a:t>
            </a:r>
            <a:r>
              <a:rPr lang="en-US" altLang="ja-JP" sz="1400"/>
              <a:t>(</a:t>
            </a:r>
            <a:r>
              <a:rPr lang="ja-JP" altLang="en-US" sz="1400"/>
              <a:t>洗浄済み</a:t>
            </a:r>
            <a:r>
              <a:rPr lang="en-US" altLang="ja-JP" sz="1400"/>
              <a:t>)</a:t>
            </a:r>
            <a:r>
              <a:rPr lang="ja-JP" altLang="ja-JP" sz="1400"/>
              <a:t>​</a:t>
            </a:r>
            <a:endParaRPr kumimoji="1" lang="ja-JP" altLang="en-US" sz="1400" dirty="0" err="1">
              <a:solidFill>
                <a:srgbClr val="0070C0"/>
              </a:solidFill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D5CE0A0C-172E-B582-2D8A-D2714A61628B}"/>
              </a:ext>
            </a:extLst>
          </p:cNvPr>
          <p:cNvCxnSpPr>
            <a:cxnSpLocks/>
          </p:cNvCxnSpPr>
          <p:nvPr/>
        </p:nvCxnSpPr>
        <p:spPr>
          <a:xfrm flipH="1">
            <a:off x="5077872" y="5121281"/>
            <a:ext cx="4084529" cy="7712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2388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技術評価まとめ ― 変更の妥当性と監視方法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126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F4E79"/>
                </a:solidFill>
              </a:defRPr>
            </a:pPr>
            <a:r>
              <a:t>評価したこと：①ポンプのキャビ余裕 ②下流CV開度で閉塞を監視できるか（実機データで照合）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・キャビの余裕：通常運転は余裕大。閉塞が進み 約83%詰まる とNPSH余裕（≒117kPa相当）を失いキャビの恐れ。</a:t>
            </a:r>
          </a:p>
          <a:p>
            <a:pPr>
              <a:spcAft>
                <a:spcPts val="800"/>
              </a:spcAft>
              <a:defRPr sz="1500" b="1">
                <a:solidFill>
                  <a:srgbClr val="C00000"/>
                </a:solidFill>
              </a:defRPr>
            </a:pPr>
            <a:r>
              <a:t>・CV開度で見えるか：閉塞してもCV開度は +6〜8%（FC-1531 +8%／FC-1535 +6%）しか動かない。</a:t>
            </a:r>
          </a:p>
          <a:p>
            <a:pPr>
              <a:spcAft>
                <a:spcPts val="800"/>
              </a:spcAft>
              <a:defRPr sz="1400" b="0">
                <a:solidFill>
                  <a:srgbClr val="C00000"/>
                </a:solidFill>
              </a:defRPr>
            </a:pPr>
            <a:r>
              <a:t>　→ 通常の流量変動（±5〜10%）と同程度。流量補正すれば弱い兆候にはなるが、単独では当てにできない。</a:t>
            </a:r>
          </a:p>
          <a:p>
            <a:pPr>
              <a:spcAft>
                <a:spcPts val="800"/>
              </a:spcAft>
              <a:defRPr sz="1600" b="1">
                <a:solidFill>
                  <a:srgbClr val="2E7D32"/>
                </a:solidFill>
              </a:defRPr>
            </a:pPr>
            <a:r>
              <a:t>・結論：閉塞監視は ストレーナ前後差圧を直接見る（限界117kPaの手前で予備機切替・清掃）。CV開度は補助。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・低温起動：冷えると粘度↑で差圧↑。暖機（~50℃以上）/低流量起動 で対応（冷態は40メッシュも可）。</a:t>
            </a:r>
          </a:p>
          <a:p>
            <a:pPr>
              <a:spcAft>
                <a:spcPts val="800"/>
              </a:spcAft>
              <a:defRPr sz="1300" b="0">
                <a:solidFill>
                  <a:srgbClr val="555555"/>
                </a:solidFill>
              </a:defRPr>
            </a:pPr>
            <a:r>
              <a:t>・予備品：40メッシュは予備保管。孔径62μm・ろ過面積≈100cm²（円錐型）。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675120" y="1280160"/>
          <a:ext cx="52120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50292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差圧は閉塞末期(約83%)で急増。CV開度はその間±数%しか動かず流量変動に紛れるため、差圧の直接監視が要。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Confidential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65F74287-1116-4394-A525-ED591E028B6D}"/>
    </a:ext>
  </a:extLst>
</a:theme>
</file>

<file path=ppt/theme/theme2.xml><?xml version="1.0" encoding="utf-8"?>
<a:theme xmlns:a="http://schemas.openxmlformats.org/drawingml/2006/main" name="2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5CBF57EB-AE1A-4A30-A251-21905150F8B6}"/>
    </a:ext>
  </a:extLst>
</a:theme>
</file>

<file path=ppt/theme/theme3.xml><?xml version="1.0" encoding="utf-8"?>
<a:theme xmlns:a="http://schemas.openxmlformats.org/drawingml/2006/main" name="3_Confidential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7E0EC220-9CDA-4B0D-A849-74E331EF41CD}"/>
    </a:ext>
  </a:extLst>
</a:theme>
</file>

<file path=ppt/theme/theme4.xml><?xml version="1.0" encoding="utf-8"?>
<a:theme xmlns:a="http://schemas.openxmlformats.org/drawingml/2006/main" name="4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9184EDBB-92CB-467A-9CE7-867182BBDEAB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MCG_jp_rev20240709</Template>
  <TotalTime>188</TotalTime>
  <Words>181</Words>
  <Application>Microsoft Office PowerPoint</Application>
  <PresentationFormat>ワイド画面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Arial</vt:lpstr>
      <vt:lpstr>1_Confidential_Main template_Blue and Cool gray</vt:lpstr>
      <vt:lpstr>2_Main template_Blue and Cool gray</vt:lpstr>
      <vt:lpstr>3_Confidential_Sub template_Green and Cool gray</vt:lpstr>
      <vt:lpstr>4_Sub template_Green and Cool gray</vt:lpstr>
      <vt:lpstr>P-1507A/B吸入ストレーナー メッシュサイズ変更(40→250メッシュ)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hirao kazuaki/0465811/平尾　一陽</dc:creator>
  <cp:keywords/>
  <dc:description/>
  <cp:lastModifiedBy>hirao kazuaki/0465811/平尾　一陽</cp:lastModifiedBy>
  <cp:revision>1</cp:revision>
  <dcterms:created xsi:type="dcterms:W3CDTF">2026-06-17T04:10:11Z</dcterms:created>
  <dcterms:modified xsi:type="dcterms:W3CDTF">2026-06-17T07:18:15Z</dcterms:modified>
  <cp:category/>
</cp:coreProperties>
</file>