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0" r:id="rId1"/>
    <p:sldMasterId id="2147483902" r:id="rId2"/>
    <p:sldMasterId id="2147483892" r:id="rId3"/>
    <p:sldMasterId id="2147483917" r:id="rId4"/>
  </p:sldMasterIdLst>
  <p:notesMasterIdLst>
    <p:notesMasterId r:id="rId6"/>
  </p:notesMasterIdLst>
  <p:handoutMasterIdLst>
    <p:handoutMasterId r:id="rId7"/>
  </p:handoutMasterIdLst>
  <p:sldIdLst>
    <p:sldId id="278" r:id="rId5"/>
    <p:sldId id="279" r:id="rId12"/>
    <p:sldId id="280" r:id="rId13"/>
    <p:sldId id="281"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323232"/>
    <a:srgbClr val="FFFFFF"/>
    <a:srgbClr val="FDF0CC"/>
    <a:srgbClr val="CCEDD8"/>
    <a:srgbClr val="ECF1F4"/>
    <a:srgbClr val="333333"/>
    <a:srgbClr val="EFF3F4"/>
    <a:srgbClr val="EFF4F5"/>
    <a:srgbClr val="EEF3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558"/>
  </p:normalViewPr>
  <p:slideViewPr>
    <p:cSldViewPr snapToGrid="0">
      <p:cViewPr>
        <p:scale>
          <a:sx n="50" d="100"/>
          <a:sy n="50" d="100"/>
        </p:scale>
        <p:origin x="396" y="79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5320" y="152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閉塞率 → ストレーナ差圧（約83%で余裕喪失）</a:t>
            </a:r>
          </a:p>
        </c:rich>
      </c:tx>
      <c:layout/>
      <c:overlay val="0"/>
    </c:title>
    <c:autoTitleDeleted val="0"/>
    <c:plotArea>
      <c:lineChart>
        <c:grouping val="standard"/>
        <c:varyColors val="0"/>
        <c:ser>
          <c:idx val="0"/>
          <c:order val="0"/>
          <c:tx>
            <c:strRef>
              <c:f>Sheet1!$B$1</c:f>
              <c:strCache>
                <c:ptCount val="1"/>
                <c:pt idx="0">
                  <c:v>ストレーナ差圧[kPa]</c:v>
                </c:pt>
              </c:strCache>
            </c:strRef>
          </c:tx>
          <c:cat>
            <c:strRef>
              <c:f>Sheet1!$A$2:$A$8</c:f>
              <c:strCache>
                <c:ptCount val="7"/>
                <c:pt idx="0">
                  <c:v>0</c:v>
                </c:pt>
                <c:pt idx="1">
                  <c:v>30</c:v>
                </c:pt>
                <c:pt idx="2">
                  <c:v>50</c:v>
                </c:pt>
                <c:pt idx="3">
                  <c:v>70</c:v>
                </c:pt>
                <c:pt idx="4">
                  <c:v>80</c:v>
                </c:pt>
                <c:pt idx="5">
                  <c:v>83</c:v>
                </c:pt>
                <c:pt idx="6">
                  <c:v>85</c:v>
                </c:pt>
              </c:strCache>
            </c:strRef>
          </c:cat>
          <c:val>
            <c:numRef>
              <c:f>Sheet1!$B$2:$B$8</c:f>
              <c:numCache>
                <c:formatCode>General</c:formatCode>
                <c:ptCount val="7"/>
                <c:pt idx="0">
                  <c:v>3.6</c:v>
                </c:pt>
                <c:pt idx="1">
                  <c:v>7.3</c:v>
                </c:pt>
                <c:pt idx="2">
                  <c:v>14.2</c:v>
                </c:pt>
                <c:pt idx="3">
                  <c:v>39.6</c:v>
                </c:pt>
                <c:pt idx="4">
                  <c:v>89</c:v>
                </c:pt>
                <c:pt idx="5">
                  <c:v>123</c:v>
                </c:pt>
                <c:pt idx="6">
                  <c:v>158</c:v>
                </c:pt>
              </c:numCache>
            </c:numRef>
          </c:val>
          <c:smooth val="0"/>
        </c:ser>
        <c:ser>
          <c:idx val="1"/>
          <c:order val="1"/>
          <c:tx>
            <c:strRef>
              <c:f>Sheet1!$C$1</c:f>
              <c:strCache>
                <c:ptCount val="1"/>
                <c:pt idx="0">
                  <c:v>NPSH余力(限界117kPa)</c:v>
                </c:pt>
              </c:strCache>
            </c:strRef>
          </c:tx>
          <c:cat>
            <c:strRef>
              <c:f>Sheet1!$A$2:$A$8</c:f>
              <c:strCache>
                <c:ptCount val="7"/>
                <c:pt idx="0">
                  <c:v>0</c:v>
                </c:pt>
                <c:pt idx="1">
                  <c:v>30</c:v>
                </c:pt>
                <c:pt idx="2">
                  <c:v>50</c:v>
                </c:pt>
                <c:pt idx="3">
                  <c:v>70</c:v>
                </c:pt>
                <c:pt idx="4">
                  <c:v>80</c:v>
                </c:pt>
                <c:pt idx="5">
                  <c:v>83</c:v>
                </c:pt>
                <c:pt idx="6">
                  <c:v>85</c:v>
                </c:pt>
              </c:strCache>
            </c:strRef>
          </c:cat>
          <c:val>
            <c:numRef>
              <c:f>Sheet1!$C$2:$C$8</c:f>
              <c:numCache>
                <c:formatCode>General</c:formatCode>
                <c:ptCount val="7"/>
                <c:pt idx="0">
                  <c:v>117</c:v>
                </c:pt>
                <c:pt idx="1">
                  <c:v>117</c:v>
                </c:pt>
                <c:pt idx="2">
                  <c:v>117</c:v>
                </c:pt>
                <c:pt idx="3">
                  <c:v>117</c:v>
                </c:pt>
                <c:pt idx="4">
                  <c:v>117</c:v>
                </c:pt>
                <c:pt idx="5">
                  <c:v>117</c:v>
                </c:pt>
                <c:pt idx="6">
                  <c:v>117</c:v>
                </c:pt>
              </c:numCache>
            </c:numRef>
          </c:val>
          <c:smooth val="0"/>
        </c:ser>
        <c:marker val="1"/>
        <c:smooth val="0"/>
        <c:axId val="2118791784"/>
        <c:axId val="2140495176"/>
      </c:lineChart>
      <c:catAx>
        <c:axId val="2118791784"/>
        <c:scaling>
          <c:orientation val="minMax"/>
        </c:scaling>
        <c:delete val="0"/>
        <c:axPos val="b"/>
        <c:title>
          <c:tx>
            <c:rich>
              <a:bodyPr/>
              <a:lstStyle/>
              <a:p>
                <a:r>
                  <a:t>閉塞率 [%]</a:t>
                </a:r>
              </a:p>
            </c:rich>
          </c:tx>
          <c:layout/>
          <c:overlay val="0"/>
        </c:title>
        <c:majorTickMark val="out"/>
        <c:minorTickMark val="none"/>
        <c:tickLblPos val="nextTo"/>
        <c:crossAx val="2140495176"/>
        <c:crosses val="autoZero"/>
        <c:auto val="1"/>
        <c:lblAlgn val="ctr"/>
        <c:lblOffset val="100"/>
        <c:noMultiLvlLbl val="0"/>
      </c:catAx>
      <c:valAx>
        <c:axId val="2140495176"/>
        <c:scaling>
          <c:max val="200.0"/>
          <c:min val="0.0"/>
        </c:scaling>
        <c:delete val="0"/>
        <c:axPos val="l"/>
        <c:majorGridlines/>
        <c:title>
          <c:tx>
            <c:rich>
              <a:bodyPr/>
              <a:lstStyle/>
              <a:p>
                <a:r>
                  <a:t>差圧 [kPa]</a:t>
                </a:r>
              </a:p>
            </c:rich>
          </c:tx>
          <c:layout/>
          <c:overlay val="0"/>
        </c:title>
        <c:majorTickMark val="out"/>
        <c:minorTickMark val="none"/>
        <c:tickLblPos val="nextTo"/>
        <c:crossAx val="2118791784"/>
        <c:crosses val="autoZero"/>
      </c:valAx>
    </c:plotArea>
    <c:legend>
      <c:legendPos val="tr"/>
      <c:layout/>
      <c:overlay val="0"/>
    </c:legend>
    <c:plotVisOnly val="1"/>
    <c:dispBlanksAs val="gap"/>
    <c:showDLblsOverMax val="0"/>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62707A5F-A7D6-C641-8208-3E6DFDB2F48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0554B22-9586-484A-A766-0C443511469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2026/6/17</a:t>
            </a:fld>
            <a:endParaRPr kumimoji="1" lang="ja-JP" altLang="en-US"/>
          </a:p>
        </p:txBody>
      </p:sp>
      <p:sp>
        <p:nvSpPr>
          <p:cNvPr id="4" name="フッター プレースホルダー 3">
            <a:extLst>
              <a:ext uri="{FF2B5EF4-FFF2-40B4-BE49-F238E27FC236}">
                <a16:creationId xmlns:a16="http://schemas.microsoft.com/office/drawing/2014/main" id="{ED85D71E-D7E7-1E4D-A100-20172004F5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51F7FD02-B9AC-5040-9426-86C1B469DF6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2420209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2026/6/17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extLst>
      <p:ext uri="{BB962C8B-B14F-4D97-AF65-F5344CB8AC3E}">
        <p14:creationId xmlns:p14="http://schemas.microsoft.com/office/powerpoint/2010/main" val="125386785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1.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jp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jp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1.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1.jp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 Id="rId4" Type="http://schemas.openxmlformats.org/officeDocument/2006/relationships/image" Target="../media/image1.jp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1.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jp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jp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dirty="0"/>
              <a:t> </a:t>
            </a:r>
            <a:r>
              <a:rPr kumimoji="1" lang="ja-JP" altLang="en-US"/>
              <a:t>タイトル</a:t>
            </a:r>
            <a:br>
              <a:rPr kumimoji="1" lang="en-US" altLang="ja-JP" dirty="0"/>
            </a:br>
            <a:r>
              <a:rPr kumimoji="1" lang="ja-JP" altLang="en-US"/>
              <a:t>游ゴシック</a:t>
            </a:r>
            <a:r>
              <a:rPr kumimoji="1" lang="en-US" altLang="ja-JP" dirty="0"/>
              <a:t> 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13" name="テキスト ボックス 12">
            <a:extLst>
              <a:ext uri="{FF2B5EF4-FFF2-40B4-BE49-F238E27FC236}">
                <a16:creationId xmlns:a16="http://schemas.microsoft.com/office/drawing/2014/main" id="{3D317733-1BDA-7840-87EC-1AB6D30D915E}"/>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dirty="0">
              <a:solidFill>
                <a:srgbClr val="FF0000"/>
              </a:solidFill>
              <a:latin typeface="+mj-lt"/>
              <a:ea typeface="MS Gothic" panose="020B0609070205080204" pitchFamily="49" charset="-128"/>
            </a:endParaRPr>
          </a:p>
        </p:txBody>
      </p:sp>
      <p:pic>
        <p:nvPicPr>
          <p:cNvPr id="3" name="図 2" descr="テキスト&#10;&#10;中程度の精度で自動的に生成された説明">
            <a:extLst>
              <a:ext uri="{FF2B5EF4-FFF2-40B4-BE49-F238E27FC236}">
                <a16:creationId xmlns:a16="http://schemas.microsoft.com/office/drawing/2014/main" id="{64AB173A-EA3B-7645-9D0D-8E3868B4053B}"/>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36557218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 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dirty="0"/>
              <a:t>三菱ケミカル株式会社　茨城事業所　企画管理部　プロセス技術</a:t>
            </a:r>
            <a:r>
              <a:rPr lang="en-US" altLang="ja-JP" dirty="0"/>
              <a:t>Gr.</a:t>
            </a:r>
            <a:endParaRPr lang="ja-JP" altLang="en-US" dirty="0"/>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30E25D7-0B34-F677-C09E-4185823DAB85}"/>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テキスト&#10;&#10;中程度の精度で自動的に生成された説明">
            <a:extLst>
              <a:ext uri="{FF2B5EF4-FFF2-40B4-BE49-F238E27FC236}">
                <a16:creationId xmlns:a16="http://schemas.microsoft.com/office/drawing/2014/main" id="{59FEB064-9E10-7E77-2F7C-DF29C7A3F838}"/>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91306537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図 2" descr="アイコン&#10;&#10;低い精度で自動的に生成された説明">
            <a:extLst>
              <a:ext uri="{FF2B5EF4-FFF2-40B4-BE49-F238E27FC236}">
                <a16:creationId xmlns:a16="http://schemas.microsoft.com/office/drawing/2014/main" id="{CE14A7BB-2994-99E1-3721-81C07CB69B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5" name="テキスト ボックス 4">
            <a:extLst>
              <a:ext uri="{FF2B5EF4-FFF2-40B4-BE49-F238E27FC236}">
                <a16:creationId xmlns:a16="http://schemas.microsoft.com/office/drawing/2014/main" id="{97FBA75B-73F9-C2BD-82A5-BB1CC51D09F9}"/>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dirty="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10931376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blue_circular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2" name="テキスト ボックス 1">
            <a:extLst>
              <a:ext uri="{FF2B5EF4-FFF2-40B4-BE49-F238E27FC236}">
                <a16:creationId xmlns:a16="http://schemas.microsoft.com/office/drawing/2014/main" id="{8A04B06F-2D60-B985-8CB3-2D483601C4E1}"/>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9" name="図 8" descr="図形, 円&#10;&#10;自動的に生成された説明">
            <a:extLst>
              <a:ext uri="{FF2B5EF4-FFF2-40B4-BE49-F238E27FC236}">
                <a16:creationId xmlns:a16="http://schemas.microsoft.com/office/drawing/2014/main" id="{85967991-37E0-5319-6989-F2B24BB19B23}"/>
              </a:ext>
            </a:extLst>
          </p:cNvPr>
          <p:cNvPicPr>
            <a:picLocks noChangeAspect="1"/>
          </p:cNvPicPr>
          <p:nvPr userDrawn="1"/>
        </p:nvPicPr>
        <p:blipFill>
          <a:blip r:embed="rId2"/>
          <a:stretch>
            <a:fillRect/>
          </a:stretch>
        </p:blipFill>
        <p:spPr>
          <a:xfrm>
            <a:off x="6985001" y="2545321"/>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8A86725F-A0D9-D467-03BC-7BD39E7BE052}"/>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1559958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ue_circular_section">
    <p:bg>
      <p:bgPr>
        <a:solidFill>
          <a:schemeClr val="bg1"/>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0C2DCC8-5345-2D48-AE06-2CFCAED3F5BB}"/>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 </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5F2FE3DE-4073-143D-7B94-825F75F4A513}"/>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BAAA99CE-7539-35DC-129B-3103813D2787}"/>
              </a:ext>
            </a:extLst>
          </p:cNvPr>
          <p:cNvPicPr>
            <a:picLocks noChangeAspect="1"/>
          </p:cNvPicPr>
          <p:nvPr userDrawn="1"/>
        </p:nvPicPr>
        <p:blipFill>
          <a:blip r:embed="rId2"/>
          <a:stretch>
            <a:fillRect/>
          </a:stretch>
        </p:blipFill>
        <p:spPr>
          <a:xfrm>
            <a:off x="6984999"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5F45C960-2865-9B70-11B9-987BD91727B3}"/>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677844212"/>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blue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normAutofit/>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図 9" descr="図形&#10;&#10;低い精度で自動的に生成された説明">
            <a:extLst>
              <a:ext uri="{FF2B5EF4-FFF2-40B4-BE49-F238E27FC236}">
                <a16:creationId xmlns:a16="http://schemas.microsoft.com/office/drawing/2014/main" id="{F458B451-556C-0A77-5C7B-A5094204D86B}"/>
              </a:ext>
            </a:extLst>
          </p:cNvPr>
          <p:cNvPicPr>
            <a:picLocks noChangeAspect="1"/>
          </p:cNvPicPr>
          <p:nvPr userDrawn="1"/>
        </p:nvPicPr>
        <p:blipFill>
          <a:blip r:embed="rId2"/>
          <a:stretch>
            <a:fillRect/>
          </a:stretch>
        </p:blipFill>
        <p:spPr>
          <a:xfrm>
            <a:off x="8955855"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22166060-8B4F-1920-1513-4363D0A7B1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3" name="テキスト ボックス 2">
            <a:extLst>
              <a:ext uri="{FF2B5EF4-FFF2-40B4-BE49-F238E27FC236}">
                <a16:creationId xmlns:a16="http://schemas.microsoft.com/office/drawing/2014/main" id="{0144AC8A-33B5-1A05-F51D-90EC0A00A9FC}"/>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dirty="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23519201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green_circular_cover">
    <p:bg>
      <p:bgPr>
        <a:solidFill>
          <a:schemeClr val="bg1"/>
        </a:solidFill>
        <a:effectLst/>
      </p:bgPr>
    </p:bg>
    <p:spTree>
      <p:nvGrpSpPr>
        <p:cNvPr id="1" name=""/>
        <p:cNvGrpSpPr/>
        <p:nvPr/>
      </p:nvGrpSpPr>
      <p:grpSpPr>
        <a:xfrm>
          <a:off x="0" y="0"/>
          <a:ext cx="0" cy="0"/>
          <a:chOff x="0" y="0"/>
          <a:chExt cx="0" cy="0"/>
        </a:xfrm>
      </p:grpSpPr>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2" name="テキスト ボックス 1">
            <a:extLst>
              <a:ext uri="{FF2B5EF4-FFF2-40B4-BE49-F238E27FC236}">
                <a16:creationId xmlns:a16="http://schemas.microsoft.com/office/drawing/2014/main" id="{0FD2AD1D-2D74-0BB5-DAB1-9346C04FBA6F}"/>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ランプ, 光 が含まれている画像&#10;&#10;自動的に生成された説明">
            <a:extLst>
              <a:ext uri="{FF2B5EF4-FFF2-40B4-BE49-F238E27FC236}">
                <a16:creationId xmlns:a16="http://schemas.microsoft.com/office/drawing/2014/main" id="{A9C384B3-0095-28B9-FF8B-EEA7915A51A7}"/>
              </a:ext>
            </a:extLst>
          </p:cNvPr>
          <p:cNvPicPr>
            <a:picLocks noChangeAspect="1"/>
          </p:cNvPicPr>
          <p:nvPr userDrawn="1"/>
        </p:nvPicPr>
        <p:blipFill>
          <a:blip r:embed="rId2"/>
          <a:stretch>
            <a:fillRect/>
          </a:stretch>
        </p:blipFill>
        <p:spPr>
          <a:xfrm>
            <a:off x="6985000" y="254000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D694D317-7B15-CC02-568D-38931AF913CC}"/>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8513696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green_circular_section">
    <p:bg>
      <p:bgPr>
        <a:solidFill>
          <a:schemeClr val="bg1"/>
        </a:solidFill>
        <a:effectLst/>
      </p:bgPr>
    </p:bg>
    <p:spTree>
      <p:nvGrpSpPr>
        <p:cNvPr id="1" name=""/>
        <p:cNvGrpSpPr/>
        <p:nvPr/>
      </p:nvGrpSpPr>
      <p:grpSpPr>
        <a:xfrm>
          <a:off x="0" y="0"/>
          <a:ext cx="0" cy="0"/>
          <a:chOff x="0" y="0"/>
          <a:chExt cx="0" cy="0"/>
        </a:xfrm>
      </p:grpSpPr>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6667703"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7" y="2867723"/>
            <a:ext cx="6667702"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テキスト ボックス 1">
            <a:extLst>
              <a:ext uri="{FF2B5EF4-FFF2-40B4-BE49-F238E27FC236}">
                <a16:creationId xmlns:a16="http://schemas.microsoft.com/office/drawing/2014/main" id="{23E43A41-1D75-BD23-DC7E-612BD213B64B}"/>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8" name="図 7" descr="図形, 円&#10;&#10;自動的に生成された説明">
            <a:extLst>
              <a:ext uri="{FF2B5EF4-FFF2-40B4-BE49-F238E27FC236}">
                <a16:creationId xmlns:a16="http://schemas.microsoft.com/office/drawing/2014/main" id="{0B353F5B-4C3E-D949-FFA1-11F959F66C20}"/>
              </a:ext>
            </a:extLst>
          </p:cNvPr>
          <p:cNvPicPr>
            <a:picLocks noChangeAspect="1"/>
          </p:cNvPicPr>
          <p:nvPr userDrawn="1"/>
        </p:nvPicPr>
        <p:blipFill>
          <a:blip r:embed="rId2"/>
          <a:stretch>
            <a:fillRect/>
          </a:stretch>
        </p:blipFill>
        <p:spPr>
          <a:xfrm>
            <a:off x="6985000"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931474FF-EACA-45E7-2043-CE82C24343BA}"/>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2054604677"/>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_photo_blue_cover">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DDF27D8A-CF93-1DE1-A1E0-579A53D5F3DA}"/>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2" name="テキスト ボックス 1">
            <a:extLst>
              <a:ext uri="{FF2B5EF4-FFF2-40B4-BE49-F238E27FC236}">
                <a16:creationId xmlns:a16="http://schemas.microsoft.com/office/drawing/2014/main" id="{E60FAC23-4C92-4DE0-F083-427560DDC99A}"/>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7" name="図 6" descr="図形, 円&#10;&#10;自動的に生成された説明">
            <a:extLst>
              <a:ext uri="{FF2B5EF4-FFF2-40B4-BE49-F238E27FC236}">
                <a16:creationId xmlns:a16="http://schemas.microsoft.com/office/drawing/2014/main" id="{2C0B660F-651E-2CBA-22A2-45839C456B24}"/>
              </a:ext>
            </a:extLst>
          </p:cNvPr>
          <p:cNvPicPr>
            <a:picLocks noChangeAspect="1"/>
          </p:cNvPicPr>
          <p:nvPr userDrawn="1"/>
        </p:nvPicPr>
        <p:blipFill>
          <a:blip r:embed="rId3"/>
          <a:stretch>
            <a:fillRect/>
          </a:stretch>
        </p:blipFill>
        <p:spPr>
          <a:xfrm>
            <a:off x="6985000" y="2545321"/>
            <a:ext cx="5207000" cy="4318000"/>
          </a:xfrm>
          <a:prstGeom prst="rect">
            <a:avLst/>
          </a:prstGeom>
        </p:spPr>
      </p:pic>
      <p:pic>
        <p:nvPicPr>
          <p:cNvPr id="4" name="図 3" descr="テキスト&#10;&#10;中程度の精度で自動的に生成された説明">
            <a:extLst>
              <a:ext uri="{FF2B5EF4-FFF2-40B4-BE49-F238E27FC236}">
                <a16:creationId xmlns:a16="http://schemas.microsoft.com/office/drawing/2014/main" id="{F9035B74-094B-209B-142E-2F4575B9D4E6}"/>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980052666"/>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_photo_blue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50ECA10C-38C8-BAA4-70D5-31A2424404F6}"/>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527DCC5-4C04-E99F-2F99-C0F7F6AD0B94}"/>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5" name="図 4" descr="図形, 円&#10;&#10;自動的に生成された説明">
            <a:extLst>
              <a:ext uri="{FF2B5EF4-FFF2-40B4-BE49-F238E27FC236}">
                <a16:creationId xmlns:a16="http://schemas.microsoft.com/office/drawing/2014/main" id="{C8AE480A-D33F-F3D0-EB6D-229546ABF623}"/>
              </a:ext>
            </a:extLst>
          </p:cNvPr>
          <p:cNvPicPr>
            <a:picLocks noChangeAspect="1"/>
          </p:cNvPicPr>
          <p:nvPr userDrawn="1"/>
        </p:nvPicPr>
        <p:blipFill>
          <a:blip r:embed="rId3"/>
          <a:stretch>
            <a:fillRect/>
          </a:stretch>
        </p:blipFill>
        <p:spPr>
          <a:xfrm>
            <a:off x="6985000"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E1C7F703-B8C7-70F6-B82F-D0F3E51C581B}"/>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693651179"/>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photo_green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B637127-8D27-2A9A-ED77-8C55395E8CE7}"/>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7" name="テキスト ボックス 6">
            <a:extLst>
              <a:ext uri="{FF2B5EF4-FFF2-40B4-BE49-F238E27FC236}">
                <a16:creationId xmlns:a16="http://schemas.microsoft.com/office/drawing/2014/main" id="{BAAEDEE3-8A5C-AB38-D1A5-E130459EE35E}"/>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光 が含まれている画像&#10;&#10;自動的に生成された説明">
            <a:extLst>
              <a:ext uri="{FF2B5EF4-FFF2-40B4-BE49-F238E27FC236}">
                <a16:creationId xmlns:a16="http://schemas.microsoft.com/office/drawing/2014/main" id="{7FE87EA2-0A02-84F3-CEDE-36468E0242DF}"/>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FA01F46E-13A7-9E58-7675-153447B1BC5C}"/>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98047381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photo_green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3AFD4A4-F749-31F6-0CF6-C2D7E621B4CE}"/>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E51AE076-D993-65D0-E8B8-91BD78009CDB}"/>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図形, 円&#10;&#10;自動的に生成された説明">
            <a:extLst>
              <a:ext uri="{FF2B5EF4-FFF2-40B4-BE49-F238E27FC236}">
                <a16:creationId xmlns:a16="http://schemas.microsoft.com/office/drawing/2014/main" id="{12A89BD8-D3A6-7B79-431B-CE770CB21B24}"/>
              </a:ext>
            </a:extLst>
          </p:cNvPr>
          <p:cNvPicPr>
            <a:picLocks noChangeAspect="1"/>
          </p:cNvPicPr>
          <p:nvPr userDrawn="1"/>
        </p:nvPicPr>
        <p:blipFill>
          <a:blip r:embed="rId3"/>
          <a:stretch>
            <a:fillRect/>
          </a:stretch>
        </p:blipFill>
        <p:spPr>
          <a:xfrm>
            <a:off x="6984999"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7AEFF0B8-9A84-F80B-92CD-AD1344C6E7E0}"/>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233208160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photo_yellow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C0EC2D82-930D-41B6-187D-C2F274A8DDD4}"/>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sp>
        <p:nvSpPr>
          <p:cNvPr id="7" name="テキスト ボックス 6">
            <a:extLst>
              <a:ext uri="{FF2B5EF4-FFF2-40B4-BE49-F238E27FC236}">
                <a16:creationId xmlns:a16="http://schemas.microsoft.com/office/drawing/2014/main" id="{3533DDFF-0A76-1642-661D-FC398C3F2AD5}"/>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ランプ, ポール, 座る, 男 が含まれている画像&#10;&#10;自動的に生成された説明">
            <a:extLst>
              <a:ext uri="{FF2B5EF4-FFF2-40B4-BE49-F238E27FC236}">
                <a16:creationId xmlns:a16="http://schemas.microsoft.com/office/drawing/2014/main" id="{69B991B3-A4EE-4E2F-A072-61D5B5DFE92D}"/>
              </a:ext>
            </a:extLst>
          </p:cNvPr>
          <p:cNvPicPr>
            <a:picLocks noChangeAspect="1"/>
          </p:cNvPicPr>
          <p:nvPr userDrawn="1"/>
        </p:nvPicPr>
        <p:blipFill>
          <a:blip r:embed="rId3"/>
          <a:stretch>
            <a:fillRect/>
          </a:stretch>
        </p:blipFill>
        <p:spPr>
          <a:xfrm>
            <a:off x="6984999"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889672A9-3F3D-4BBC-648C-70C5A75DED38}"/>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011807769"/>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_photo_yellow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B9097306-CA26-F0EE-D450-5D81EE9CCE24}"/>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F14B040E-3965-1B9C-AB97-144C8B641E19}"/>
              </a:ext>
            </a:extLst>
          </p:cNvPr>
          <p:cNvSpPr txBox="1"/>
          <p:nvPr userDrawn="1"/>
        </p:nvSpPr>
        <p:spPr>
          <a:xfrm>
            <a:off x="10768120" y="6397228"/>
            <a:ext cx="1188000" cy="241980"/>
          </a:xfrm>
          <a:prstGeom prst="rect">
            <a:avLst/>
          </a:prstGeom>
          <a:solidFill>
            <a:schemeClr val="bg1"/>
          </a:solid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6" name="図 5" descr="ケーブル, コネクタ, 結び目, ネックレス が含まれている画像&#10;&#10;自動的に生成された説明">
            <a:extLst>
              <a:ext uri="{FF2B5EF4-FFF2-40B4-BE49-F238E27FC236}">
                <a16:creationId xmlns:a16="http://schemas.microsoft.com/office/drawing/2014/main" id="{740EFBEE-C6CF-F51A-AA85-BA53F5EAB454}"/>
              </a:ext>
            </a:extLst>
          </p:cNvPr>
          <p:cNvPicPr>
            <a:picLocks noChangeAspect="1"/>
          </p:cNvPicPr>
          <p:nvPr userDrawn="1"/>
        </p:nvPicPr>
        <p:blipFill>
          <a:blip r:embed="rId3"/>
          <a:stretch>
            <a:fillRect/>
          </a:stretch>
        </p:blipFill>
        <p:spPr>
          <a:xfrm>
            <a:off x="6985000" y="-9071"/>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915A59F2-15A2-E96E-F771-46EC3B4B100D}"/>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417572997"/>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dirty="0"/>
              <a:t> </a:t>
            </a:r>
            <a:r>
              <a:rPr kumimoji="1" lang="ja-JP" altLang="en-US"/>
              <a:t>タイトル</a:t>
            </a:r>
            <a:br>
              <a:rPr kumimoji="1" lang="en-US" altLang="ja-JP" dirty="0"/>
            </a:br>
            <a:r>
              <a:rPr kumimoji="1" lang="ja-JP" altLang="en-US"/>
              <a:t>游ゴシック</a:t>
            </a:r>
            <a:r>
              <a:rPr kumimoji="1" lang="en-US" altLang="ja-JP" dirty="0"/>
              <a:t> 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3" name="図 2" descr="テキスト&#10;&#10;中程度の精度で自動的に生成された説明">
            <a:extLst>
              <a:ext uri="{FF2B5EF4-FFF2-40B4-BE49-F238E27FC236}">
                <a16:creationId xmlns:a16="http://schemas.microsoft.com/office/drawing/2014/main" id="{64AB173A-EA3B-7645-9D0D-8E3868B4053B}"/>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2792484236"/>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1A1BC9BC-7E85-1F07-EBFA-39A9BB38A2B7}"/>
              </a:ext>
            </a:extLst>
          </p:cNvPr>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 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dirty="0"/>
              <a:t>三菱ケミカル株式会社　茨城事業所　企画管理部　プロセス技術</a:t>
            </a:r>
            <a:r>
              <a:rPr lang="en-US" altLang="ja-JP" dirty="0"/>
              <a:t>Gr.</a:t>
            </a:r>
            <a:endParaRPr lang="ja-JP" altLang="en-US" dirty="0"/>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図 4" descr="テキスト&#10;&#10;中程度の精度で自動的に生成された説明">
            <a:extLst>
              <a:ext uri="{FF2B5EF4-FFF2-40B4-BE49-F238E27FC236}">
                <a16:creationId xmlns:a16="http://schemas.microsoft.com/office/drawing/2014/main" id="{59FEB064-9E10-7E77-2F7C-DF29C7A3F838}"/>
              </a:ext>
            </a:extLst>
          </p:cNvPr>
          <p:cNvPicPr>
            <a:picLocks noChangeAspect="1"/>
          </p:cNvPicPr>
          <p:nvPr userDrawn="1"/>
        </p:nvPicPr>
        <p:blipFill>
          <a:blip r:embed="rId2"/>
          <a:stretch>
            <a:fillRect/>
          </a:stretch>
        </p:blipFill>
        <p:spPr>
          <a:xfrm>
            <a:off x="9930034" y="66263"/>
            <a:ext cx="2182024" cy="662400"/>
          </a:xfrm>
          <a:prstGeom prst="rect">
            <a:avLst/>
          </a:prstGeom>
        </p:spPr>
      </p:pic>
    </p:spTree>
    <p:extLst>
      <p:ext uri="{BB962C8B-B14F-4D97-AF65-F5344CB8AC3E}">
        <p14:creationId xmlns:p14="http://schemas.microsoft.com/office/powerpoint/2010/main" val="2561020861"/>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dirty="0"/>
              <a:t>三菱ケミカル株式会社　茨城事業所　企画管理部　プロセス技術</a:t>
            </a:r>
            <a:r>
              <a:rPr lang="en-US" altLang="ja-JP" dirty="0"/>
              <a:t>Gr.</a:t>
            </a:r>
            <a:endParaRPr lang="ja-JP" altLang="en-US" dirty="0"/>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図 2" descr="アイコン&#10;&#10;低い精度で自動的に生成された説明">
            <a:extLst>
              <a:ext uri="{FF2B5EF4-FFF2-40B4-BE49-F238E27FC236}">
                <a16:creationId xmlns:a16="http://schemas.microsoft.com/office/drawing/2014/main" id="{CE14A7BB-2994-99E1-3721-81C07CB69B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9527298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blue_circular_cover">
    <p:bg>
      <p:bgPr>
        <a:solidFill>
          <a:schemeClr val="bg1"/>
        </a:solidFill>
        <a:effectLst/>
      </p:bgPr>
    </p:bg>
    <p:spTree>
      <p:nvGrpSpPr>
        <p:cNvPr id="1" name=""/>
        <p:cNvGrpSpPr/>
        <p:nvPr/>
      </p:nvGrpSpPr>
      <p:grpSpPr>
        <a:xfrm>
          <a:off x="0" y="0"/>
          <a:ext cx="0" cy="0"/>
          <a:chOff x="0" y="0"/>
          <a:chExt cx="0" cy="0"/>
        </a:xfrm>
      </p:grpSpPr>
      <p:sp>
        <p:nvSpPr>
          <p:cNvPr id="56" name="正方形/長方形 55">
            <a:extLst>
              <a:ext uri="{FF2B5EF4-FFF2-40B4-BE49-F238E27FC236}">
                <a16:creationId xmlns:a16="http://schemas.microsoft.com/office/drawing/2014/main" id="{8145FA22-8B15-8165-6374-D653E8B173C9}"/>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9" name="図 8" descr="図形, 円&#10;&#10;自動的に生成された説明">
            <a:extLst>
              <a:ext uri="{FF2B5EF4-FFF2-40B4-BE49-F238E27FC236}">
                <a16:creationId xmlns:a16="http://schemas.microsoft.com/office/drawing/2014/main" id="{85967991-37E0-5319-6989-F2B24BB19B23}"/>
              </a:ext>
            </a:extLst>
          </p:cNvPr>
          <p:cNvPicPr>
            <a:picLocks noChangeAspect="1"/>
          </p:cNvPicPr>
          <p:nvPr userDrawn="1"/>
        </p:nvPicPr>
        <p:blipFill>
          <a:blip r:embed="rId2"/>
          <a:stretch>
            <a:fillRect/>
          </a:stretch>
        </p:blipFill>
        <p:spPr>
          <a:xfrm>
            <a:off x="6985000" y="2545321"/>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8A86725F-A0D9-D467-03BC-7BD39E7BE052}"/>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1161471598"/>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blue_circular_section">
    <p:bg>
      <p:bgPr>
        <a:solidFill>
          <a:schemeClr val="bg1"/>
        </a:solidFill>
        <a:effectLst/>
      </p:bgPr>
    </p:bg>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A0C2DCC8-5345-2D48-AE06-2CFCAED3F5BB}"/>
              </a:ext>
            </a:extLst>
          </p:cNvPr>
          <p:cNvSpPr/>
          <p:nvPr userDrawn="1"/>
        </p:nvSpPr>
        <p:spPr>
          <a:xfrm>
            <a:off x="1" y="0"/>
            <a:ext cx="9390184" cy="6858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 </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図 7" descr="図形, 円&#10;&#10;自動的に生成された説明">
            <a:extLst>
              <a:ext uri="{FF2B5EF4-FFF2-40B4-BE49-F238E27FC236}">
                <a16:creationId xmlns:a16="http://schemas.microsoft.com/office/drawing/2014/main" id="{BAAA99CE-7539-35DC-129B-3103813D2787}"/>
              </a:ext>
            </a:extLst>
          </p:cNvPr>
          <p:cNvPicPr>
            <a:picLocks noChangeAspect="1"/>
          </p:cNvPicPr>
          <p:nvPr userDrawn="1"/>
        </p:nvPicPr>
        <p:blipFill>
          <a:blip r:embed="rId2"/>
          <a:stretch>
            <a:fillRect/>
          </a:stretch>
        </p:blipFill>
        <p:spPr>
          <a:xfrm>
            <a:off x="6984999"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5F45C960-2865-9B70-11B9-987BD91727B3}"/>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420784572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blue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normAutofit/>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Blue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図 9" descr="図形&#10;&#10;低い精度で自動的に生成された説明">
            <a:extLst>
              <a:ext uri="{FF2B5EF4-FFF2-40B4-BE49-F238E27FC236}">
                <a16:creationId xmlns:a16="http://schemas.microsoft.com/office/drawing/2014/main" id="{F458B451-556C-0A77-5C7B-A5094204D86B}"/>
              </a:ext>
            </a:extLst>
          </p:cNvPr>
          <p:cNvPicPr>
            <a:picLocks noChangeAspect="1"/>
          </p:cNvPicPr>
          <p:nvPr userDrawn="1"/>
        </p:nvPicPr>
        <p:blipFill>
          <a:blip r:embed="rId2"/>
          <a:stretch>
            <a:fillRect/>
          </a:stretch>
        </p:blipFill>
        <p:spPr>
          <a:xfrm>
            <a:off x="9019690" y="4071257"/>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22166060-8B4F-1920-1513-4363D0A7B1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419623325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green_circular_cover">
    <p:bg>
      <p:bgPr>
        <a:solidFill>
          <a:schemeClr val="bg1"/>
        </a:solidFill>
        <a:effectLst/>
      </p:bgPr>
    </p:bg>
    <p:spTree>
      <p:nvGrpSpPr>
        <p:cNvPr id="1" name=""/>
        <p:cNvGrpSpPr/>
        <p:nvPr/>
      </p:nvGrpSpPr>
      <p:grpSpPr>
        <a:xfrm>
          <a:off x="0" y="0"/>
          <a:ext cx="0" cy="0"/>
          <a:chOff x="0" y="0"/>
          <a:chExt cx="0" cy="0"/>
        </a:xfrm>
      </p:grpSpPr>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8" name="図 7" descr="ランプ, 光 が含まれている画像&#10;&#10;自動的に生成された説明">
            <a:extLst>
              <a:ext uri="{FF2B5EF4-FFF2-40B4-BE49-F238E27FC236}">
                <a16:creationId xmlns:a16="http://schemas.microsoft.com/office/drawing/2014/main" id="{A9C384B3-0095-28B9-FF8B-EEA7915A51A7}"/>
              </a:ext>
            </a:extLst>
          </p:cNvPr>
          <p:cNvPicPr>
            <a:picLocks noChangeAspect="1"/>
          </p:cNvPicPr>
          <p:nvPr userDrawn="1"/>
        </p:nvPicPr>
        <p:blipFill>
          <a:blip r:embed="rId2"/>
          <a:stretch>
            <a:fillRect/>
          </a:stretch>
        </p:blipFill>
        <p:spPr>
          <a:xfrm>
            <a:off x="6985000" y="254000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D694D317-7B15-CC02-568D-38931AF913CC}"/>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7339616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_green_circular_section">
    <p:bg>
      <p:bgPr>
        <a:solidFill>
          <a:schemeClr val="bg1"/>
        </a:solidFill>
        <a:effectLst/>
      </p:bgPr>
    </p:bg>
    <p:spTree>
      <p:nvGrpSpPr>
        <p:cNvPr id="1" name=""/>
        <p:cNvGrpSpPr/>
        <p:nvPr/>
      </p:nvGrpSpPr>
      <p:grpSpPr>
        <a:xfrm>
          <a:off x="0" y="0"/>
          <a:ext cx="0" cy="0"/>
          <a:chOff x="0" y="0"/>
          <a:chExt cx="0" cy="0"/>
        </a:xfrm>
      </p:grpSpPr>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6667703"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7" y="2867723"/>
            <a:ext cx="6667702"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図 7" descr="図形, 円&#10;&#10;自動的に生成された説明">
            <a:extLst>
              <a:ext uri="{FF2B5EF4-FFF2-40B4-BE49-F238E27FC236}">
                <a16:creationId xmlns:a16="http://schemas.microsoft.com/office/drawing/2014/main" id="{0B353F5B-4C3E-D949-FFA1-11F959F66C20}"/>
              </a:ext>
            </a:extLst>
          </p:cNvPr>
          <p:cNvPicPr>
            <a:picLocks noChangeAspect="1"/>
          </p:cNvPicPr>
          <p:nvPr userDrawn="1"/>
        </p:nvPicPr>
        <p:blipFill>
          <a:blip r:embed="rId2"/>
          <a:stretch>
            <a:fillRect/>
          </a:stretch>
        </p:blipFill>
        <p:spPr>
          <a:xfrm>
            <a:off x="6985000" y="0"/>
            <a:ext cx="5207000" cy="4318000"/>
          </a:xfrm>
          <a:prstGeom prst="rect">
            <a:avLst/>
          </a:prstGeom>
        </p:spPr>
      </p:pic>
      <p:pic>
        <p:nvPicPr>
          <p:cNvPr id="5" name="図 4" descr="テキスト&#10;&#10;中程度の精度で自動的に生成された説明">
            <a:extLst>
              <a:ext uri="{FF2B5EF4-FFF2-40B4-BE49-F238E27FC236}">
                <a16:creationId xmlns:a16="http://schemas.microsoft.com/office/drawing/2014/main" id="{931474FF-EACA-45E7-2043-CE82C24343BA}"/>
              </a:ext>
            </a:extLst>
          </p:cNvPr>
          <p:cNvPicPr>
            <a:picLocks noChangeAspect="1"/>
          </p:cNvPicPr>
          <p:nvPr userDrawn="1"/>
        </p:nvPicPr>
        <p:blipFill>
          <a:blip r:embed="rId3"/>
          <a:stretch>
            <a:fillRect/>
          </a:stretch>
        </p:blipFill>
        <p:spPr>
          <a:xfrm>
            <a:off x="9930034" y="66263"/>
            <a:ext cx="2182024" cy="662400"/>
          </a:xfrm>
          <a:prstGeom prst="rect">
            <a:avLst/>
          </a:prstGeom>
        </p:spPr>
      </p:pic>
    </p:spTree>
    <p:extLst>
      <p:ext uri="{BB962C8B-B14F-4D97-AF65-F5344CB8AC3E}">
        <p14:creationId xmlns:p14="http://schemas.microsoft.com/office/powerpoint/2010/main" val="3225603730"/>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_photo_blue_cover">
    <p:bg>
      <p:bgPr>
        <a:solidFill>
          <a:schemeClr val="bg1"/>
        </a:solidFill>
        <a:effectLst/>
      </p:bgPr>
    </p:bg>
    <p:spTree>
      <p:nvGrpSpPr>
        <p:cNvPr id="1" name=""/>
        <p:cNvGrpSpPr/>
        <p:nvPr/>
      </p:nvGrpSpPr>
      <p:grpSpPr>
        <a:xfrm>
          <a:off x="0" y="0"/>
          <a:ext cx="0" cy="0"/>
          <a:chOff x="0" y="0"/>
          <a:chExt cx="0" cy="0"/>
        </a:xfrm>
      </p:grpSpPr>
      <p:pic>
        <p:nvPicPr>
          <p:cNvPr id="13" name="図 12">
            <a:extLst>
              <a:ext uri="{FF2B5EF4-FFF2-40B4-BE49-F238E27FC236}">
                <a16:creationId xmlns:a16="http://schemas.microsoft.com/office/drawing/2014/main" id="{DDF27D8A-CF93-1DE1-A1E0-579A53D5F3DA}"/>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7" name="図 6" descr="図形, 円&#10;&#10;自動的に生成された説明">
            <a:extLst>
              <a:ext uri="{FF2B5EF4-FFF2-40B4-BE49-F238E27FC236}">
                <a16:creationId xmlns:a16="http://schemas.microsoft.com/office/drawing/2014/main" id="{2C0B660F-651E-2CBA-22A2-45839C456B24}"/>
              </a:ext>
            </a:extLst>
          </p:cNvPr>
          <p:cNvPicPr>
            <a:picLocks noChangeAspect="1"/>
          </p:cNvPicPr>
          <p:nvPr userDrawn="1"/>
        </p:nvPicPr>
        <p:blipFill>
          <a:blip r:embed="rId3"/>
          <a:stretch>
            <a:fillRect/>
          </a:stretch>
        </p:blipFill>
        <p:spPr>
          <a:xfrm>
            <a:off x="6985000" y="2545321"/>
            <a:ext cx="5207000" cy="4318000"/>
          </a:xfrm>
          <a:prstGeom prst="rect">
            <a:avLst/>
          </a:prstGeom>
        </p:spPr>
      </p:pic>
      <p:pic>
        <p:nvPicPr>
          <p:cNvPr id="4" name="図 3" descr="テキスト&#10;&#10;中程度の精度で自動的に生成された説明">
            <a:extLst>
              <a:ext uri="{FF2B5EF4-FFF2-40B4-BE49-F238E27FC236}">
                <a16:creationId xmlns:a16="http://schemas.microsoft.com/office/drawing/2014/main" id="{F9035B74-094B-209B-142E-2F4575B9D4E6}"/>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004723792"/>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_photo_blue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50ECA10C-38C8-BAA4-70D5-31A2424404F6}"/>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図 4" descr="図形, 円&#10;&#10;自動的に生成された説明">
            <a:extLst>
              <a:ext uri="{FF2B5EF4-FFF2-40B4-BE49-F238E27FC236}">
                <a16:creationId xmlns:a16="http://schemas.microsoft.com/office/drawing/2014/main" id="{C8AE480A-D33F-F3D0-EB6D-229546ABF623}"/>
              </a:ext>
            </a:extLst>
          </p:cNvPr>
          <p:cNvPicPr>
            <a:picLocks noChangeAspect="1"/>
          </p:cNvPicPr>
          <p:nvPr userDrawn="1"/>
        </p:nvPicPr>
        <p:blipFill>
          <a:blip r:embed="rId3"/>
          <a:stretch>
            <a:fillRect/>
          </a:stretch>
        </p:blipFill>
        <p:spPr>
          <a:xfrm>
            <a:off x="6985000"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E1C7F703-B8C7-70F6-B82F-D0F3E51C581B}"/>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882016454"/>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4_photo_green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FB637127-8D27-2A9A-ED77-8C55395E8CE7}"/>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6" name="図 5" descr="ランプ, 光 が含まれている画像&#10;&#10;自動的に生成された説明">
            <a:extLst>
              <a:ext uri="{FF2B5EF4-FFF2-40B4-BE49-F238E27FC236}">
                <a16:creationId xmlns:a16="http://schemas.microsoft.com/office/drawing/2014/main" id="{7FE87EA2-0A02-84F3-CEDE-36468E0242DF}"/>
              </a:ext>
            </a:extLst>
          </p:cNvPr>
          <p:cNvPicPr>
            <a:picLocks noChangeAspect="1"/>
          </p:cNvPicPr>
          <p:nvPr userDrawn="1"/>
        </p:nvPicPr>
        <p:blipFill>
          <a:blip r:embed="rId3"/>
          <a:stretch>
            <a:fillRect/>
          </a:stretch>
        </p:blipFill>
        <p:spPr>
          <a:xfrm>
            <a:off x="6985000" y="254000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FA01F46E-13A7-9E58-7675-153447B1BC5C}"/>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1152933835"/>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photo_green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D3AFD4A4-F749-31F6-0CF6-C2D7E621B4CE}"/>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図 5" descr="図形, 円&#10;&#10;自動的に生成された説明">
            <a:extLst>
              <a:ext uri="{FF2B5EF4-FFF2-40B4-BE49-F238E27FC236}">
                <a16:creationId xmlns:a16="http://schemas.microsoft.com/office/drawing/2014/main" id="{12A89BD8-D3A6-7B79-431B-CE770CB21B24}"/>
              </a:ext>
            </a:extLst>
          </p:cNvPr>
          <p:cNvPicPr>
            <a:picLocks noChangeAspect="1"/>
          </p:cNvPicPr>
          <p:nvPr userDrawn="1"/>
        </p:nvPicPr>
        <p:blipFill>
          <a:blip r:embed="rId3"/>
          <a:stretch>
            <a:fillRect/>
          </a:stretch>
        </p:blipFill>
        <p:spPr>
          <a:xfrm>
            <a:off x="6984999" y="0"/>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7AEFF0B8-9A84-F80B-92CD-AD1344C6E7E0}"/>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2252135946"/>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_photo_yellow_cover">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C0EC2D82-930D-41B6-187D-C2F274A8DDD4}"/>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5" name="タイトル 66"/>
          <p:cNvSpPr>
            <a:spLocks noGrp="1"/>
          </p:cNvSpPr>
          <p:nvPr>
            <p:ph type="title" hasCustomPrompt="1"/>
          </p:nvPr>
        </p:nvSpPr>
        <p:spPr>
          <a:xfrm>
            <a:off x="750626" y="2520666"/>
            <a:ext cx="6361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タイトル</a:t>
            </a:r>
            <a:r>
              <a:rPr kumimoji="1" lang="en-US" altLang="ja-JP" dirty="0"/>
              <a:t> </a:t>
            </a:r>
            <a:br>
              <a:rPr kumimoji="1" lang="en-US" altLang="ja-JP" dirty="0"/>
            </a:br>
            <a:r>
              <a:rPr kumimoji="1" lang="ja-JP" altLang="en-US"/>
              <a:t>游ゴシック </a:t>
            </a:r>
            <a:r>
              <a:rPr kumimoji="1" lang="en-US" altLang="ja-JP" dirty="0"/>
              <a:t>Bold 42pt </a:t>
            </a:r>
            <a:br>
              <a:rPr kumimoji="1" lang="en-US" altLang="ja-JP" dirty="0"/>
            </a:br>
            <a:r>
              <a:rPr kumimoji="1" lang="ja-JP" altLang="en-US"/>
              <a:t>行間</a:t>
            </a:r>
            <a:r>
              <a:rPr kumimoji="1" lang="en-US" altLang="ja-JP" dirty="0"/>
              <a:t>0.95</a:t>
            </a:r>
            <a:endParaRPr kumimoji="1" lang="ja-JP" altLang="en-US" dirty="0"/>
          </a:p>
        </p:txBody>
      </p:sp>
      <p:sp>
        <p:nvSpPr>
          <p:cNvPr id="16" name="テキスト プレースホルダー 28"/>
          <p:cNvSpPr>
            <a:spLocks noGrp="1"/>
          </p:cNvSpPr>
          <p:nvPr>
            <p:ph type="body" sz="quarter" idx="11" hasCustomPrompt="1"/>
          </p:nvPr>
        </p:nvSpPr>
        <p:spPr>
          <a:xfrm>
            <a:off x="750626" y="4704321"/>
            <a:ext cx="6361374" cy="859900"/>
          </a:xfrm>
          <a:prstGeom prst="rect">
            <a:avLst/>
          </a:prstGeom>
          <a:noFill/>
        </p:spPr>
        <p:txBody>
          <a:bodyPr wrap="square" lIns="0" tIns="0" rIns="0" bIns="0" anchor="t" anchorCtr="0">
            <a:noAutofit/>
          </a:bodyPr>
          <a:lstStyle>
            <a:lvl1pPr marL="0" indent="0" defTabSz="158400">
              <a:lnSpc>
                <a:spcPct val="100000"/>
              </a:lnSpc>
              <a:spcBef>
                <a:spcPts val="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 / </a:t>
            </a:r>
            <a:r>
              <a:rPr kumimoji="1" lang="ja-JP" altLang="en-US"/>
              <a:t>行間</a:t>
            </a:r>
            <a:r>
              <a:rPr kumimoji="1" lang="en-US" altLang="ja-JP" dirty="0"/>
              <a:t>1</a:t>
            </a:r>
            <a:br>
              <a:rPr kumimoji="1" lang="en-US" altLang="ja-JP" dirty="0"/>
            </a:br>
            <a:r>
              <a:rPr kumimoji="1" lang="ja-JP" altLang="en-US"/>
              <a:t>日付　　＊社外向け資料には、サブタイトル内に自社名を必ず記入してください。</a:t>
            </a:r>
            <a:endParaRPr kumimoji="1" lang="en-US" altLang="ja-JP" dirty="0"/>
          </a:p>
        </p:txBody>
      </p:sp>
      <p:sp>
        <p:nvSpPr>
          <p:cNvPr id="14" name="テキスト プレースホルダー 4"/>
          <p:cNvSpPr>
            <a:spLocks noGrp="1"/>
          </p:cNvSpPr>
          <p:nvPr>
            <p:ph type="body" sz="quarter" idx="17" hasCustomPrompt="1"/>
          </p:nvPr>
        </p:nvSpPr>
        <p:spPr>
          <a:xfrm>
            <a:off x="750627" y="1653463"/>
            <a:ext cx="6361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dirty="0"/>
              <a:t> </a:t>
            </a:r>
            <a:r>
              <a:rPr kumimoji="1" lang="ja-JP" altLang="en-US"/>
              <a:t>游ゴシック </a:t>
            </a:r>
            <a:r>
              <a:rPr kumimoji="1" lang="en-US" altLang="ja-JP" dirty="0"/>
              <a:t>Medium 24pt</a:t>
            </a:r>
            <a:endParaRPr kumimoji="1" lang="ja-JP" altLang="en-US" dirty="0"/>
          </a:p>
        </p:txBody>
      </p:sp>
      <p:pic>
        <p:nvPicPr>
          <p:cNvPr id="6" name="図 5" descr="ランプ, ポール, 座る, 男 が含まれている画像&#10;&#10;自動的に生成された説明">
            <a:extLst>
              <a:ext uri="{FF2B5EF4-FFF2-40B4-BE49-F238E27FC236}">
                <a16:creationId xmlns:a16="http://schemas.microsoft.com/office/drawing/2014/main" id="{69B991B3-A4EE-4E2F-A072-61D5B5DFE92D}"/>
              </a:ext>
            </a:extLst>
          </p:cNvPr>
          <p:cNvPicPr>
            <a:picLocks noChangeAspect="1"/>
          </p:cNvPicPr>
          <p:nvPr userDrawn="1"/>
        </p:nvPicPr>
        <p:blipFill>
          <a:blip r:embed="rId3"/>
          <a:stretch>
            <a:fillRect/>
          </a:stretch>
        </p:blipFill>
        <p:spPr>
          <a:xfrm>
            <a:off x="6985000" y="2545321"/>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889672A9-3F3D-4BBC-648C-70C5A75DED38}"/>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835398096"/>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_photo_yellow_section">
    <p:bg>
      <p:bgPr>
        <a:solidFill>
          <a:schemeClr val="bg1"/>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B9097306-CA26-F0EE-D450-5D81EE9CCE24}"/>
              </a:ext>
            </a:extLst>
          </p:cNvPr>
          <p:cNvPicPr>
            <a:picLocks noChangeAspect="1"/>
          </p:cNvPicPr>
          <p:nvPr userDrawn="1"/>
        </p:nvPicPr>
        <p:blipFill>
          <a:blip r:embed="rId2"/>
          <a:srcRect t="56" b="56"/>
          <a:stretch/>
        </p:blipFill>
        <p:spPr>
          <a:xfrm>
            <a:off x="9382125" y="0"/>
            <a:ext cx="2809875" cy="6858000"/>
          </a:xfrm>
          <a:prstGeom prst="rect">
            <a:avLst/>
          </a:prstGeom>
        </p:spPr>
      </p:pic>
      <p:sp>
        <p:nvSpPr>
          <p:cNvPr id="16" name="テキスト プレースホルダー 28">
            <a:extLst>
              <a:ext uri="{FF2B5EF4-FFF2-40B4-BE49-F238E27FC236}">
                <a16:creationId xmlns:a16="http://schemas.microsoft.com/office/drawing/2014/main" id="{AA5ACE5D-BCC4-7FAF-258F-580CB021B585}"/>
              </a:ext>
            </a:extLst>
          </p:cNvPr>
          <p:cNvSpPr>
            <a:spLocks noGrp="1"/>
          </p:cNvSpPr>
          <p:nvPr>
            <p:ph type="body" sz="quarter" idx="11" hasCustomPrompt="1"/>
          </p:nvPr>
        </p:nvSpPr>
        <p:spPr>
          <a:xfrm>
            <a:off x="750626" y="4235913"/>
            <a:ext cx="7119051" cy="276999"/>
          </a:xfrm>
          <a:prstGeom prst="rect">
            <a:avLst/>
          </a:prstGeom>
          <a:noFill/>
        </p:spPr>
        <p:txBody>
          <a:bodyPr wrap="square" lIns="0" tIns="0" rIns="0" bIns="0" anchor="t" anchorCtr="0">
            <a:noAutofit/>
          </a:bodyPr>
          <a:lstStyle>
            <a:lvl1pPr marL="0" indent="0" defTabSz="158400">
              <a:lnSpc>
                <a:spcPct val="100000"/>
              </a:lnSpc>
              <a:spcBef>
                <a:spcPts val="500"/>
              </a:spcBef>
              <a:buNone/>
              <a:defRPr sz="1800" b="0" spc="-30" baseline="0">
                <a:latin typeface="+mj-lt"/>
                <a:ea typeface="+mj-ea"/>
              </a:defRPr>
            </a:lvl1pPr>
            <a:lvl2pPr marL="0" indent="0" defTabSz="158400">
              <a:buNone/>
              <a:defRPr sz="1400" b="1"/>
            </a:lvl2pPr>
            <a:lvl3pPr marL="0" indent="0" defTabSz="158400">
              <a:buNone/>
              <a:defRPr b="1"/>
            </a:lvl3pPr>
            <a:lvl4pPr marL="1371600" indent="0">
              <a:buNone/>
              <a:defRPr/>
            </a:lvl4pPr>
            <a:lvl5pPr marL="1828800" indent="0">
              <a:buNone/>
              <a:defRPr/>
            </a:lvl5pPr>
          </a:lstStyle>
          <a:p>
            <a:pPr lvl="0"/>
            <a:r>
              <a:rPr kumimoji="1" lang="ja-JP" altLang="en-US"/>
              <a:t>サブタイトル</a:t>
            </a:r>
            <a:r>
              <a:rPr kumimoji="1" lang="en-US" altLang="ja-JP" dirty="0"/>
              <a:t> </a:t>
            </a:r>
            <a:r>
              <a:rPr kumimoji="1" lang="ja-JP" altLang="en-US"/>
              <a:t>游ゴシック </a:t>
            </a:r>
            <a:r>
              <a:rPr kumimoji="1" lang="en-US" altLang="ja-JP" dirty="0"/>
              <a:t>Medium 18pt</a:t>
            </a:r>
          </a:p>
        </p:txBody>
      </p:sp>
      <p:sp>
        <p:nvSpPr>
          <p:cNvPr id="23" name="タイトル 22">
            <a:extLst>
              <a:ext uri="{FF2B5EF4-FFF2-40B4-BE49-F238E27FC236}">
                <a16:creationId xmlns:a16="http://schemas.microsoft.com/office/drawing/2014/main" id="{3A40C814-17D5-4A7E-7A78-30BC828E8294}"/>
              </a:ext>
            </a:extLst>
          </p:cNvPr>
          <p:cNvSpPr>
            <a:spLocks noGrp="1"/>
          </p:cNvSpPr>
          <p:nvPr>
            <p:ph type="title" hasCustomPrompt="1"/>
          </p:nvPr>
        </p:nvSpPr>
        <p:spPr>
          <a:xfrm>
            <a:off x="750626" y="2867723"/>
            <a:ext cx="7119051"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dirty="0"/>
            </a:br>
            <a:r>
              <a:rPr lang="ja-JP" altLang="en-US" sz="4000"/>
              <a:t>游ゴシック</a:t>
            </a:r>
            <a:r>
              <a:rPr lang="en-US" altLang="ja-JP" sz="4000" dirty="0"/>
              <a:t>Bold 40pt / </a:t>
            </a:r>
            <a:r>
              <a:rPr lang="ja-JP" altLang="en-US" sz="4000"/>
              <a:t>行間</a:t>
            </a:r>
            <a:r>
              <a:rPr lang="en-US" altLang="ja-JP" sz="4000" dirty="0"/>
              <a:t>1</a:t>
            </a:r>
            <a:endParaRPr kumimoji="1" lang="ja-JP" altLang="en-US" dirty="0"/>
          </a:p>
        </p:txBody>
      </p:sp>
      <p:sp>
        <p:nvSpPr>
          <p:cNvPr id="13" name="スライド番号プレースホルダー 3">
            <a:extLst>
              <a:ext uri="{FF2B5EF4-FFF2-40B4-BE49-F238E27FC236}">
                <a16:creationId xmlns:a16="http://schemas.microsoft.com/office/drawing/2014/main" id="{DE1F0C62-7BF4-1436-B1EA-28526CF3CF4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7" name="フッター プレースホルダー 2">
            <a:extLst>
              <a:ext uri="{FF2B5EF4-FFF2-40B4-BE49-F238E27FC236}">
                <a16:creationId xmlns:a16="http://schemas.microsoft.com/office/drawing/2014/main" id="{52133237-772B-F3B9-F68E-FACF5B26B6E8}"/>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cxnSp>
        <p:nvCxnSpPr>
          <p:cNvPr id="18" name="直線コネクタ 17">
            <a:extLst>
              <a:ext uri="{FF2B5EF4-FFF2-40B4-BE49-F238E27FC236}">
                <a16:creationId xmlns:a16="http://schemas.microsoft.com/office/drawing/2014/main" id="{E3B8C749-7366-4048-9166-4A62872F8A82}"/>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図 5" descr="ケーブル, コネクタ, 結び目, ネックレス が含まれている画像&#10;&#10;自動的に生成された説明">
            <a:extLst>
              <a:ext uri="{FF2B5EF4-FFF2-40B4-BE49-F238E27FC236}">
                <a16:creationId xmlns:a16="http://schemas.microsoft.com/office/drawing/2014/main" id="{740EFBEE-C6CF-F51A-AA85-BA53F5EAB454}"/>
              </a:ext>
            </a:extLst>
          </p:cNvPr>
          <p:cNvPicPr>
            <a:picLocks noChangeAspect="1"/>
          </p:cNvPicPr>
          <p:nvPr userDrawn="1"/>
        </p:nvPicPr>
        <p:blipFill>
          <a:blip r:embed="rId3"/>
          <a:stretch>
            <a:fillRect/>
          </a:stretch>
        </p:blipFill>
        <p:spPr>
          <a:xfrm>
            <a:off x="6985000" y="-9071"/>
            <a:ext cx="5207000" cy="4318000"/>
          </a:xfrm>
          <a:prstGeom prst="rect">
            <a:avLst/>
          </a:prstGeom>
        </p:spPr>
      </p:pic>
      <p:pic>
        <p:nvPicPr>
          <p:cNvPr id="8" name="図 7" descr="テキスト&#10;&#10;中程度の精度で自動的に生成された説明">
            <a:extLst>
              <a:ext uri="{FF2B5EF4-FFF2-40B4-BE49-F238E27FC236}">
                <a16:creationId xmlns:a16="http://schemas.microsoft.com/office/drawing/2014/main" id="{915A59F2-15A2-E96E-F771-46EC3B4B100D}"/>
              </a:ext>
            </a:extLst>
          </p:cNvPr>
          <p:cNvPicPr>
            <a:picLocks noChangeAspect="1"/>
          </p:cNvPicPr>
          <p:nvPr userDrawn="1"/>
        </p:nvPicPr>
        <p:blipFill>
          <a:blip r:embed="rId4"/>
          <a:stretch>
            <a:fillRect/>
          </a:stretch>
        </p:blipFill>
        <p:spPr>
          <a:xfrm>
            <a:off x="75816" y="66263"/>
            <a:ext cx="2182024" cy="662400"/>
          </a:xfrm>
          <a:prstGeom prst="rect">
            <a:avLst/>
          </a:prstGeom>
        </p:spPr>
      </p:pic>
    </p:spTree>
    <p:extLst>
      <p:ext uri="{BB962C8B-B14F-4D97-AF65-F5344CB8AC3E}">
        <p14:creationId xmlns:p14="http://schemas.microsoft.com/office/powerpoint/2010/main" val="3915052989"/>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Green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図 4" descr="アイコン&#10;&#10;低い精度で自動的に生成された説明">
            <a:extLst>
              <a:ext uri="{FF2B5EF4-FFF2-40B4-BE49-F238E27FC236}">
                <a16:creationId xmlns:a16="http://schemas.microsoft.com/office/drawing/2014/main" id="{FF0E6664-F39E-E2E4-35D2-96706015AD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3" name="テキスト ボックス 2">
            <a:extLst>
              <a:ext uri="{FF2B5EF4-FFF2-40B4-BE49-F238E27FC236}">
                <a16:creationId xmlns:a16="http://schemas.microsoft.com/office/drawing/2014/main" id="{FA622023-E1FB-4EAE-2A34-9A027BBB5CB3}"/>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dirty="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139878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_green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Green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図 9" descr="図形&#10;&#10;中程度の精度で自動的に生成された説明">
            <a:extLst>
              <a:ext uri="{FF2B5EF4-FFF2-40B4-BE49-F238E27FC236}">
                <a16:creationId xmlns:a16="http://schemas.microsoft.com/office/drawing/2014/main" id="{C69D6576-8772-E9C9-93AC-25EDDE921743}"/>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3DF79D47-C70C-2A14-95D5-58B9F727911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
        <p:nvSpPr>
          <p:cNvPr id="3" name="テキスト ボックス 2">
            <a:extLst>
              <a:ext uri="{FF2B5EF4-FFF2-40B4-BE49-F238E27FC236}">
                <a16:creationId xmlns:a16="http://schemas.microsoft.com/office/drawing/2014/main" id="{0A2AC2B7-03B4-4678-DBB5-2564949C5CC8}"/>
              </a:ext>
            </a:extLst>
          </p:cNvPr>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dirty="0">
                <a:solidFill>
                  <a:srgbClr val="FF0000"/>
                </a:solidFill>
                <a:latin typeface="+mj-lt"/>
                <a:ea typeface="MS Gothic" panose="020B0609070205080204" pitchFamily="49" charset="-128"/>
              </a:rPr>
              <a:t>CONFIDENTIAL</a:t>
            </a:r>
            <a:endParaRPr kumimoji="1" lang="ja-JP" altLang="en-US" sz="1100" b="0" i="0" dirty="0">
              <a:solidFill>
                <a:srgbClr val="FF0000"/>
              </a:solidFill>
              <a:latin typeface="+mj-lt"/>
              <a:ea typeface="MS Gothic" panose="020B0609070205080204" pitchFamily="49" charset="-128"/>
            </a:endParaRPr>
          </a:p>
        </p:txBody>
      </p:sp>
    </p:spTree>
    <p:extLst>
      <p:ext uri="{BB962C8B-B14F-4D97-AF65-F5344CB8AC3E}">
        <p14:creationId xmlns:p14="http://schemas.microsoft.com/office/powerpoint/2010/main" val="38469890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Green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図 4" descr="アイコン&#10;&#10;低い精度で自動的に生成された説明">
            <a:extLst>
              <a:ext uri="{FF2B5EF4-FFF2-40B4-BE49-F238E27FC236}">
                <a16:creationId xmlns:a16="http://schemas.microsoft.com/office/drawing/2014/main" id="{FF0E6664-F39E-E2E4-35D2-96706015ADC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18154889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3_green_circular_text">
    <p:spTree>
      <p:nvGrpSpPr>
        <p:cNvPr id="1" name=""/>
        <p:cNvGrpSpPr/>
        <p:nvPr/>
      </p:nvGrpSpPr>
      <p:grpSpPr>
        <a:xfrm>
          <a:off x="0" y="0"/>
          <a:ext cx="0" cy="0"/>
          <a:chOff x="0" y="0"/>
          <a:chExt cx="0" cy="0"/>
        </a:xfrm>
      </p:grpSpPr>
      <p:sp>
        <p:nvSpPr>
          <p:cNvPr id="12" name="スライド番号プレースホルダー 3">
            <a:extLst>
              <a:ext uri="{FF2B5EF4-FFF2-40B4-BE49-F238E27FC236}">
                <a16:creationId xmlns:a16="http://schemas.microsoft.com/office/drawing/2014/main" id="{9154874E-585B-8A05-2CDC-1474B6AEEBC6}"/>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11" name="フッター プレースホルダー 2">
            <a:extLst>
              <a:ext uri="{FF2B5EF4-FFF2-40B4-BE49-F238E27FC236}">
                <a16:creationId xmlns:a16="http://schemas.microsoft.com/office/drawing/2014/main" id="{BF1224ED-0F96-677B-6766-A667DE634105}"/>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4" name="タイトル 3">
            <a:extLst>
              <a:ext uri="{FF2B5EF4-FFF2-40B4-BE49-F238E27FC236}">
                <a16:creationId xmlns:a16="http://schemas.microsoft.com/office/drawing/2014/main" id="{554A9AD2-A44F-6C4C-90A5-7E0F6615ABFB}"/>
              </a:ext>
            </a:extLst>
          </p:cNvPr>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dirty="0"/>
              <a:t> </a:t>
            </a:r>
            <a:r>
              <a:rPr kumimoji="1" lang="ja-JP" altLang="en-US"/>
              <a:t>游ゴシック</a:t>
            </a:r>
            <a:r>
              <a:rPr kumimoji="1" lang="en-US" altLang="ja-JP" dirty="0"/>
              <a:t>Bold 24pt</a:t>
            </a:r>
            <a:endParaRPr kumimoji="1" lang="ja-JP" altLang="en-US"/>
          </a:p>
        </p:txBody>
      </p:sp>
      <p:sp>
        <p:nvSpPr>
          <p:cNvPr id="15" name="コンテンツ プレースホルダー 14">
            <a:extLst>
              <a:ext uri="{FF2B5EF4-FFF2-40B4-BE49-F238E27FC236}">
                <a16:creationId xmlns:a16="http://schemas.microsoft.com/office/drawing/2014/main" id="{F51E5A19-FBB7-6442-9D4F-1E3DFA3936D4}"/>
              </a:ext>
            </a:extLst>
          </p:cNvPr>
          <p:cNvSpPr>
            <a:spLocks noGrp="1"/>
          </p:cNvSpPr>
          <p:nvPr>
            <p:ph sz="quarter" idx="10" hasCustomPrompt="1"/>
          </p:nvPr>
        </p:nvSpPr>
        <p:spPr>
          <a:xfrm>
            <a:off x="414338" y="1187355"/>
            <a:ext cx="11550650" cy="5049933"/>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dirty="0"/>
              <a:t> </a:t>
            </a:r>
            <a:r>
              <a:rPr kumimoji="1" lang="ja-JP" altLang="en-US"/>
              <a:t>游ゴシック </a:t>
            </a:r>
            <a:r>
              <a:rPr kumimoji="1" lang="en-US" altLang="ja-JP" dirty="0"/>
              <a:t>Medium 16pt / </a:t>
            </a:r>
            <a:r>
              <a:rPr kumimoji="1" lang="ja-JP" altLang="en-US"/>
              <a:t>行間</a:t>
            </a:r>
            <a:r>
              <a:rPr kumimoji="1" lang="en-US" altLang="ja-JP" dirty="0"/>
              <a:t>1.5</a:t>
            </a:r>
            <a:br>
              <a:rPr kumimoji="1" lang="en-US" altLang="ja-JP" dirty="0"/>
            </a:br>
            <a:r>
              <a:rPr kumimoji="1" lang="ja-JP" altLang="en-US"/>
              <a:t>テーマカラー：</a:t>
            </a:r>
            <a:r>
              <a:rPr kumimoji="1" lang="en-US" altLang="ja-JP" dirty="0"/>
              <a:t>Green and Cool gray </a:t>
            </a:r>
          </a:p>
        </p:txBody>
      </p:sp>
      <p:cxnSp>
        <p:nvCxnSpPr>
          <p:cNvPr id="9" name="直線コネクタ 8">
            <a:extLst>
              <a:ext uri="{FF2B5EF4-FFF2-40B4-BE49-F238E27FC236}">
                <a16:creationId xmlns:a16="http://schemas.microsoft.com/office/drawing/2014/main" id="{48411784-F115-E34D-82CF-2B9A4DC7E26D}"/>
              </a:ext>
            </a:extLst>
          </p:cNvPr>
          <p:cNvCxnSpPr>
            <a:cxnSpLocks/>
          </p:cNvCxnSpPr>
          <p:nvPr userDrawn="1"/>
        </p:nvCxnSpPr>
        <p:spPr>
          <a:xfrm>
            <a:off x="550714" y="6497492"/>
            <a:ext cx="0" cy="198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図 9" descr="図形&#10;&#10;中程度の精度で自動的に生成された説明">
            <a:extLst>
              <a:ext uri="{FF2B5EF4-FFF2-40B4-BE49-F238E27FC236}">
                <a16:creationId xmlns:a16="http://schemas.microsoft.com/office/drawing/2014/main" id="{C69D6576-8772-E9C9-93AC-25EDDE921743}"/>
              </a:ext>
            </a:extLst>
          </p:cNvPr>
          <p:cNvPicPr>
            <a:picLocks noChangeAspect="1"/>
          </p:cNvPicPr>
          <p:nvPr userDrawn="1"/>
        </p:nvPicPr>
        <p:blipFill>
          <a:blip r:embed="rId2"/>
          <a:stretch>
            <a:fillRect/>
          </a:stretch>
        </p:blipFill>
        <p:spPr>
          <a:xfrm>
            <a:off x="9017000" y="4064000"/>
            <a:ext cx="3175000" cy="2794000"/>
          </a:xfrm>
          <a:prstGeom prst="rect">
            <a:avLst/>
          </a:prstGeom>
        </p:spPr>
      </p:pic>
      <p:pic>
        <p:nvPicPr>
          <p:cNvPr id="2" name="図 1" descr="アイコン&#10;&#10;低い精度で自動的に生成された説明">
            <a:extLst>
              <a:ext uri="{FF2B5EF4-FFF2-40B4-BE49-F238E27FC236}">
                <a16:creationId xmlns:a16="http://schemas.microsoft.com/office/drawing/2014/main" id="{3DF79D47-C70C-2A14-95D5-58B9F727911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extLst>
      <p:ext uri="{BB962C8B-B14F-4D97-AF65-F5344CB8AC3E}">
        <p14:creationId xmlns:p14="http://schemas.microsoft.com/office/powerpoint/2010/main" val="8421858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r>
              <a:rPr lang="ja-JP" altLang="en-US" dirty="0"/>
              <a:t>三菱ケミカル株式会社　茨城事業所　企画管理部　プロセス技術</a:t>
            </a:r>
            <a:r>
              <a:rPr lang="en-US" altLang="ja-JP" dirty="0"/>
              <a:t>Gr.</a:t>
            </a:r>
            <a:endParaRPr lang="ja-JP" altLang="en-US" dirty="0"/>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1696390841"/>
      </p:ext>
    </p:extLst>
  </p:cSld>
  <p:clrMap bg1="lt1" tx1="dk1" bg2="lt2" tx2="dk2" accent1="accent1" accent2="accent2" accent3="accent3" accent4="accent4" accent5="accent5" accent6="accent6" hlink="hlink" folHlink="folHlink"/>
  <p:sldLayoutIdLst>
    <p:sldLayoutId id="2147483821" r:id="rId1"/>
    <p:sldLayoutId id="2147483858" r:id="rId2"/>
    <p:sldLayoutId id="2147483864" r:id="rId3"/>
    <p:sldLayoutId id="2147483862" r:id="rId4"/>
    <p:sldLayoutId id="2147483863" r:id="rId5"/>
    <p:sldLayoutId id="2147483859" r:id="rId6"/>
    <p:sldLayoutId id="2147483874" r:id="rId7"/>
    <p:sldLayoutId id="2147483875" r:id="rId8"/>
    <p:sldLayoutId id="2147483880" r:id="rId9"/>
    <p:sldLayoutId id="2147483881" r:id="rId10"/>
    <p:sldLayoutId id="2147483888" r:id="rId11"/>
    <p:sldLayoutId id="2147483890" r:id="rId12"/>
    <p:sldLayoutId id="2147483885" r:id="rId13"/>
    <p:sldLayoutId id="2147483886" r:id="rId14"/>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5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75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75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75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マスター テキストの書式設定</a:t>
            </a:r>
          </a:p>
          <a:p>
            <a:pPr marL="645750"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2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00575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3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365750"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4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72575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5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p:txBody>
      </p:sp>
    </p:spTree>
    <p:extLst>
      <p:ext uri="{BB962C8B-B14F-4D97-AF65-F5344CB8AC3E}">
        <p14:creationId xmlns:p14="http://schemas.microsoft.com/office/powerpoint/2010/main" val="3522324436"/>
      </p:ext>
    </p:extLst>
  </p:cSld>
  <p:clrMap bg1="lt1" tx1="dk1" bg2="lt2" tx2="dk2" accent1="accent1" accent2="accent2" accent3="accent3" accent4="accent4" accent5="accent5" accent6="accent6" hlink="hlink" folHlink="folHlink"/>
  <p:sldLayoutIdLst>
    <p:sldLayoutId id="2147483903" r:id="rId1"/>
    <p:sldLayoutId id="2147483904" r:id="rId2"/>
    <p:sldLayoutId id="2147483905" r:id="rId3"/>
    <p:sldLayoutId id="2147483906" r:id="rId4"/>
    <p:sldLayoutId id="2147483907" r:id="rId5"/>
    <p:sldLayoutId id="2147483908" r:id="rId6"/>
    <p:sldLayoutId id="2147483909" r:id="rId7"/>
    <p:sldLayoutId id="2147483910" r:id="rId8"/>
    <p:sldLayoutId id="2147483911" r:id="rId9"/>
    <p:sldLayoutId id="2147483912" r:id="rId10"/>
    <p:sldLayoutId id="2147483913" r:id="rId11"/>
    <p:sldLayoutId id="2147483914" r:id="rId12"/>
    <p:sldLayoutId id="2147483915" r:id="rId13"/>
    <p:sldLayoutId id="2147483916" r:id="rId14"/>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マスター テキストの書式設定</a:t>
            </a:r>
          </a:p>
          <a:p>
            <a:pPr marL="645750"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2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00575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3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365750"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4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72575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5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p:txBody>
      </p:sp>
    </p:spTree>
    <p:extLst>
      <p:ext uri="{BB962C8B-B14F-4D97-AF65-F5344CB8AC3E}">
        <p14:creationId xmlns:p14="http://schemas.microsoft.com/office/powerpoint/2010/main" val="700818174"/>
      </p:ext>
    </p:extLst>
  </p:cSld>
  <p:clrMap bg1="lt1" tx1="dk1" bg2="lt2" tx2="dk2" accent1="accent1" accent2="accent2" accent3="accent3" accent4="accent4" accent5="accent5" accent6="accent6" hlink="hlink" folHlink="folHlink"/>
  <p:sldLayoutIdLst>
    <p:sldLayoutId id="2147483895" r:id="rId1"/>
    <p:sldLayoutId id="2147483901" r:id="rId2"/>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8" name="フッター プレースホルダー 2">
            <a:extLst>
              <a:ext uri="{FF2B5EF4-FFF2-40B4-BE49-F238E27FC236}">
                <a16:creationId xmlns:a16="http://schemas.microsoft.com/office/drawing/2014/main" id="{793D33C9-6286-93AD-F690-DD106EE41887}"/>
              </a:ext>
            </a:extLst>
          </p:cNvPr>
          <p:cNvSpPr>
            <a:spLocks noGrp="1"/>
          </p:cNvSpPr>
          <p:nvPr>
            <p:ph type="ftr" sz="quarter" idx="3"/>
          </p:nvPr>
        </p:nvSpPr>
        <p:spPr>
          <a:xfrm>
            <a:off x="638758" y="6474646"/>
            <a:ext cx="4456805" cy="239418"/>
          </a:xfrm>
          <a:prstGeom prst="rect">
            <a:avLst/>
          </a:prstGeom>
        </p:spPr>
        <p:txBody>
          <a:bodyPr/>
          <a:lstStyle>
            <a:lvl1pPr algn="l">
              <a:defRPr sz="1100">
                <a:solidFill>
                  <a:schemeClr val="tx1"/>
                </a:solidFill>
              </a:defRPr>
            </a:lvl1pPr>
          </a:lstStyle>
          <a:p>
            <a:endParaRPr lang="ja-JP" altLang="en-US"/>
          </a:p>
        </p:txBody>
      </p:sp>
      <p:sp>
        <p:nvSpPr>
          <p:cNvPr id="39" name="スライド番号プレースホルダー 3">
            <a:extLst>
              <a:ext uri="{FF2B5EF4-FFF2-40B4-BE49-F238E27FC236}">
                <a16:creationId xmlns:a16="http://schemas.microsoft.com/office/drawing/2014/main" id="{1E9F7E52-3585-A248-DCF9-10FD61D02510}"/>
              </a:ext>
            </a:extLst>
          </p:cNvPr>
          <p:cNvSpPr>
            <a:spLocks noGrp="1"/>
          </p:cNvSpPr>
          <p:nvPr>
            <p:ph type="sldNum" sz="quarter" idx="4"/>
          </p:nvPr>
        </p:nvSpPr>
        <p:spPr>
          <a:xfrm>
            <a:off x="242501" y="6474646"/>
            <a:ext cx="343672" cy="239418"/>
          </a:xfrm>
          <a:prstGeom prst="rect">
            <a:avLst/>
          </a:prstGeom>
        </p:spPr>
        <p:txBody>
          <a:bodyPr vert="horz" lIns="0" tIns="45720" rIns="91440" bIns="45720" rtlCol="0" anchor="t" anchorCtr="0"/>
          <a:lstStyle>
            <a:lvl1pPr algn="l">
              <a:defRPr sz="1130">
                <a:solidFill>
                  <a:schemeClr val="tx1"/>
                </a:solidFill>
                <a:latin typeface="+mj-lt"/>
              </a:defRPr>
            </a:lvl1pPr>
          </a:lstStyle>
          <a:p>
            <a:fld id="{48394356-8693-4048-8EAF-2BF05B04AA80}" type="slidenum">
              <a:rPr lang="ja-JP" altLang="en-US" smtClean="0"/>
              <a:pPr/>
              <a:t>‹#›</a:t>
            </a:fld>
            <a:endParaRPr lang="ja-JP" altLang="en-US"/>
          </a:p>
        </p:txBody>
      </p:sp>
      <p:sp>
        <p:nvSpPr>
          <p:cNvPr id="5" name="タイトル プレースホルダー 4">
            <a:extLst>
              <a:ext uri="{FF2B5EF4-FFF2-40B4-BE49-F238E27FC236}">
                <a16:creationId xmlns:a16="http://schemas.microsoft.com/office/drawing/2014/main" id="{20757BDD-7C5A-9847-972C-E62918DA2709}"/>
              </a:ext>
            </a:extLst>
          </p:cNvPr>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a:extLst>
              <a:ext uri="{FF2B5EF4-FFF2-40B4-BE49-F238E27FC236}">
                <a16:creationId xmlns:a16="http://schemas.microsoft.com/office/drawing/2014/main" id="{DAEC7C21-0104-334A-9DA4-A217535898C9}"/>
              </a:ext>
            </a:extLst>
          </p:cNvPr>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マスター テキストの書式設定</a:t>
            </a:r>
          </a:p>
          <a:p>
            <a:pPr marL="645750"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2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00575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3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365750"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4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a:p>
            <a:pPr marL="172575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第 </a:t>
            </a:r>
            <a:r>
              <a:rPr kumimoji="1" lang="en-US" altLang="ja-JP" sz="1600" b="0" i="0" u="none" strike="noStrike" kern="1200" cap="none" spc="0" normalizeH="0" baseline="0" noProof="0" dirty="0">
                <a:ln>
                  <a:noFill/>
                </a:ln>
                <a:solidFill>
                  <a:srgbClr val="000000"/>
                </a:solidFill>
                <a:effectLst/>
                <a:uLnTx/>
                <a:uFillTx/>
                <a:latin typeface="Arial"/>
                <a:ea typeface="游ゴシック Medium"/>
                <a:cs typeface="+mn-cs"/>
              </a:rPr>
              <a:t>5 </a:t>
            </a:r>
            <a:r>
              <a:rPr kumimoji="1" lang="ja-JP" altLang="en-US" sz="1600" b="0" i="0" u="none" strike="noStrike" kern="1200" cap="none" spc="0" normalizeH="0" baseline="0" noProof="0" dirty="0">
                <a:ln>
                  <a:noFill/>
                </a:ln>
                <a:solidFill>
                  <a:srgbClr val="000000"/>
                </a:solidFill>
                <a:effectLst/>
                <a:uLnTx/>
                <a:uFillTx/>
                <a:latin typeface="Arial"/>
                <a:ea typeface="游ゴシック Medium"/>
                <a:cs typeface="+mn-cs"/>
              </a:rPr>
              <a:t>レベル</a:t>
            </a:r>
          </a:p>
        </p:txBody>
      </p:sp>
    </p:spTree>
    <p:extLst>
      <p:ext uri="{BB962C8B-B14F-4D97-AF65-F5344CB8AC3E}">
        <p14:creationId xmlns:p14="http://schemas.microsoft.com/office/powerpoint/2010/main" val="1428101575"/>
      </p:ext>
    </p:extLst>
  </p:cSld>
  <p:clrMap bg1="lt1" tx1="dk1" bg2="lt2" tx2="dk2" accent1="accent1" accent2="accent2" accent3="accent3" accent4="accent4" accent5="accent5" accent6="accent6" hlink="hlink" folHlink="folHlink"/>
  <p:sldLayoutIdLst>
    <p:sldLayoutId id="2147483918" r:id="rId1"/>
    <p:sldLayoutId id="2147483919" r:id="rId2"/>
  </p:sldLayoutIdLst>
  <p:hf hd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00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80000" indent="-180000"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99" userDrawn="1">
          <p15:clr>
            <a:srgbClr val="F26B43"/>
          </p15:clr>
        </p15:guide>
        <p15:guide id="2" pos="3840" userDrawn="1">
          <p15:clr>
            <a:srgbClr val="F26B43"/>
          </p15:clr>
        </p15:guide>
        <p15:guide id="4" pos="7537" userDrawn="1">
          <p15:clr>
            <a:srgbClr val="F26B43"/>
          </p15:clr>
        </p15:guide>
        <p15:guide id="5" pos="25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FA64AB4-7066-4561-6173-0007350AE6FA}"/>
              </a:ext>
            </a:extLst>
          </p:cNvPr>
          <p:cNvSpPr>
            <a:spLocks noGrp="1"/>
          </p:cNvSpPr>
          <p:nvPr>
            <p:ph type="sldNum" sz="quarter" idx="4"/>
          </p:nvPr>
        </p:nvSpPr>
        <p:spPr/>
        <p:txBody>
          <a:bodyPr/>
          <a:lstStyle/>
          <a:p>
            <a:fld id="{48394356-8693-4048-8EAF-2BF05B04AA80}" type="slidenum">
              <a:rPr lang="ja-JP" altLang="en-US" smtClean="0"/>
              <a:pPr/>
              <a:t>1</a:t>
            </a:fld>
            <a:endParaRPr lang="ja-JP" altLang="en-US"/>
          </a:p>
        </p:txBody>
      </p:sp>
      <p:sp>
        <p:nvSpPr>
          <p:cNvPr id="4" name="タイトル 3">
            <a:extLst>
              <a:ext uri="{FF2B5EF4-FFF2-40B4-BE49-F238E27FC236}">
                <a16:creationId xmlns:a16="http://schemas.microsoft.com/office/drawing/2014/main" id="{F6E24FE4-EFA3-18D3-0300-ED1E0CB7E199}"/>
              </a:ext>
            </a:extLst>
          </p:cNvPr>
          <p:cNvSpPr>
            <a:spLocks noGrp="1"/>
          </p:cNvSpPr>
          <p:nvPr>
            <p:ph type="title"/>
          </p:nvPr>
        </p:nvSpPr>
        <p:spPr/>
        <p:txBody>
          <a:bodyPr/>
          <a:lstStyle/>
          <a:p>
            <a:r>
              <a:rPr kumimoji="1" lang="en-US" altLang="ja-JP"/>
              <a:t>P-1507A/B</a:t>
            </a:r>
            <a:r>
              <a:rPr kumimoji="1" lang="ja-JP" altLang="en-US"/>
              <a:t>吸入ストレーナー メッシュ</a:t>
            </a:r>
            <a:r>
              <a:rPr lang="ja-JP" altLang="en-US"/>
              <a:t>サイズ</a:t>
            </a:r>
            <a:r>
              <a:rPr kumimoji="1" lang="ja-JP" altLang="en-US"/>
              <a:t>変更</a:t>
            </a:r>
            <a:r>
              <a:rPr kumimoji="1" lang="en-US" altLang="ja-JP"/>
              <a:t>(40</a:t>
            </a:r>
            <a:r>
              <a:rPr kumimoji="1" lang="ja-JP" altLang="en-US"/>
              <a:t>→</a:t>
            </a:r>
            <a:r>
              <a:rPr kumimoji="1" lang="en-US" altLang="ja-JP"/>
              <a:t>250</a:t>
            </a:r>
            <a:r>
              <a:rPr kumimoji="1" lang="ja-JP" altLang="en-US"/>
              <a:t>メッシュ</a:t>
            </a:r>
            <a:r>
              <a:rPr kumimoji="1" lang="en-US" altLang="ja-JP"/>
              <a:t>)</a:t>
            </a:r>
            <a:endParaRPr kumimoji="1" lang="ja-JP" altLang="en-US"/>
          </a:p>
        </p:txBody>
      </p:sp>
      <p:pic>
        <p:nvPicPr>
          <p:cNvPr id="7" name="図 6">
            <a:extLst>
              <a:ext uri="{FF2B5EF4-FFF2-40B4-BE49-F238E27FC236}">
                <a16:creationId xmlns:a16="http://schemas.microsoft.com/office/drawing/2014/main" id="{C41469B3-7B16-9BDE-F561-3757138D07D9}"/>
              </a:ext>
            </a:extLst>
          </p:cNvPr>
          <p:cNvPicPr>
            <a:picLocks noChangeAspect="1"/>
          </p:cNvPicPr>
          <p:nvPr/>
        </p:nvPicPr>
        <p:blipFill>
          <a:blip r:embed="rId2"/>
          <a:srcRect r="54467" b="10778"/>
          <a:stretch>
            <a:fillRect/>
          </a:stretch>
        </p:blipFill>
        <p:spPr>
          <a:xfrm>
            <a:off x="9185166" y="3572820"/>
            <a:ext cx="1796730" cy="2496250"/>
          </a:xfrm>
          <a:prstGeom prst="rect">
            <a:avLst/>
          </a:prstGeom>
        </p:spPr>
      </p:pic>
      <p:pic>
        <p:nvPicPr>
          <p:cNvPr id="9" name="図 8">
            <a:extLst>
              <a:ext uri="{FF2B5EF4-FFF2-40B4-BE49-F238E27FC236}">
                <a16:creationId xmlns:a16="http://schemas.microsoft.com/office/drawing/2014/main" id="{2A11D544-0970-E028-AE35-2337C6842326}"/>
              </a:ext>
            </a:extLst>
          </p:cNvPr>
          <p:cNvPicPr>
            <a:picLocks noChangeAspect="1"/>
          </p:cNvPicPr>
          <p:nvPr/>
        </p:nvPicPr>
        <p:blipFill>
          <a:blip r:embed="rId3"/>
          <a:srcRect b="48038"/>
          <a:stretch>
            <a:fillRect/>
          </a:stretch>
        </p:blipFill>
        <p:spPr>
          <a:xfrm>
            <a:off x="2141536" y="3429000"/>
            <a:ext cx="6226765" cy="2762107"/>
          </a:xfrm>
          <a:prstGeom prst="rect">
            <a:avLst/>
          </a:prstGeom>
        </p:spPr>
      </p:pic>
      <p:sp>
        <p:nvSpPr>
          <p:cNvPr id="12" name="二等辺三角形 11">
            <a:extLst>
              <a:ext uri="{FF2B5EF4-FFF2-40B4-BE49-F238E27FC236}">
                <a16:creationId xmlns:a16="http://schemas.microsoft.com/office/drawing/2014/main" id="{CB6F6513-7099-B633-E9C0-CFD01935FA79}"/>
              </a:ext>
            </a:extLst>
          </p:cNvPr>
          <p:cNvSpPr/>
          <p:nvPr/>
        </p:nvSpPr>
        <p:spPr>
          <a:xfrm rot="5400000">
            <a:off x="4857246" y="5121151"/>
            <a:ext cx="174150" cy="154519"/>
          </a:xfrm>
          <a:prstGeom prst="triangle">
            <a:avLst/>
          </a:prstGeom>
          <a:pattFill prst="openDmnd">
            <a:fgClr>
              <a:srgbClr val="FF0000"/>
            </a:fgClr>
            <a:bgClr>
              <a:schemeClr val="bg1"/>
            </a:bgClr>
          </a:patt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22B3D345-0D28-61CF-455A-114E1D1DC38F}"/>
              </a:ext>
            </a:extLst>
          </p:cNvPr>
          <p:cNvSpPr txBox="1"/>
          <p:nvPr/>
        </p:nvSpPr>
        <p:spPr>
          <a:xfrm>
            <a:off x="93950" y="812599"/>
            <a:ext cx="13069389" cy="1775234"/>
          </a:xfrm>
          <a:prstGeom prst="rect">
            <a:avLst/>
          </a:prstGeom>
          <a:noFill/>
        </p:spPr>
        <p:txBody>
          <a:bodyPr wrap="square" lIns="0" tIns="72000" rIns="234000" bIns="0" rtlCol="0" anchor="t" anchorCtr="0">
            <a:noAutofit/>
          </a:bodyPr>
          <a:lstStyle/>
          <a:p>
            <a:pPr algn="l"/>
            <a:r>
              <a:rPr kumimoji="1" lang="ja-JP" altLang="en-US" b="1"/>
              <a:t>変更対象：</a:t>
            </a:r>
            <a:r>
              <a:rPr kumimoji="1" lang="en-US" altLang="ja-JP"/>
              <a:t>P-1507A/B </a:t>
            </a:r>
            <a:r>
              <a:rPr kumimoji="1" lang="ja-JP" altLang="en-US"/>
              <a:t>吸入ストレーナー</a:t>
            </a:r>
            <a:endParaRPr lang="en-US" altLang="ja-JP"/>
          </a:p>
          <a:p>
            <a:pPr algn="l"/>
            <a:r>
              <a:rPr lang="ja-JP" altLang="en-US" b="1"/>
              <a:t>　　内容：メッシュサイズ </a:t>
            </a:r>
            <a:r>
              <a:rPr lang="en-US" altLang="ja-JP" b="1"/>
              <a:t>40</a:t>
            </a:r>
            <a:r>
              <a:rPr lang="ja-JP" altLang="en-US" b="1"/>
              <a:t>→</a:t>
            </a:r>
            <a:r>
              <a:rPr lang="en-US" altLang="ja-JP" b="1"/>
              <a:t>250</a:t>
            </a:r>
            <a:r>
              <a:rPr lang="ja-JP" altLang="en-US" b="1"/>
              <a:t>メッシュ</a:t>
            </a:r>
            <a:endParaRPr lang="en-US" altLang="ja-JP" b="1"/>
          </a:p>
          <a:p>
            <a:r>
              <a:rPr lang="ja-JP" altLang="en-US" b="1"/>
              <a:t>　　目的：</a:t>
            </a:r>
            <a:r>
              <a:rPr lang="en-US" altLang="ja-JP" b="1"/>
              <a:t>C-1503</a:t>
            </a:r>
            <a:r>
              <a:rPr lang="ja-JP" altLang="en-US" b="1"/>
              <a:t>塔頂で確認された黒色異物（主成分</a:t>
            </a:r>
            <a:r>
              <a:rPr lang="en-US" altLang="ja-JP" b="1"/>
              <a:t>=</a:t>
            </a:r>
            <a:r>
              <a:rPr lang="ja-JP" altLang="en-US" b="1"/>
              <a:t>鉄錆）の製品</a:t>
            </a:r>
            <a:r>
              <a:rPr lang="en-US" altLang="ja-JP" b="1"/>
              <a:t>DEG</a:t>
            </a:r>
            <a:r>
              <a:rPr lang="ja-JP" altLang="en-US" b="1"/>
              <a:t>出荷ラインへの流出を抑制する</a:t>
            </a:r>
            <a:r>
              <a:rPr lang="ja-JP" altLang="en-US"/>
              <a:t>。</a:t>
            </a:r>
            <a:endParaRPr lang="en-US" altLang="ja-JP"/>
          </a:p>
          <a:p>
            <a:r>
              <a:rPr lang="ja-JP" altLang="en-US" b="1"/>
              <a:t>　　影響：</a:t>
            </a:r>
            <a:r>
              <a:rPr lang="ja-JP" altLang="en-US"/>
              <a:t>メッシュが細かくなることにより閉塞が早期化し、</a:t>
            </a:r>
            <a:endParaRPr lang="en-US" altLang="ja-JP"/>
          </a:p>
          <a:p>
            <a:r>
              <a:rPr lang="ja-JP" altLang="en-US"/>
              <a:t>　　　　　</a:t>
            </a:r>
            <a:r>
              <a:rPr lang="en-US" altLang="ja-JP"/>
              <a:t>P-1507A/B</a:t>
            </a:r>
            <a:r>
              <a:rPr lang="ja-JP" altLang="en-US"/>
              <a:t>キャビテーションによる機器損傷リスクが高まる。特に運転開始直後が懸念。</a:t>
            </a:r>
            <a:endParaRPr lang="en-US" altLang="ja-JP"/>
          </a:p>
          <a:p>
            <a:endParaRPr lang="en-US" altLang="ja-JP" sz="1050"/>
          </a:p>
          <a:p>
            <a:r>
              <a:rPr lang="ja-JP" altLang="en-US"/>
              <a:t>　　</a:t>
            </a:r>
            <a:r>
              <a:rPr lang="ja-JP" altLang="en-US" b="1"/>
              <a:t>対応：ポンプ下流ＣＶ開度を監視し、閉塞時は予備機にポンプ切り替えて清掃を実施</a:t>
            </a:r>
            <a:endParaRPr lang="en-US" altLang="ja-JP" b="1"/>
          </a:p>
          <a:p>
            <a:r>
              <a:rPr lang="ja-JP" altLang="en-US"/>
              <a:t>　　　　（吸スト閉塞傾向は下流の流量制御弁 </a:t>
            </a:r>
            <a:r>
              <a:rPr lang="en-US" altLang="ja-JP"/>
              <a:t>FC1531 ,FC1534</a:t>
            </a:r>
            <a:r>
              <a:rPr lang="ja-JP" altLang="en-US"/>
              <a:t> の</a:t>
            </a:r>
            <a:r>
              <a:rPr lang="en-US" altLang="ja-JP"/>
              <a:t>CV</a:t>
            </a:r>
            <a:r>
              <a:rPr lang="ja-JP" altLang="en-US"/>
              <a:t>開度で監視が可能）</a:t>
            </a:r>
            <a:endParaRPr lang="en-US" altLang="ja-JP"/>
          </a:p>
          <a:p>
            <a:r>
              <a:rPr kumimoji="1" lang="ja-JP" altLang="en-US"/>
              <a:t>　　　 </a:t>
            </a:r>
            <a:endParaRPr kumimoji="1" lang="ja-JP" altLang="en-US" dirty="0" err="1"/>
          </a:p>
        </p:txBody>
      </p:sp>
      <p:sp>
        <p:nvSpPr>
          <p:cNvPr id="14" name="楕円 13">
            <a:extLst>
              <a:ext uri="{FF2B5EF4-FFF2-40B4-BE49-F238E27FC236}">
                <a16:creationId xmlns:a16="http://schemas.microsoft.com/office/drawing/2014/main" id="{A106E181-1946-EDF8-ED89-763195EEBFDE}"/>
              </a:ext>
            </a:extLst>
          </p:cNvPr>
          <p:cNvSpPr/>
          <p:nvPr/>
        </p:nvSpPr>
        <p:spPr>
          <a:xfrm>
            <a:off x="5021581" y="4427521"/>
            <a:ext cx="685800" cy="586095"/>
          </a:xfrm>
          <a:prstGeom prst="ellipse">
            <a:avLst/>
          </a:prstGeom>
          <a:noFill/>
          <a:ln w="158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E0E84B79-1579-1DE0-03FF-317ABDD48DFD}"/>
              </a:ext>
            </a:extLst>
          </p:cNvPr>
          <p:cNvSpPr/>
          <p:nvPr/>
        </p:nvSpPr>
        <p:spPr>
          <a:xfrm>
            <a:off x="7643912" y="5361933"/>
            <a:ext cx="685800" cy="586095"/>
          </a:xfrm>
          <a:prstGeom prst="ellipse">
            <a:avLst/>
          </a:prstGeom>
          <a:noFill/>
          <a:ln w="158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F4CEB29-455B-16F9-A95F-A20A46FE6B29}"/>
              </a:ext>
            </a:extLst>
          </p:cNvPr>
          <p:cNvSpPr txBox="1"/>
          <p:nvPr/>
        </p:nvSpPr>
        <p:spPr>
          <a:xfrm>
            <a:off x="3635756" y="6399784"/>
            <a:ext cx="4008156" cy="377417"/>
          </a:xfrm>
          <a:prstGeom prst="rect">
            <a:avLst/>
          </a:prstGeom>
          <a:noFill/>
        </p:spPr>
        <p:txBody>
          <a:bodyPr wrap="square">
            <a:spAutoFit/>
          </a:bodyPr>
          <a:lstStyle/>
          <a:p>
            <a:pPr algn="l"/>
            <a:r>
              <a:rPr lang="ja-JP" altLang="en-US">
                <a:solidFill>
                  <a:srgbClr val="0070C0"/>
                </a:solidFill>
              </a:rPr>
              <a:t>監視項目：</a:t>
            </a:r>
            <a:r>
              <a:rPr lang="en-US" altLang="ja-JP">
                <a:solidFill>
                  <a:srgbClr val="0070C0"/>
                </a:solidFill>
              </a:rPr>
              <a:t>FC1531,FC1534 CV</a:t>
            </a:r>
            <a:r>
              <a:rPr lang="ja-JP" altLang="en-US">
                <a:solidFill>
                  <a:srgbClr val="0070C0"/>
                </a:solidFill>
              </a:rPr>
              <a:t>開度</a:t>
            </a:r>
            <a:endParaRPr kumimoji="1" lang="ja-JP" altLang="en-US" dirty="0" err="1">
              <a:solidFill>
                <a:srgbClr val="0070C0"/>
              </a:solidFill>
            </a:endParaRPr>
          </a:p>
        </p:txBody>
      </p:sp>
      <p:cxnSp>
        <p:nvCxnSpPr>
          <p:cNvPr id="19" name="直線矢印コネクタ 18">
            <a:extLst>
              <a:ext uri="{FF2B5EF4-FFF2-40B4-BE49-F238E27FC236}">
                <a16:creationId xmlns:a16="http://schemas.microsoft.com/office/drawing/2014/main" id="{7B80010D-07F3-27EA-B24C-AE07E2B95400}"/>
              </a:ext>
            </a:extLst>
          </p:cNvPr>
          <p:cNvCxnSpPr>
            <a:endCxn id="14" idx="5"/>
          </p:cNvCxnSpPr>
          <p:nvPr/>
        </p:nvCxnSpPr>
        <p:spPr>
          <a:xfrm flipH="1" flipV="1">
            <a:off x="5596556" y="5013616"/>
            <a:ext cx="110825" cy="1348683"/>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6EDD55F5-2F3F-12B4-1DF9-ABE364CA35D2}"/>
              </a:ext>
            </a:extLst>
          </p:cNvPr>
          <p:cNvCxnSpPr>
            <a:cxnSpLocks/>
          </p:cNvCxnSpPr>
          <p:nvPr/>
        </p:nvCxnSpPr>
        <p:spPr>
          <a:xfrm flipV="1">
            <a:off x="5707381" y="5800304"/>
            <a:ext cx="1842529" cy="586095"/>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5ED88B40-AD82-35E9-C748-E22913788F93}"/>
              </a:ext>
            </a:extLst>
          </p:cNvPr>
          <p:cNvSpPr txBox="1"/>
          <p:nvPr/>
        </p:nvSpPr>
        <p:spPr>
          <a:xfrm>
            <a:off x="8471040" y="6091684"/>
            <a:ext cx="3720960" cy="830997"/>
          </a:xfrm>
          <a:prstGeom prst="rect">
            <a:avLst/>
          </a:prstGeom>
          <a:noFill/>
        </p:spPr>
        <p:txBody>
          <a:bodyPr wrap="square">
            <a:spAutoFit/>
          </a:bodyPr>
          <a:lstStyle/>
          <a:p>
            <a:pPr algn="l"/>
            <a:r>
              <a:rPr lang="ja-JP" altLang="en-US" sz="1600"/>
              <a:t>吸入ストレーナーや下流配管でも微量の異物確認⇒製品ラインへの流出を抑制したい</a:t>
            </a:r>
            <a:endParaRPr kumimoji="1" lang="ja-JP" altLang="en-US" sz="1600" dirty="0" err="1"/>
          </a:p>
        </p:txBody>
      </p:sp>
      <p:pic>
        <p:nvPicPr>
          <p:cNvPr id="1026" name="Picture 2">
            <a:extLst>
              <a:ext uri="{FF2B5EF4-FFF2-40B4-BE49-F238E27FC236}">
                <a16:creationId xmlns:a16="http://schemas.microsoft.com/office/drawing/2014/main" id="{6C8A85BA-92DD-B86A-ECFA-EA400E9C86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0637" y="3572820"/>
            <a:ext cx="1353411" cy="1805395"/>
          </a:xfrm>
          <a:prstGeom prst="rect">
            <a:avLst/>
          </a:prstGeom>
          <a:noFill/>
          <a:extLst>
            <a:ext uri="{909E8E84-426E-40DD-AFC4-6F175D3DCCD1}">
              <a14:hiddenFill xmlns:a14="http://schemas.microsoft.com/office/drawing/2010/main">
                <a:solidFill>
                  <a:srgbClr val="FFFFFF"/>
                </a:solidFill>
              </a14:hiddenFill>
            </a:ext>
          </a:extLst>
        </p:spPr>
      </p:pic>
      <p:cxnSp>
        <p:nvCxnSpPr>
          <p:cNvPr id="24" name="直線矢印コネクタ 23">
            <a:extLst>
              <a:ext uri="{FF2B5EF4-FFF2-40B4-BE49-F238E27FC236}">
                <a16:creationId xmlns:a16="http://schemas.microsoft.com/office/drawing/2014/main" id="{766042A9-1707-3708-5974-2586A7A79442}"/>
              </a:ext>
            </a:extLst>
          </p:cNvPr>
          <p:cNvCxnSpPr>
            <a:cxnSpLocks/>
          </p:cNvCxnSpPr>
          <p:nvPr/>
        </p:nvCxnSpPr>
        <p:spPr>
          <a:xfrm>
            <a:off x="1902164" y="4810053"/>
            <a:ext cx="2101101" cy="475433"/>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32B8D7F1-577C-C676-4AF0-370AF23ED487}"/>
              </a:ext>
            </a:extLst>
          </p:cNvPr>
          <p:cNvSpPr txBox="1"/>
          <p:nvPr/>
        </p:nvSpPr>
        <p:spPr>
          <a:xfrm>
            <a:off x="399663" y="5493186"/>
            <a:ext cx="1741873" cy="738664"/>
          </a:xfrm>
          <a:prstGeom prst="rect">
            <a:avLst/>
          </a:prstGeom>
          <a:noFill/>
        </p:spPr>
        <p:txBody>
          <a:bodyPr wrap="square">
            <a:spAutoFit/>
          </a:bodyPr>
          <a:lstStyle/>
          <a:p>
            <a:r>
              <a:rPr lang="en-US" altLang="ja-JP" sz="1400"/>
              <a:t>2026</a:t>
            </a:r>
            <a:r>
              <a:rPr lang="ja-JP" altLang="en-US" sz="1400"/>
              <a:t>年開放時</a:t>
            </a:r>
            <a:r>
              <a:rPr lang="ja-JP" altLang="ja-JP" sz="1400"/>
              <a:t>塔壁全体に黒色付着物</a:t>
            </a:r>
            <a:r>
              <a:rPr lang="ja-JP" altLang="en-US" sz="1400"/>
              <a:t>を確認</a:t>
            </a:r>
            <a:r>
              <a:rPr lang="en-US" altLang="ja-JP" sz="1400"/>
              <a:t>(</a:t>
            </a:r>
            <a:r>
              <a:rPr lang="ja-JP" altLang="en-US" sz="1400"/>
              <a:t>洗浄済み</a:t>
            </a:r>
            <a:r>
              <a:rPr lang="en-US" altLang="ja-JP" sz="1400"/>
              <a:t>)</a:t>
            </a:r>
            <a:r>
              <a:rPr lang="ja-JP" altLang="ja-JP" sz="1400"/>
              <a:t>​</a:t>
            </a:r>
            <a:endParaRPr kumimoji="1" lang="ja-JP" altLang="en-US" sz="1400" dirty="0" err="1">
              <a:solidFill>
                <a:srgbClr val="0070C0"/>
              </a:solidFill>
            </a:endParaRPr>
          </a:p>
        </p:txBody>
      </p:sp>
      <p:cxnSp>
        <p:nvCxnSpPr>
          <p:cNvPr id="28" name="直線矢印コネクタ 27">
            <a:extLst>
              <a:ext uri="{FF2B5EF4-FFF2-40B4-BE49-F238E27FC236}">
                <a16:creationId xmlns:a16="http://schemas.microsoft.com/office/drawing/2014/main" id="{D5CE0A0C-172E-B582-2D8A-D2714A61628B}"/>
              </a:ext>
            </a:extLst>
          </p:cNvPr>
          <p:cNvCxnSpPr>
            <a:cxnSpLocks/>
          </p:cNvCxnSpPr>
          <p:nvPr/>
        </p:nvCxnSpPr>
        <p:spPr>
          <a:xfrm flipH="1">
            <a:off x="5077872" y="5121281"/>
            <a:ext cx="4084529" cy="77129"/>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162388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17" sz="quarter"/>
          </p:nvPr>
        </p:nvSpPr>
        <p:spPr/>
        <p:txBody>
          <a:bodyPr/>
          <a:lstStyle/>
          <a:p/>
        </p:txBody>
      </p:sp>
      <p:sp>
        <p:nvSpPr>
          <p:cNvPr id="5" name="Rectangle 4"/>
          <p:cNvSpPr/>
          <p:nvPr/>
        </p:nvSpPr>
        <p:spPr>
          <a:xfrm>
            <a:off x="0" y="0"/>
            <a:ext cx="12192000" cy="77724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274320"/>
          <a:lstStyle/>
          <a:p>
            <a:pPr algn="ctr">
              <a:defRPr sz="2400" b="1">
                <a:solidFill>
                  <a:srgbClr val="FFFFFF"/>
                </a:solidFill>
              </a:defRPr>
            </a:pPr>
            <a:r>
              <a:t>技術評価まとめ ― 変更の妥当性と監視方法</a:t>
            </a:r>
          </a:p>
        </p:txBody>
      </p:sp>
      <p:sp>
        <p:nvSpPr>
          <p:cNvPr id="6" name="TextBox 5"/>
          <p:cNvSpPr txBox="1"/>
          <p:nvPr/>
        </p:nvSpPr>
        <p:spPr>
          <a:xfrm>
            <a:off x="365760" y="960120"/>
            <a:ext cx="6126480" cy="5486400"/>
          </a:xfrm>
          <a:prstGeom prst="rect">
            <a:avLst/>
          </a:prstGeom>
          <a:noFill/>
        </p:spPr>
        <p:txBody>
          <a:bodyPr wrap="square">
            <a:spAutoFit/>
          </a:bodyPr>
          <a:lstStyle/>
          <a:p>
            <a:pPr>
              <a:spcAft>
                <a:spcPts val="800"/>
              </a:spcAft>
              <a:defRPr sz="1600" b="1">
                <a:solidFill>
                  <a:srgbClr val="1F4E79"/>
                </a:solidFill>
              </a:defRPr>
            </a:pPr>
            <a:r>
              <a:t>評価したこと：①ポンプのキャビ余裕 ②下流CV開度で閉塞を監視できるか（実機データで照合）</a:t>
            </a:r>
          </a:p>
          <a:p>
            <a:pPr>
              <a:spcAft>
                <a:spcPts val="800"/>
              </a:spcAft>
              <a:defRPr sz="1500" b="0">
                <a:solidFill>
                  <a:srgbClr val="222222"/>
                </a:solidFill>
              </a:defRPr>
            </a:pPr>
            <a:r>
              <a:t>・キャビの余裕：通常運転は余裕大。閉塞が進み 約83%詰まる とNPSH余裕（≒117kPa相当）を失いキャビの恐れ。</a:t>
            </a:r>
          </a:p>
          <a:p>
            <a:pPr>
              <a:spcAft>
                <a:spcPts val="800"/>
              </a:spcAft>
              <a:defRPr sz="1500" b="1">
                <a:solidFill>
                  <a:srgbClr val="C00000"/>
                </a:solidFill>
              </a:defRPr>
            </a:pPr>
            <a:r>
              <a:t>・CV開度で見えるか：閉塞してもCV開度は +6〜8%（FC-1531 +8%／FC-1535 +6%）しか動かない。</a:t>
            </a:r>
          </a:p>
          <a:p>
            <a:pPr>
              <a:spcAft>
                <a:spcPts val="800"/>
              </a:spcAft>
              <a:defRPr sz="1400" b="0">
                <a:solidFill>
                  <a:srgbClr val="C00000"/>
                </a:solidFill>
              </a:defRPr>
            </a:pPr>
            <a:r>
              <a:t>　→ 通常の流量変動（±5〜10%）と同程度。流量補正すれば弱い兆候にはなるが、単独では当てにできない。</a:t>
            </a:r>
          </a:p>
          <a:p>
            <a:pPr>
              <a:spcAft>
                <a:spcPts val="800"/>
              </a:spcAft>
              <a:defRPr sz="1600" b="1">
                <a:solidFill>
                  <a:srgbClr val="2E7D32"/>
                </a:solidFill>
              </a:defRPr>
            </a:pPr>
            <a:r>
              <a:t>・結論：閉塞監視は ストレーナ前後差圧を直接見る（限界117kPaの手前で予備機切替・清掃）。CV開度は補助。</a:t>
            </a:r>
          </a:p>
          <a:p>
            <a:pPr>
              <a:spcAft>
                <a:spcPts val="800"/>
              </a:spcAft>
              <a:defRPr sz="1400" b="0">
                <a:solidFill>
                  <a:srgbClr val="222222"/>
                </a:solidFill>
              </a:defRPr>
            </a:pPr>
            <a:r>
              <a:t>・低温起動：冷えると粘度↑で差圧↑。暖機（~50℃以上）/低流量起動 で対応（冷態は40メッシュも可）。</a:t>
            </a:r>
          </a:p>
          <a:p>
            <a:pPr>
              <a:spcAft>
                <a:spcPts val="800"/>
              </a:spcAft>
              <a:defRPr sz="1300" b="0">
                <a:solidFill>
                  <a:srgbClr val="555555"/>
                </a:solidFill>
              </a:defRPr>
            </a:pPr>
            <a:r>
              <a:t>・予備品：40メッシュは予備保管。孔径62μm・ろ過面積≈100cm²（円錐型）。</a:t>
            </a:r>
          </a:p>
        </p:txBody>
      </p:sp>
      <p:graphicFrame>
        <p:nvGraphicFramePr>
          <p:cNvPr id="7" name="Chart 6"/>
          <p:cNvGraphicFramePr>
            <a:graphicFrameLocks noGrp="1"/>
          </p:cNvGraphicFramePr>
          <p:nvPr/>
        </p:nvGraphicFramePr>
        <p:xfrm>
          <a:off x="6675120" y="1280160"/>
          <a:ext cx="5212080" cy="3657600"/>
        </p:xfrm>
        <a:graphic>
          <a:graphicData uri="http://schemas.openxmlformats.org/drawingml/2006/chart">
            <c:chart xmlns:c="http://schemas.openxmlformats.org/drawingml/2006/chart" r:id="rId2"/>
          </a:graphicData>
        </a:graphic>
      </p:graphicFrame>
      <p:sp>
        <p:nvSpPr>
          <p:cNvPr id="8" name="TextBox 7"/>
          <p:cNvSpPr txBox="1"/>
          <p:nvPr/>
        </p:nvSpPr>
        <p:spPr>
          <a:xfrm>
            <a:off x="6675120" y="5029200"/>
            <a:ext cx="5212080" cy="1280160"/>
          </a:xfrm>
          <a:prstGeom prst="rect">
            <a:avLst/>
          </a:prstGeom>
          <a:noFill/>
        </p:spPr>
        <p:txBody>
          <a:bodyPr wrap="square">
            <a:spAutoFit/>
          </a:bodyPr>
          <a:lstStyle/>
          <a:p>
            <a:r>
              <a:t>差圧は閉塞末期(約83%)で急増するが、吐出圧・差圧にDCSタグは無く直読不可。CV開度は±数%で流量変動に紛れ補助のみ。→ 監視は『清掃周期＋現場パトロール』が主軸。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P-1507A/B 吸入ストレーナ変更　監視方法と清掃周期の見積り</a:t>
            </a:r>
          </a:p>
        </p:txBody>
      </p:sp>
      <p:sp>
        <p:nvSpPr>
          <p:cNvPr id="3" name="TextBox 2"/>
          <p:cNvSpPr txBox="1"/>
          <p:nvPr/>
        </p:nvSpPr>
        <p:spPr>
          <a:xfrm>
            <a:off x="457200" y="1005840"/>
            <a:ext cx="11247120" cy="5120640"/>
          </a:xfrm>
          <a:prstGeom prst="rect">
            <a:avLst/>
          </a:prstGeom>
          <a:noFill/>
        </p:spPr>
        <p:txBody>
          <a:bodyPr wrap="square">
            <a:spAutoFit/>
          </a:bodyPr>
          <a:lstStyle/>
          <a:p>
            <a:r>
              <a:rPr b="1" sz="1500"/>
              <a:t>監視の実態（制約）</a:t>
            </a:r>
          </a:p>
          <a:p>
            <a:r>
              <a:rPr b="0" sz="1400"/>
              <a:t>・吐出圧／差圧にDCSタグは無く、差圧の直読は不可。読めるのはCV開度トレンド(DCS)と現場パトロール(1日1回・吐出圧/予備機サクションPG)のみ。</a:t>
            </a:r>
          </a:p>
          <a:p>
            <a:r>
              <a:rPr b="1" sz="1400"/>
              <a:t/>
            </a:r>
          </a:p>
          <a:p>
            <a:r>
              <a:rPr b="1" sz="1500"/>
              <a:t>運用の落としどころ（清掃周期を主軸に管理）</a:t>
            </a:r>
          </a:p>
          <a:p>
            <a:r>
              <a:rPr b="0" sz="1400"/>
              <a:t>① 起動時に差圧の立ち方（どの期間でどれくらい上がるか）を現場で実測する。</a:t>
            </a:r>
          </a:p>
          <a:p>
            <a:r>
              <a:rPr b="0" sz="1400"/>
              <a:t>② CV開度トレンド＋現場パトロールで進行を監視（CV開度は“弱い兆候”として補助）。</a:t>
            </a:r>
          </a:p>
          <a:p>
            <a:r>
              <a:rPr b="0" sz="1400"/>
              <a:t>③ 清掃周期は操油課250メッシュの差圧上昇実績をろ過面積比で当方へ換算して定量見積り。</a:t>
            </a:r>
          </a:p>
          <a:p>
            <a:r>
              <a:rPr b="0" sz="1400"/>
              <a:t>④ 初期は安全側で『推定周期の1/2』で開放点検し、実績で延伸・補正する。</a:t>
            </a:r>
          </a:p>
          <a:p>
            <a:r>
              <a:rPr b="1" sz="1400"/>
              <a:t/>
            </a:r>
          </a:p>
          <a:p>
            <a:r>
              <a:rPr b="1" sz="1500"/>
              <a:t>清掃周期の見積り式</a:t>
            </a:r>
          </a:p>
          <a:p>
            <a:r>
              <a:rPr b="0" sz="1400"/>
              <a:t>・推定清掃周期 ＝ 当方の許容差圧上昇 ÷ 当方の差圧上昇速度</a:t>
            </a:r>
          </a:p>
          <a:p>
            <a:r>
              <a:rPr b="0" sz="1400"/>
              <a:t>・当方の差圧上昇速度 ＝ 操油課の差圧上昇速度 ×（操油課ろ過面積 ÷ 当方ろ過面積101cm²）</a:t>
            </a:r>
          </a:p>
          <a:p>
            <a:r>
              <a:rPr b="0" sz="1400"/>
              <a:t>・当方の許容差圧上昇 ＝ キャビ限界117 − クリーン3.6 ≒ 113 kPa</a:t>
            </a:r>
          </a:p>
          <a:p>
            <a:r>
              <a:rPr b="0" sz="1400"/>
              <a:t>・操油課へ照会中（★回答待ち）：250メッシュの差圧の上がり方・期間、ろ過面積。回答を入力すれば当方周期が定量的に出る（Excel⑤）。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P-1507A/B DEG塔製品ポンプ　機器情報整理</a:t>
            </a:r>
          </a:p>
        </p:txBody>
      </p:sp>
      <p:sp>
        <p:nvSpPr>
          <p:cNvPr id="3" name="TextBox 2"/>
          <p:cNvSpPr txBox="1"/>
          <p:nvPr/>
        </p:nvSpPr>
        <p:spPr>
          <a:xfrm>
            <a:off x="457200" y="1005840"/>
            <a:ext cx="5760720" cy="5120640"/>
          </a:xfrm>
          <a:prstGeom prst="rect">
            <a:avLst/>
          </a:prstGeom>
          <a:noFill/>
        </p:spPr>
        <p:txBody>
          <a:bodyPr wrap="square">
            <a:spAutoFit/>
          </a:bodyPr>
          <a:lstStyle/>
          <a:p>
            <a:r>
              <a:rPr b="1" sz="1500"/>
              <a:t>機器仕様</a:t>
            </a:r>
          </a:p>
          <a:p>
            <a:r>
              <a:rPr b="1" sz="1400"/>
              <a:t>名称</a:t>
            </a:r>
            <a:r>
              <a:rPr sz="1400"/>
              <a:t>：P-1507A/B DEG塔製品(ランダウン)ポンプ</a:t>
            </a:r>
          </a:p>
          <a:p>
            <a:r>
              <a:rPr b="1" sz="1400"/>
              <a:t>形式</a:t>
            </a:r>
            <a:r>
              <a:rPr sz="1400"/>
              <a:t>：横型遠心ポンプ（A=運転／B=予備）</a:t>
            </a:r>
          </a:p>
          <a:p>
            <a:r>
              <a:rPr b="1" sz="1400"/>
              <a:t>メーカー・図番</a:t>
            </a:r>
            <a:r>
              <a:rPr sz="1400"/>
              <a:t>：三菱重工業　図番 3444 J702-00046</a:t>
            </a:r>
          </a:p>
          <a:p>
            <a:r>
              <a:rPr b="1" sz="1400"/>
              <a:t>プロジェクト</a:t>
            </a:r>
            <a:r>
              <a:rPr sz="1400"/>
              <a:t>：KGC 531430</a:t>
            </a:r>
          </a:p>
          <a:p>
            <a:r>
              <a:rPr b="1" sz="1400"/>
              <a:t>材質</a:t>
            </a:r>
            <a:r>
              <a:rPr sz="1400"/>
              <a:t>：ケーシング/インペラ SCS13</a:t>
            </a:r>
          </a:p>
          <a:p>
            <a:r>
              <a:rPr b="1" sz="1400"/>
              <a:t/>
            </a:r>
          </a:p>
          <a:p>
            <a:r>
              <a:rPr b="1" sz="1500"/>
              <a:t>運転条件</a:t>
            </a:r>
          </a:p>
          <a:p>
            <a:r>
              <a:rPr b="1" sz="1400"/>
              <a:t>送液</a:t>
            </a:r>
            <a:r>
              <a:rPr sz="1400"/>
              <a:t>：DEG（ジエチレングリコール）</a:t>
            </a:r>
          </a:p>
          <a:p>
            <a:r>
              <a:rPr b="1" sz="1400"/>
              <a:t>ポンプ温度</a:t>
            </a:r>
            <a:r>
              <a:rPr sz="1400"/>
              <a:t>：158.8 ℃（実績 約150〜160℃）</a:t>
            </a:r>
          </a:p>
          <a:p>
            <a:r>
              <a:rPr b="1" sz="1400"/>
              <a:t>規定容量</a:t>
            </a:r>
            <a:r>
              <a:rPr sz="1400"/>
              <a:t>：9.8 m³/h（運転は約2.3〜2.7 m³/h＝部分流量）</a:t>
            </a:r>
          </a:p>
          <a:p>
            <a:r>
              <a:rPr b="1" sz="1400"/>
              <a:t>揚程</a:t>
            </a:r>
            <a:r>
              <a:rPr sz="1400"/>
              <a:t>：約61 m（吐出圧 約6.17 kg/cm²G）</a:t>
            </a:r>
          </a:p>
        </p:txBody>
      </p:sp>
      <p:sp>
        <p:nvSpPr>
          <p:cNvPr id="4" name="TextBox 3"/>
          <p:cNvSpPr txBox="1"/>
          <p:nvPr/>
        </p:nvSpPr>
        <p:spPr>
          <a:xfrm>
            <a:off x="6400800" y="1005840"/>
            <a:ext cx="5394960" cy="5120640"/>
          </a:xfrm>
          <a:prstGeom prst="rect">
            <a:avLst/>
          </a:prstGeom>
          <a:noFill/>
        </p:spPr>
        <p:txBody>
          <a:bodyPr wrap="square">
            <a:spAutoFit/>
          </a:bodyPr>
          <a:lstStyle/>
          <a:p>
            <a:r>
              <a:rPr b="1" sz="1500"/>
              <a:t>DEG物性（Aspen＠158.8℃）</a:t>
            </a:r>
          </a:p>
          <a:p>
            <a:r>
              <a:rPr b="1" sz="1400"/>
              <a:t>密度 ρ</a:t>
            </a:r>
            <a:r>
              <a:rPr sz="1400"/>
              <a:t>：約1010 kg/m³（SG≈1.01）</a:t>
            </a:r>
          </a:p>
          <a:p>
            <a:r>
              <a:rPr b="1" sz="1400"/>
              <a:t>粘度 μ</a:t>
            </a:r>
            <a:r>
              <a:rPr sz="1400"/>
              <a:t>：約1.16 cP</a:t>
            </a:r>
          </a:p>
          <a:p>
            <a:r>
              <a:rPr b="1" sz="1400"/>
              <a:t>蒸気圧 Pvp</a:t>
            </a:r>
            <a:r>
              <a:rPr sz="1400"/>
              <a:t>：約5.5 kPa</a:t>
            </a:r>
          </a:p>
          <a:p>
            <a:r>
              <a:rPr b="1" sz="1400"/>
              <a:t/>
            </a:r>
          </a:p>
          <a:p>
            <a:r>
              <a:rPr b="1" sz="1500"/>
              <a:t>NPSH／キャビ余裕</a:t>
            </a:r>
          </a:p>
          <a:p>
            <a:r>
              <a:rPr b="1" sz="1400"/>
              <a:t>NPSHa</a:t>
            </a:r>
            <a:r>
              <a:rPr sz="1400"/>
              <a:t>：14.0 m ／ NPSHr 2.20 m（荏原 RM17156-13）</a:t>
            </a:r>
          </a:p>
          <a:p>
            <a:r>
              <a:rPr b="1" sz="1400"/>
              <a:t>余裕</a:t>
            </a:r>
            <a:r>
              <a:rPr sz="1400"/>
              <a:t>：11.8 m ≒ 117 kPa（＝許容差圧上昇）</a:t>
            </a:r>
          </a:p>
          <a:p>
            <a:r>
              <a:rPr b="1" sz="1400"/>
              <a:t/>
            </a:r>
          </a:p>
          <a:p>
            <a:r>
              <a:rPr b="1" sz="1500"/>
              <a:t>吸入ストレーナ（変更対象）</a:t>
            </a:r>
          </a:p>
          <a:p>
            <a:r>
              <a:rPr b="1" sz="1400"/>
              <a:t>形式</a:t>
            </a:r>
            <a:r>
              <a:rPr sz="1400"/>
              <a:t>：YAC EWPCL-150S 円錐型 2B</a:t>
            </a:r>
          </a:p>
          <a:p>
            <a:r>
              <a:rPr b="1" sz="1400"/>
              <a:t>ろ過面積</a:t>
            </a:r>
            <a:r>
              <a:rPr sz="1400"/>
              <a:t>：≒101 cm²（図面寸法より円錐側面積）</a:t>
            </a:r>
          </a:p>
          <a:p>
            <a:r>
              <a:rPr b="1" sz="1400"/>
              <a:t>メッシュ</a:t>
            </a:r>
            <a:r>
              <a:rPr sz="1400"/>
              <a:t>：40→250（目開き62μm）</a:t>
            </a:r>
          </a:p>
          <a:p>
            <a:r>
              <a:rPr b="1" sz="1400"/>
              <a:t/>
            </a:r>
          </a:p>
          <a:p>
            <a:r>
              <a:rPr b="1" sz="1500"/>
              <a:t>下流制御弁</a:t>
            </a:r>
          </a:p>
          <a:p>
            <a:r>
              <a:rPr b="1" sz="1400"/>
              <a:t>FC-1531</a:t>
            </a:r>
            <a:r>
              <a:rPr sz="1400"/>
              <a:t>：Azbil AGVB（Cv定格21）</a:t>
            </a:r>
          </a:p>
          <a:p>
            <a:r>
              <a:rPr b="1" sz="1400"/>
              <a:t>FC-1535</a:t>
            </a:r>
            <a:r>
              <a:rPr sz="1400"/>
              <a:t>：Azbil AGVB（Cv4.0）</a:t>
            </a:r>
          </a:p>
        </p:txBody>
      </p:sp>
      <p:sp>
        <p:nvSpPr>
          <p:cNvPr id="5" name="TextBox 4"/>
          <p:cNvSpPr txBox="1"/>
          <p:nvPr/>
        </p:nvSpPr>
        <p:spPr>
          <a:xfrm>
            <a:off x="457200" y="6199632"/>
            <a:ext cx="11247120" cy="411480"/>
          </a:xfrm>
          <a:prstGeom prst="rect">
            <a:avLst/>
          </a:prstGeom>
          <a:noFill/>
        </p:spPr>
        <p:txBody>
          <a:bodyPr wrap="square">
            <a:spAutoFit/>
          </a:bodyPr>
          <a:lstStyle/>
          <a:p>
            <a:r>
              <a:rPr sz="1000" i="1"/>
              <a:t>出典：三菱重工 ポンプデータシート(図番3444 J702-00046)、荏原性能試験RM17156-13、Aspen物性、ストレーナ/ポンプ図面</a:t>
            </a:r>
          </a:p>
        </p:txBody>
      </p:sp>
    </p:spTree>
  </p:cSld>
  <p:clrMapOvr>
    <a:masterClrMapping/>
  </p:clrMapOvr>
</p:sld>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jp_rev.potx" id="{8A0A82B0-7617-4D52-9715-0CA65AFC9068}" vid="{65F74287-1116-4394-A525-ED591E028B6D}"/>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jp_rev.potx" id="{8A0A82B0-7617-4D52-9715-0CA65AFC9068}" vid="{5CBF57EB-AE1A-4A30-A251-21905150F8B6}"/>
    </a:ext>
  </a:extLst>
</a:theme>
</file>

<file path=ppt/theme/theme3.xml><?xml version="1.0" encoding="utf-8"?>
<a:theme xmlns:a="http://schemas.openxmlformats.org/drawingml/2006/main" name="3_Confidential_Sub template_Green and Cool gray">
  <a:themeElements>
    <a:clrScheme name="green and cool gray">
      <a:dk1>
        <a:srgbClr val="000000"/>
      </a:dk1>
      <a:lt1>
        <a:srgbClr val="FFFFFF"/>
      </a:lt1>
      <a:dk2>
        <a:srgbClr val="D6E0E5"/>
      </a:dk2>
      <a:lt2>
        <a:srgbClr val="EBEFF2"/>
      </a:lt2>
      <a:accent1>
        <a:srgbClr val="00A33E"/>
      </a:accent1>
      <a:accent2>
        <a:srgbClr val="00772A"/>
      </a:accent2>
      <a:accent3>
        <a:srgbClr val="8A9093"/>
      </a:accent3>
      <a:accent4>
        <a:srgbClr val="B3BBBF"/>
      </a:accent4>
      <a:accent5>
        <a:srgbClr val="D7E0E5"/>
      </a:accent5>
      <a:accent6>
        <a:srgbClr val="66C88B"/>
      </a:accent6>
      <a:hlink>
        <a:srgbClr val="00A33E"/>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jp_rev.potx" id="{8A0A82B0-7617-4D52-9715-0CA65AFC9068}" vid="{7E0EC220-9CDA-4B0D-A849-74E331EF41CD}"/>
    </a:ext>
  </a:extLst>
</a:theme>
</file>

<file path=ppt/theme/theme4.xml><?xml version="1.0" encoding="utf-8"?>
<a:theme xmlns:a="http://schemas.openxmlformats.org/drawingml/2006/main" name="4_Sub template_Green and Cool gray">
  <a:themeElements>
    <a:clrScheme name="green and cool gray">
      <a:dk1>
        <a:srgbClr val="000000"/>
      </a:dk1>
      <a:lt1>
        <a:srgbClr val="FFFFFF"/>
      </a:lt1>
      <a:dk2>
        <a:srgbClr val="D6E0E5"/>
      </a:dk2>
      <a:lt2>
        <a:srgbClr val="EBEFF2"/>
      </a:lt2>
      <a:accent1>
        <a:srgbClr val="00A33E"/>
      </a:accent1>
      <a:accent2>
        <a:srgbClr val="00772A"/>
      </a:accent2>
      <a:accent3>
        <a:srgbClr val="8A9093"/>
      </a:accent3>
      <a:accent4>
        <a:srgbClr val="B3BBBF"/>
      </a:accent4>
      <a:accent5>
        <a:srgbClr val="D7E0E5"/>
      </a:accent5>
      <a:accent6>
        <a:srgbClr val="66C88B"/>
      </a:accent6>
      <a:hlink>
        <a:srgbClr val="00A33E"/>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MCG_jp_rev.potx" id="{8A0A82B0-7617-4D52-9715-0CA65AFC9068}" vid="{9184EDBB-92CB-467A-9CE7-867182BBDEAB}"/>
    </a:ext>
  </a:extLst>
</a:theme>
</file>

<file path=ppt/theme/theme5.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MCG_jp_rev20240709</Template>
  <TotalTime>188</TotalTime>
  <Words>181</Words>
  <Application>Microsoft Office PowerPoint</Application>
  <PresentationFormat>ワイド画面</PresentationFormat>
  <Paragraphs>14</Paragraphs>
  <Slides>1</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4</vt:i4>
      </vt:variant>
      <vt:variant>
        <vt:lpstr>スライド タイトル</vt:lpstr>
      </vt:variant>
      <vt:variant>
        <vt:i4>1</vt:i4>
      </vt:variant>
    </vt:vector>
  </HeadingPairs>
  <TitlesOfParts>
    <vt:vector size="7" baseType="lpstr">
      <vt:lpstr>游ゴシック</vt:lpstr>
      <vt:lpstr>Arial</vt:lpstr>
      <vt:lpstr>1_Confidential_Main template_Blue and Cool gray</vt:lpstr>
      <vt:lpstr>2_Main template_Blue and Cool gray</vt:lpstr>
      <vt:lpstr>3_Confidential_Sub template_Green and Cool gray</vt:lpstr>
      <vt:lpstr>4_Sub template_Green and Cool gray</vt:lpstr>
      <vt:lpstr>P-1507A/B吸入ストレーナー メッシュサイズ変更(40→250メッシュ)</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hirao kazuaki/0465811/平尾　一陽</dc:creator>
  <cp:keywords/>
  <dc:description/>
  <cp:lastModifiedBy>hirao kazuaki/0465811/平尾　一陽</cp:lastModifiedBy>
  <cp:revision>1</cp:revision>
  <dcterms:created xsi:type="dcterms:W3CDTF">2026-06-17T04:10:11Z</dcterms:created>
  <dcterms:modified xsi:type="dcterms:W3CDTF">2026-06-17T07:18:15Z</dcterms:modified>
  <cp:category/>
</cp:coreProperties>
</file>