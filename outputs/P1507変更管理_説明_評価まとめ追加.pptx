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0" r:id="rId1"/>
    <p:sldMasterId id="2147483902" r:id="rId2"/>
    <p:sldMasterId id="2147483892" r:id="rId3"/>
    <p:sldMasterId id="2147483917" r:id="rId4"/>
  </p:sldMasterIdLst>
  <p:notesMasterIdLst>
    <p:notesMasterId r:id="rId6"/>
  </p:notesMasterIdLst>
  <p:handoutMasterIdLst>
    <p:handoutMasterId r:id="rId7"/>
  </p:handoutMasterIdLst>
  <p:sldIdLst>
    <p:sldId id="278" r:id="rId5"/>
    <p:sldId id="279" r:id="rId12"/>
    <p:sldId id="280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323232"/>
    <a:srgbClr val="FFFFFF"/>
    <a:srgbClr val="FDF0CC"/>
    <a:srgbClr val="CCEDD8"/>
    <a:srgbClr val="ECF1F4"/>
    <a:srgbClr val="333333"/>
    <a:srgbClr val="EFF3F4"/>
    <a:srgbClr val="EFF4F5"/>
    <a:srgbClr val="EEF3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558"/>
  </p:normalViewPr>
  <p:slideViewPr>
    <p:cSldViewPr snapToGrid="0">
      <p:cViewPr>
        <p:scale>
          <a:sx n="50" d="100"/>
          <a:sy n="50" d="100"/>
        </p:scale>
        <p:origin x="396" y="7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5320" y="15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/>
            </a:pPr>
            <a:r>
              <a:t>閉塞率 → ストレーナ差圧（約83%で余裕喪失）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ストレーナ差圧[kPa]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  <c:pt idx="4">
                  <c:v>80</c:v>
                </c:pt>
                <c:pt idx="5">
                  <c:v>83</c:v>
                </c:pt>
                <c:pt idx="6">
                  <c:v>85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3.6</c:v>
                </c:pt>
                <c:pt idx="1">
                  <c:v>7.3</c:v>
                </c:pt>
                <c:pt idx="2">
                  <c:v>14.2</c:v>
                </c:pt>
                <c:pt idx="3">
                  <c:v>39.6</c:v>
                </c:pt>
                <c:pt idx="4">
                  <c:v>89</c:v>
                </c:pt>
                <c:pt idx="5">
                  <c:v>123</c:v>
                </c:pt>
                <c:pt idx="6">
                  <c:v>158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NPSH余力(限界117kPa)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  <c:pt idx="4">
                  <c:v>80</c:v>
                </c:pt>
                <c:pt idx="5">
                  <c:v>83</c:v>
                </c:pt>
                <c:pt idx="6">
                  <c:v>85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117</c:v>
                </c:pt>
                <c:pt idx="1">
                  <c:v>117</c:v>
                </c:pt>
                <c:pt idx="2">
                  <c:v>117</c:v>
                </c:pt>
                <c:pt idx="3">
                  <c:v>117</c:v>
                </c:pt>
                <c:pt idx="4">
                  <c:v>117</c:v>
                </c:pt>
                <c:pt idx="5">
                  <c:v>117</c:v>
                </c:pt>
                <c:pt idx="6">
                  <c:v>117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閉塞率 [%]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0.0"/>
          <c:min val="0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差圧 [kPa]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t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62707A5F-A7D6-C641-8208-3E6DFDB2F4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0554B22-9586-484A-A766-0C443511469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2A3B7-46B2-E94A-9EF8-D8D874E780F7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85D71E-D7E7-1E4D-A100-20172004F5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1F7FD02-B9AC-5040-9426-86C1B469DF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C1043-B07B-A34C-A6AD-E266C03B38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209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2F1F98-6922-D549-90B4-4FEE2DCA453F}" type="datetimeFigureOut">
              <a:rPr kumimoji="1" lang="ja-JP" altLang="en-US" smtClean="0"/>
              <a:t>2026/6/17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B8F7-F11D-7247-854D-760B01224C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38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6.png"/><Relationship Id="rId4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7.png"/><Relationship Id="rId4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 dirty="0"/>
              <a:t> </a:t>
            </a:r>
            <a:r>
              <a:rPr kumimoji="1" lang="ja-JP" altLang="en-US"/>
              <a:t>タイトル</a:t>
            </a:r>
            <a:br>
              <a:rPr kumimoji="1" lang="en-US" altLang="ja-JP" dirty="0"/>
            </a:br>
            <a:r>
              <a:rPr kumimoji="1" lang="ja-JP" altLang="en-US"/>
              <a:t>游ゴシック</a:t>
            </a:r>
            <a:r>
              <a:rPr kumimoji="1" lang="en-US" altLang="ja-JP" dirty="0"/>
              <a:t> 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D317733-1BDA-7840-87EC-1AB6D30D91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572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 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30E25D7-0B34-F677-C09E-4185823DAB8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0653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FBA75B-73F9-C2BD-82A5-BB1CC51D09F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93137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A04B06F-2D60-B985-8CB3-2D483601C4E1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1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5995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 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FE3DE-4073-143D-7B94-825F75F4A51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8442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55855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144AC8A-33B5-1A05-F51D-90EC0A00A9FC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51920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D2AD1D-2D74-0BB5-DAB1-9346C04FBA6F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3696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E43A41-1D75-BD23-DC7E-612BD213B64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460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0FAC23-4C92-4DE0-F083-427560DDC99A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0526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527DCC5-4C04-E99F-2F99-C0F7F6AD0B94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65117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AAEDEE3-8A5C-AB38-D1A5-E130459EE35E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473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51AE076-D993-65D0-E8B8-91BD78009CDB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0816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533DDFF-0A76-1642-661D-FC398C3F2AD5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8077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14B040E-3965-1B9C-AB97-144C8B641E19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729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10925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プレゼンテーション</a:t>
            </a:r>
            <a:r>
              <a:rPr kumimoji="1" lang="en-US" altLang="ja-JP" dirty="0"/>
              <a:t> </a:t>
            </a:r>
            <a:r>
              <a:rPr kumimoji="1" lang="ja-JP" altLang="en-US"/>
              <a:t>タイトル</a:t>
            </a:r>
            <a:br>
              <a:rPr kumimoji="1" lang="en-US" altLang="ja-JP" dirty="0"/>
            </a:br>
            <a:r>
              <a:rPr kumimoji="1" lang="ja-JP" altLang="en-US"/>
              <a:t>游ゴシック</a:t>
            </a:r>
            <a:r>
              <a:rPr kumimoji="1" lang="en-US" altLang="ja-JP" dirty="0"/>
              <a:t> 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10925374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10925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3" name="図 2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64AB173A-EA3B-7645-9D0D-8E3868B405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4842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section 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A1BC9BC-7E85-1F07-EBFA-39A9BB38A2B7}"/>
              </a:ext>
            </a:extLst>
          </p:cNvPr>
          <p:cNvSpPr/>
          <p:nvPr userDrawn="1"/>
        </p:nvSpPr>
        <p:spPr>
          <a:xfrm>
            <a:off x="119063" y="728663"/>
            <a:ext cx="11953875" cy="6012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10925374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10925374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 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9FEB064-9E10-7E77-2F7C-DF29C7A3F8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0208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図 2" descr="アイコン&#10;&#10;低い精度で自動的に生成された説明">
            <a:extLst>
              <a:ext uri="{FF2B5EF4-FFF2-40B4-BE49-F238E27FC236}">
                <a16:creationId xmlns:a16="http://schemas.microsoft.com/office/drawing/2014/main" id="{CE14A7BB-2994-99E1-3721-81C07CB69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7298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8145FA22-8B15-8165-6374-D653E8B173C9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9" name="図 8" descr="図形, 円&#10;&#10;自動的に生成された説明">
            <a:extLst>
              <a:ext uri="{FF2B5EF4-FFF2-40B4-BE49-F238E27FC236}">
                <a16:creationId xmlns:a16="http://schemas.microsoft.com/office/drawing/2014/main" id="{85967991-37E0-5319-6989-F2B24BB19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A86725F-A0D9-D467-03BC-7BD39E7BE0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4715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0C2DCC8-5345-2D48-AE06-2CFCAED3F5BB}"/>
              </a:ext>
            </a:extLst>
          </p:cNvPr>
          <p:cNvSpPr/>
          <p:nvPr userDrawn="1"/>
        </p:nvSpPr>
        <p:spPr>
          <a:xfrm>
            <a:off x="1" y="0"/>
            <a:ext cx="9390184" cy="6858000"/>
          </a:xfrm>
          <a:prstGeom prst="rect">
            <a:avLst/>
          </a:prstGeom>
          <a:solidFill>
            <a:srgbClr val="EC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 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BAAA99CE-7539-35DC-129B-3103813D27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5F45C960-2865-9B70-11B9-987BD91727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8457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Blue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低い精度で自動的に生成された説明">
            <a:extLst>
              <a:ext uri="{FF2B5EF4-FFF2-40B4-BE49-F238E27FC236}">
                <a16:creationId xmlns:a16="http://schemas.microsoft.com/office/drawing/2014/main" id="{F458B451-556C-0A77-5C7B-A5094204D8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9690" y="4071257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22166060-8B4F-1920-1513-4363D0A7B10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2332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8" name="図 7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A9C384B3-0095-28B9-FF8B-EEA7915A51A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D694D317-7B15-CC02-568D-38931AF913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9616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6667703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7" y="2867723"/>
            <a:ext cx="6667702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 descr="図形, 円&#10;&#10;自動的に生成された説明">
            <a:extLst>
              <a:ext uri="{FF2B5EF4-FFF2-40B4-BE49-F238E27FC236}">
                <a16:creationId xmlns:a16="http://schemas.microsoft.com/office/drawing/2014/main" id="{0B353F5B-4C3E-D949-FFA1-11F959F66C2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5" name="図 4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31474FF-EACA-45E7-2043-CE82C24343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930034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6037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DDF27D8A-CF93-1DE1-A1E0-579A53D5F3D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7" name="図 6" descr="図形, 円&#10;&#10;自動的に生成された説明">
            <a:extLst>
              <a:ext uri="{FF2B5EF4-FFF2-40B4-BE49-F238E27FC236}">
                <a16:creationId xmlns:a16="http://schemas.microsoft.com/office/drawing/2014/main" id="{2C0B660F-651E-2CBA-22A2-45839C456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4" name="図 3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9035B74-094B-209B-142E-2F4575B9D4E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72379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blue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0ECA10C-38C8-BAA4-70D5-31A2424404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図形, 円&#10;&#10;自動的に生成された説明">
            <a:extLst>
              <a:ext uri="{FF2B5EF4-FFF2-40B4-BE49-F238E27FC236}">
                <a16:creationId xmlns:a16="http://schemas.microsoft.com/office/drawing/2014/main" id="{C8AE480A-D33F-F3D0-EB6D-229546ABF6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E1C7F703-B8C7-70F6-B82F-D0F3E51C58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0164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FB637127-8D27-2A9A-ED77-8C55395E8C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6" name="図 5" descr="ランプ, 光 が含まれている画像&#10;&#10;自動的に生成された説明">
            <a:extLst>
              <a:ext uri="{FF2B5EF4-FFF2-40B4-BE49-F238E27FC236}">
                <a16:creationId xmlns:a16="http://schemas.microsoft.com/office/drawing/2014/main" id="{7FE87EA2-0A02-84F3-CEDE-36468E0242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000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FA01F46E-13A7-9E58-7675-153447B1BC5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9338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green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3AFD4A4-F749-31F6-0CF6-C2D7E621B4C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 descr="図形, 円&#10;&#10;自動的に生成された説明">
            <a:extLst>
              <a:ext uri="{FF2B5EF4-FFF2-40B4-BE49-F238E27FC236}">
                <a16:creationId xmlns:a16="http://schemas.microsoft.com/office/drawing/2014/main" id="{12A89BD8-D3A6-7B79-431B-CE770CB21B2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4999" y="0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7AEFF0B8-9A84-F80B-92CD-AD1344C6E7E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135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C0EC2D82-930D-41B6-187D-C2F274A8DD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5" name="タイトル 66"/>
          <p:cNvSpPr>
            <a:spLocks noGrp="1"/>
          </p:cNvSpPr>
          <p:nvPr>
            <p:ph type="title" hasCustomPrompt="1"/>
          </p:nvPr>
        </p:nvSpPr>
        <p:spPr>
          <a:xfrm>
            <a:off x="750626" y="2520666"/>
            <a:ext cx="6361374" cy="184204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>
              <a:lnSpc>
                <a:spcPct val="95000"/>
              </a:lnSpc>
              <a:defRPr sz="4200" b="1" spc="-100" baseline="0">
                <a:latin typeface="+mj-lt"/>
                <a:ea typeface="+mj-ea"/>
              </a:defRPr>
            </a:lvl1pPr>
          </a:lstStyle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br>
              <a:rPr kumimoji="1" lang="en-US" altLang="ja-JP" dirty="0"/>
            </a:br>
            <a:r>
              <a:rPr kumimoji="1" lang="ja-JP" altLang="en-US"/>
              <a:t>游ゴシック </a:t>
            </a:r>
            <a:r>
              <a:rPr kumimoji="1" lang="en-US" altLang="ja-JP" dirty="0"/>
              <a:t>Bold 42pt </a:t>
            </a:r>
            <a:br>
              <a:rPr kumimoji="1" lang="en-US" altLang="ja-JP" dirty="0"/>
            </a:br>
            <a:r>
              <a:rPr kumimoji="1" lang="ja-JP" altLang="en-US"/>
              <a:t>行間</a:t>
            </a:r>
            <a:r>
              <a:rPr kumimoji="1" lang="en-US" altLang="ja-JP" dirty="0"/>
              <a:t>0.95</a:t>
            </a:r>
            <a:endParaRPr kumimoji="1" lang="ja-JP" altLang="en-US" dirty="0"/>
          </a:p>
        </p:txBody>
      </p:sp>
      <p:sp>
        <p:nvSpPr>
          <p:cNvPr id="16" name="テキスト プレースホルダー 28"/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704321"/>
            <a:ext cx="6361374" cy="859900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 / </a:t>
            </a:r>
            <a:r>
              <a:rPr kumimoji="1" lang="ja-JP" altLang="en-US"/>
              <a:t>行間</a:t>
            </a:r>
            <a:r>
              <a:rPr kumimoji="1" lang="en-US" altLang="ja-JP" dirty="0"/>
              <a:t>1</a:t>
            </a:r>
            <a:br>
              <a:rPr kumimoji="1" lang="en-US" altLang="ja-JP" dirty="0"/>
            </a:br>
            <a:r>
              <a:rPr kumimoji="1" lang="ja-JP" altLang="en-US"/>
              <a:t>日付　　＊社外向け資料には、サブタイトル内に自社名を必ず記入してください。</a:t>
            </a:r>
            <a:endParaRPr kumimoji="1" lang="en-US" altLang="ja-JP" dirty="0"/>
          </a:p>
        </p:txBody>
      </p:sp>
      <p:sp>
        <p:nvSpPr>
          <p:cNvPr id="14" name="テキスト プレースホルダー 4"/>
          <p:cNvSpPr>
            <a:spLocks noGrp="1"/>
          </p:cNvSpPr>
          <p:nvPr>
            <p:ph type="body" sz="quarter" idx="17" hasCustomPrompt="1"/>
          </p:nvPr>
        </p:nvSpPr>
        <p:spPr>
          <a:xfrm>
            <a:off x="750627" y="1653463"/>
            <a:ext cx="6361373" cy="369332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spcBef>
                <a:spcPts val="0"/>
              </a:spcBef>
              <a:buNone/>
              <a:defRPr sz="2400" b="0" spc="-30"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24pt</a:t>
            </a:r>
            <a:endParaRPr kumimoji="1" lang="ja-JP" altLang="en-US" dirty="0"/>
          </a:p>
        </p:txBody>
      </p:sp>
      <p:pic>
        <p:nvPicPr>
          <p:cNvPr id="6" name="図 5" descr="ランプ, ポール, 座る, 男 が含まれている画像&#10;&#10;自動的に生成された説明">
            <a:extLst>
              <a:ext uri="{FF2B5EF4-FFF2-40B4-BE49-F238E27FC236}">
                <a16:creationId xmlns:a16="http://schemas.microsoft.com/office/drawing/2014/main" id="{69B991B3-A4EE-4E2F-A072-61D5B5DFE92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254532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889672A9-3F3D-4BBC-648C-70C5A75DED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3980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hoto_yellow_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9097306-CA26-F0EE-D450-5D81EE9CC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56" b="56"/>
          <a:stretch/>
        </p:blipFill>
        <p:spPr>
          <a:xfrm>
            <a:off x="9382125" y="0"/>
            <a:ext cx="2809875" cy="6858000"/>
          </a:xfrm>
          <a:prstGeom prst="rect">
            <a:avLst/>
          </a:prstGeom>
        </p:spPr>
      </p:pic>
      <p:sp>
        <p:nvSpPr>
          <p:cNvPr id="16" name="テキスト プレースホルダー 28">
            <a:extLst>
              <a:ext uri="{FF2B5EF4-FFF2-40B4-BE49-F238E27FC236}">
                <a16:creationId xmlns:a16="http://schemas.microsoft.com/office/drawing/2014/main" id="{AA5ACE5D-BCC4-7FAF-258F-580CB021B5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626" y="4235913"/>
            <a:ext cx="7119051" cy="276999"/>
          </a:xfrm>
          <a:prstGeom prst="rect">
            <a:avLst/>
          </a:prstGeom>
          <a:noFill/>
        </p:spPr>
        <p:txBody>
          <a:bodyPr wrap="square" lIns="0" tIns="0" rIns="0" bIns="0" anchor="t" anchorCtr="0">
            <a:noAutofit/>
          </a:bodyPr>
          <a:lstStyle>
            <a:lvl1pPr marL="0" indent="0" defTabSz="158400">
              <a:lnSpc>
                <a:spcPct val="100000"/>
              </a:lnSpc>
              <a:spcBef>
                <a:spcPts val="500"/>
              </a:spcBef>
              <a:buNone/>
              <a:defRPr sz="1800" b="0" spc="-30" baseline="0">
                <a:latin typeface="+mj-lt"/>
                <a:ea typeface="+mj-ea"/>
              </a:defRPr>
            </a:lvl1pPr>
            <a:lvl2pPr marL="0" indent="0" defTabSz="158400">
              <a:buNone/>
              <a:defRPr sz="1400" b="1"/>
            </a:lvl2pPr>
            <a:lvl3pPr marL="0" indent="0" defTabSz="158400">
              <a:buNone/>
              <a:defRPr b="1"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/>
              <a:t>サブタイトル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18pt</a:t>
            </a:r>
          </a:p>
        </p:txBody>
      </p:sp>
      <p:sp>
        <p:nvSpPr>
          <p:cNvPr id="23" name="タイトル 22">
            <a:extLst>
              <a:ext uri="{FF2B5EF4-FFF2-40B4-BE49-F238E27FC236}">
                <a16:creationId xmlns:a16="http://schemas.microsoft.com/office/drawing/2014/main" id="{3A40C814-17D5-4A7E-7A78-30BC828E82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0626" y="2867723"/>
            <a:ext cx="7119051" cy="1231106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>
              <a:defRPr sz="4000"/>
            </a:lvl1pPr>
          </a:lstStyle>
          <a:p>
            <a:r>
              <a:rPr lang="ja-JP" altLang="en-US" sz="4000"/>
              <a:t>セクションタイトル</a:t>
            </a:r>
            <a:br>
              <a:rPr lang="en-US" altLang="ja-JP" sz="4000" dirty="0"/>
            </a:br>
            <a:r>
              <a:rPr lang="ja-JP" altLang="en-US" sz="4000"/>
              <a:t>游ゴシック</a:t>
            </a:r>
            <a:r>
              <a:rPr lang="en-US" altLang="ja-JP" sz="4000" dirty="0"/>
              <a:t>Bold 40pt / </a:t>
            </a:r>
            <a:r>
              <a:rPr lang="ja-JP" altLang="en-US" sz="4000"/>
              <a:t>行間</a:t>
            </a:r>
            <a:r>
              <a:rPr lang="en-US" altLang="ja-JP" sz="4000" dirty="0"/>
              <a:t>1</a:t>
            </a:r>
            <a:endParaRPr kumimoji="1" lang="ja-JP" altLang="en-US" dirty="0"/>
          </a:p>
        </p:txBody>
      </p:sp>
      <p:sp>
        <p:nvSpPr>
          <p:cNvPr id="13" name="スライド番号プレースホルダー 3">
            <a:extLst>
              <a:ext uri="{FF2B5EF4-FFF2-40B4-BE49-F238E27FC236}">
                <a16:creationId xmlns:a16="http://schemas.microsoft.com/office/drawing/2014/main" id="{DE1F0C62-7BF4-1436-B1EA-28526CF3C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7" name="フッター プレースホルダー 2">
            <a:extLst>
              <a:ext uri="{FF2B5EF4-FFF2-40B4-BE49-F238E27FC236}">
                <a16:creationId xmlns:a16="http://schemas.microsoft.com/office/drawing/2014/main" id="{52133237-772B-F3B9-F68E-FACF5B26B6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E3B8C749-7366-4048-9166-4A62872F8A82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図 5" descr="ケーブル, コネクタ, 結び目, ネックレス が含まれている画像&#10;&#10;自動的に生成された説明">
            <a:extLst>
              <a:ext uri="{FF2B5EF4-FFF2-40B4-BE49-F238E27FC236}">
                <a16:creationId xmlns:a16="http://schemas.microsoft.com/office/drawing/2014/main" id="{740EFBEE-C6CF-F51A-AA85-BA53F5EAB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985000" y="-9071"/>
            <a:ext cx="5207000" cy="4318000"/>
          </a:xfrm>
          <a:prstGeom prst="rect">
            <a:avLst/>
          </a:prstGeom>
        </p:spPr>
      </p:pic>
      <p:pic>
        <p:nvPicPr>
          <p:cNvPr id="8" name="図 7" descr="テキスト&#10;&#10;中程度の精度で自動的に生成された説明">
            <a:extLst>
              <a:ext uri="{FF2B5EF4-FFF2-40B4-BE49-F238E27FC236}">
                <a16:creationId xmlns:a16="http://schemas.microsoft.com/office/drawing/2014/main" id="{915A59F2-15A2-E96E-F771-46EC3B4B100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5816" y="66263"/>
            <a:ext cx="2182024" cy="6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52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アイコン&#10;&#10;低い精度で自動的に生成された説明">
            <a:extLst>
              <a:ext uri="{FF2B5EF4-FFF2-40B4-BE49-F238E27FC236}">
                <a16:creationId xmlns:a16="http://schemas.microsoft.com/office/drawing/2014/main" id="{FF0E6664-F39E-E2E4-35D2-96706015AD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A622023-E1FB-4EAE-2A34-9A027BBB5CB3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9878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3DF79D47-C70C-2A14-95D5-58B9F72791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A2AC2B7-03B4-4678-DBB5-2564949C5CC8}"/>
              </a:ext>
            </a:extLst>
          </p:cNvPr>
          <p:cNvSpPr txBox="1"/>
          <p:nvPr userDrawn="1"/>
        </p:nvSpPr>
        <p:spPr>
          <a:xfrm>
            <a:off x="10768120" y="6397228"/>
            <a:ext cx="1188000" cy="2419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36000" tIns="36000" rIns="36000" bIns="36000" rtlCol="0" anchor="ctr">
            <a:spAutoFit/>
          </a:bodyPr>
          <a:lstStyle/>
          <a:p>
            <a:pPr algn="ctr"/>
            <a:r>
              <a:rPr kumimoji="1" lang="en-US" altLang="ja-JP" sz="1100" b="0" i="0" dirty="0">
                <a:solidFill>
                  <a:srgbClr val="FF0000"/>
                </a:solidFill>
                <a:latin typeface="+mj-lt"/>
                <a:ea typeface="MS Gothic" panose="020B0609070205080204" pitchFamily="49" charset="-128"/>
              </a:rPr>
              <a:t>CONFIDENTIAL</a:t>
            </a:r>
            <a:endParaRPr kumimoji="1" lang="ja-JP" altLang="en-US" sz="1100" b="0" i="0" dirty="0">
              <a:solidFill>
                <a:srgbClr val="FF0000"/>
              </a:solidFill>
              <a:latin typeface="+mj-lt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4698906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図 4" descr="アイコン&#10;&#10;低い精度で自動的に生成された説明">
            <a:extLst>
              <a:ext uri="{FF2B5EF4-FFF2-40B4-BE49-F238E27FC236}">
                <a16:creationId xmlns:a16="http://schemas.microsoft.com/office/drawing/2014/main" id="{FF0E6664-F39E-E2E4-35D2-96706015AD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4889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_circula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スライド番号プレースホルダー 3">
            <a:extLst>
              <a:ext uri="{FF2B5EF4-FFF2-40B4-BE49-F238E27FC236}">
                <a16:creationId xmlns:a16="http://schemas.microsoft.com/office/drawing/2014/main" id="{9154874E-585B-8A05-2CDC-1474B6AEE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フッター プレースホルダー 2">
            <a:extLst>
              <a:ext uri="{FF2B5EF4-FFF2-40B4-BE49-F238E27FC236}">
                <a16:creationId xmlns:a16="http://schemas.microsoft.com/office/drawing/2014/main" id="{BF1224ED-0F96-677B-6766-A667DE6341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554A9AD2-A44F-6C4C-90A5-7E0F6615A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4336" y="255264"/>
            <a:ext cx="9327072" cy="369332"/>
          </a:xfrm>
        </p:spPr>
        <p:txBody>
          <a:bodyPr/>
          <a:lstStyle/>
          <a:p>
            <a:r>
              <a:rPr kumimoji="1" lang="ja-JP" altLang="en-US"/>
              <a:t>タイトル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</a:t>
            </a:r>
            <a:r>
              <a:rPr kumimoji="1" lang="en-US" altLang="ja-JP" dirty="0"/>
              <a:t>Bold 24pt</a:t>
            </a:r>
            <a:endParaRPr kumimoji="1" lang="ja-JP" altLang="en-US"/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F51E5A19-FBB7-6442-9D4F-1E3DFA3936D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14338" y="1187355"/>
            <a:ext cx="11550650" cy="5049933"/>
          </a:xfrm>
        </p:spPr>
        <p:txBody>
          <a:bodyPr/>
          <a:lstStyle>
            <a:lvl1pPr>
              <a:lnSpc>
                <a:spcPct val="150000"/>
              </a:lnSpc>
              <a:defRPr sz="1600"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kumimoji="1" lang="ja-JP" altLang="en-US"/>
              <a:t>本文テキスト</a:t>
            </a:r>
            <a:r>
              <a:rPr kumimoji="1" lang="en-US" altLang="ja-JP" dirty="0"/>
              <a:t> </a:t>
            </a:r>
            <a:r>
              <a:rPr kumimoji="1" lang="ja-JP" altLang="en-US"/>
              <a:t>游ゴシック </a:t>
            </a:r>
            <a:r>
              <a:rPr kumimoji="1" lang="en-US" altLang="ja-JP" dirty="0"/>
              <a:t>Medium 16pt / </a:t>
            </a:r>
            <a:r>
              <a:rPr kumimoji="1" lang="ja-JP" altLang="en-US"/>
              <a:t>行間</a:t>
            </a:r>
            <a:r>
              <a:rPr kumimoji="1" lang="en-US" altLang="ja-JP" dirty="0"/>
              <a:t>1.5</a:t>
            </a:r>
            <a:br>
              <a:rPr kumimoji="1" lang="en-US" altLang="ja-JP" dirty="0"/>
            </a:br>
            <a:r>
              <a:rPr kumimoji="1" lang="ja-JP" altLang="en-US"/>
              <a:t>テーマカラー：</a:t>
            </a:r>
            <a:r>
              <a:rPr kumimoji="1" lang="en-US" altLang="ja-JP" dirty="0"/>
              <a:t>Green and Cool gray 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8411784-F115-E34D-82CF-2B9A4DC7E26D}"/>
              </a:ext>
            </a:extLst>
          </p:cNvPr>
          <p:cNvCxnSpPr>
            <a:cxnSpLocks/>
          </p:cNvCxnSpPr>
          <p:nvPr userDrawn="1"/>
        </p:nvCxnSpPr>
        <p:spPr>
          <a:xfrm>
            <a:off x="550714" y="6497492"/>
            <a:ext cx="0" cy="198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図 9" descr="図形&#10;&#10;中程度の精度で自動的に生成された説明">
            <a:extLst>
              <a:ext uri="{FF2B5EF4-FFF2-40B4-BE49-F238E27FC236}">
                <a16:creationId xmlns:a16="http://schemas.microsoft.com/office/drawing/2014/main" id="{C69D6576-8772-E9C9-93AC-25EDDE9217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017000" y="4064000"/>
            <a:ext cx="3175000" cy="2794000"/>
          </a:xfrm>
          <a:prstGeom prst="rect">
            <a:avLst/>
          </a:prstGeom>
        </p:spPr>
      </p:pic>
      <p:pic>
        <p:nvPicPr>
          <p:cNvPr id="2" name="図 1" descr="アイコン&#10;&#10;低い精度で自動的に生成された説明">
            <a:extLst>
              <a:ext uri="{FF2B5EF4-FFF2-40B4-BE49-F238E27FC236}">
                <a16:creationId xmlns:a16="http://schemas.microsoft.com/office/drawing/2014/main" id="{3DF79D47-C70C-2A14-95D5-58B9F727911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9431" y="66162"/>
            <a:ext cx="1441424" cy="66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858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r>
              <a:rPr lang="ja-JP" altLang="en-US" dirty="0"/>
              <a:t>三菱ケミカル株式会社　茨城事業所　企画管理部　プロセス技術</a:t>
            </a:r>
            <a:r>
              <a:rPr lang="en-US" altLang="ja-JP" dirty="0"/>
              <a:t>Gr.</a:t>
            </a:r>
            <a:endParaRPr lang="ja-JP" altLang="en-US" dirty="0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696390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1" r:id="rId1"/>
    <p:sldLayoutId id="2147483858" r:id="rId2"/>
    <p:sldLayoutId id="2147483864" r:id="rId3"/>
    <p:sldLayoutId id="2147483862" r:id="rId4"/>
    <p:sldLayoutId id="2147483863" r:id="rId5"/>
    <p:sldLayoutId id="2147483859" r:id="rId6"/>
    <p:sldLayoutId id="2147483874" r:id="rId7"/>
    <p:sldLayoutId id="2147483875" r:id="rId8"/>
    <p:sldLayoutId id="2147483880" r:id="rId9"/>
    <p:sldLayoutId id="2147483881" r:id="rId10"/>
    <p:sldLayoutId id="2147483888" r:id="rId11"/>
    <p:sldLayoutId id="2147483890" r:id="rId12"/>
    <p:sldLayoutId id="2147483885" r:id="rId13"/>
    <p:sldLayoutId id="2147483886" r:id="rId1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28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4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6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-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725750" indent="-28575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522324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3" r:id="rId1"/>
    <p:sldLayoutId id="2147483904" r:id="rId2"/>
    <p:sldLayoutId id="2147483905" r:id="rId3"/>
    <p:sldLayoutId id="2147483906" r:id="rId4"/>
    <p:sldLayoutId id="2147483907" r:id="rId5"/>
    <p:sldLayoutId id="2147483908" r:id="rId6"/>
    <p:sldLayoutId id="2147483909" r:id="rId7"/>
    <p:sldLayoutId id="2147483910" r:id="rId8"/>
    <p:sldLayoutId id="2147483911" r:id="rId9"/>
    <p:sldLayoutId id="2147483912" r:id="rId10"/>
    <p:sldLayoutId id="2147483913" r:id="rId11"/>
    <p:sldLayoutId id="2147483914" r:id="rId12"/>
    <p:sldLayoutId id="2147483915" r:id="rId13"/>
    <p:sldLayoutId id="2147483916" r:id="rId14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700818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901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フッター プレースホルダー 2">
            <a:extLst>
              <a:ext uri="{FF2B5EF4-FFF2-40B4-BE49-F238E27FC236}">
                <a16:creationId xmlns:a16="http://schemas.microsoft.com/office/drawing/2014/main" id="{793D33C9-6286-93AD-F690-DD106EE418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758" y="6474646"/>
            <a:ext cx="4456805" cy="239418"/>
          </a:xfrm>
          <a:prstGeom prst="rect">
            <a:avLst/>
          </a:prstGeom>
        </p:spPr>
        <p:txBody>
          <a:bodyPr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39" name="スライド番号プレースホルダー 3">
            <a:extLst>
              <a:ext uri="{FF2B5EF4-FFF2-40B4-BE49-F238E27FC236}">
                <a16:creationId xmlns:a16="http://schemas.microsoft.com/office/drawing/2014/main" id="{1E9F7E52-3585-A248-DCF9-10FD61D02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42501" y="6474646"/>
            <a:ext cx="343672" cy="239418"/>
          </a:xfrm>
          <a:prstGeom prst="rect">
            <a:avLst/>
          </a:prstGeom>
        </p:spPr>
        <p:txBody>
          <a:bodyPr vert="horz" lIns="0" tIns="45720" rIns="91440" bIns="45720" rtlCol="0" anchor="t" anchorCtr="0"/>
          <a:lstStyle>
            <a:lvl1pPr algn="l">
              <a:defRPr sz="1130">
                <a:solidFill>
                  <a:schemeClr val="tx1"/>
                </a:solidFill>
                <a:latin typeface="+mj-lt"/>
              </a:defRPr>
            </a:lvl1pPr>
          </a:lstStyle>
          <a:p>
            <a:fld id="{48394356-8693-4048-8EAF-2BF05B04AA8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タイトル プレースホルダー 4">
            <a:extLst>
              <a:ext uri="{FF2B5EF4-FFF2-40B4-BE49-F238E27FC236}">
                <a16:creationId xmlns:a16="http://schemas.microsoft.com/office/drawing/2014/main" id="{20757BDD-7C5A-9847-972C-E62918DA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336" y="255264"/>
            <a:ext cx="9548530" cy="369332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DAEC7C21-0104-334A-9DA4-A21753589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8" y="1187354"/>
            <a:ext cx="11556999" cy="5049933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マスター テキストの書式設定</a:t>
            </a:r>
          </a:p>
          <a:p>
            <a:pPr marL="6457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2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005750" marR="0" lvl="2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3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365750" marR="0" lvl="3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-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4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  <a:p>
            <a:pPr marL="1725750" marR="0" lvl="4" indent="-28575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第 </a:t>
            </a:r>
            <a:r>
              <a:rPr kumimoji="1" lang="en-US" altLang="ja-JP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5 </a:t>
            </a:r>
            <a:r>
              <a:rPr kumimoji="1" lang="ja-JP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游ゴシック Medium"/>
                <a:cs typeface="+mn-cs"/>
              </a:rPr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42810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8" r:id="rId1"/>
    <p:sldLayoutId id="2147483919" r:id="rId2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kumimoji="1" sz="2400" b="1" i="0" kern="1200" spc="-50" baseline="0">
          <a:solidFill>
            <a:schemeClr val="tx1"/>
          </a:solidFill>
          <a:latin typeface="+mj-lt"/>
          <a:ea typeface="+mj-ea"/>
          <a:cs typeface="Meiryo" charset="-128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2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44000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980000" indent="-18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kumimoji="1"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9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pos="7537" userDrawn="1">
          <p15:clr>
            <a:srgbClr val="F26B43"/>
          </p15:clr>
        </p15:guide>
        <p15:guide id="5" pos="25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FA64AB4-7066-4561-6173-0007350AE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8394356-8693-4048-8EAF-2BF05B04AA80}" type="slidenum">
              <a:rPr lang="ja-JP" altLang="en-US" smtClean="0"/>
              <a:pPr/>
              <a:t>1</a:t>
            </a:fld>
            <a:endParaRPr lang="ja-JP" alt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F6E24FE4-EFA3-18D3-0300-ED1E0CB7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P-1507A/B</a:t>
            </a:r>
            <a:r>
              <a:rPr kumimoji="1" lang="ja-JP" altLang="en-US"/>
              <a:t>吸入ストレーナー メッシュ</a:t>
            </a:r>
            <a:r>
              <a:rPr lang="ja-JP" altLang="en-US"/>
              <a:t>サイズ</a:t>
            </a:r>
            <a:r>
              <a:rPr kumimoji="1" lang="ja-JP" altLang="en-US"/>
              <a:t>変更</a:t>
            </a:r>
            <a:r>
              <a:rPr kumimoji="1" lang="en-US" altLang="ja-JP"/>
              <a:t>(40</a:t>
            </a:r>
            <a:r>
              <a:rPr kumimoji="1" lang="ja-JP" altLang="en-US"/>
              <a:t>→</a:t>
            </a:r>
            <a:r>
              <a:rPr kumimoji="1" lang="en-US" altLang="ja-JP"/>
              <a:t>250</a:t>
            </a:r>
            <a:r>
              <a:rPr kumimoji="1" lang="ja-JP" altLang="en-US"/>
              <a:t>メッシュ</a:t>
            </a:r>
            <a:r>
              <a:rPr kumimoji="1" lang="en-US" altLang="ja-JP"/>
              <a:t>)</a:t>
            </a:r>
            <a:endParaRPr kumimoji="1" lang="ja-JP" altLang="en-US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469B3-7B16-9BDE-F561-3757138D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4467" b="10778"/>
          <a:stretch>
            <a:fillRect/>
          </a:stretch>
        </p:blipFill>
        <p:spPr>
          <a:xfrm>
            <a:off x="9185166" y="3572820"/>
            <a:ext cx="1796730" cy="249625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2A11D544-0970-E028-AE35-2337C68423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8038"/>
          <a:stretch>
            <a:fillRect/>
          </a:stretch>
        </p:blipFill>
        <p:spPr>
          <a:xfrm>
            <a:off x="2141536" y="3429000"/>
            <a:ext cx="6226765" cy="2762107"/>
          </a:xfrm>
          <a:prstGeom prst="rect">
            <a:avLst/>
          </a:prstGeom>
        </p:spPr>
      </p:pic>
      <p:sp>
        <p:nvSpPr>
          <p:cNvPr id="12" name="二等辺三角形 11">
            <a:extLst>
              <a:ext uri="{FF2B5EF4-FFF2-40B4-BE49-F238E27FC236}">
                <a16:creationId xmlns:a16="http://schemas.microsoft.com/office/drawing/2014/main" id="{CB6F6513-7099-B633-E9C0-CFD01935FA79}"/>
              </a:ext>
            </a:extLst>
          </p:cNvPr>
          <p:cNvSpPr/>
          <p:nvPr/>
        </p:nvSpPr>
        <p:spPr>
          <a:xfrm rot="5400000">
            <a:off x="4857246" y="5121151"/>
            <a:ext cx="174150" cy="154519"/>
          </a:xfrm>
          <a:prstGeom prst="triangle">
            <a:avLst/>
          </a:prstGeom>
          <a:pattFill prst="openDmnd">
            <a:fgClr>
              <a:srgbClr val="FF0000"/>
            </a:fgClr>
            <a:bgClr>
              <a:schemeClr val="bg1"/>
            </a:bgClr>
          </a:patt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2B3D345-0D28-61CF-455A-114E1D1DC38F}"/>
              </a:ext>
            </a:extLst>
          </p:cNvPr>
          <p:cNvSpPr txBox="1"/>
          <p:nvPr/>
        </p:nvSpPr>
        <p:spPr>
          <a:xfrm>
            <a:off x="93950" y="812599"/>
            <a:ext cx="13069389" cy="1775234"/>
          </a:xfrm>
          <a:prstGeom prst="rect">
            <a:avLst/>
          </a:prstGeom>
          <a:noFill/>
        </p:spPr>
        <p:txBody>
          <a:bodyPr wrap="square" lIns="0" tIns="72000" rIns="234000" bIns="0" rtlCol="0" anchor="t" anchorCtr="0">
            <a:noAutofit/>
          </a:bodyPr>
          <a:lstStyle/>
          <a:p>
            <a:pPr algn="l"/>
            <a:r>
              <a:rPr kumimoji="1" lang="ja-JP" altLang="en-US" b="1"/>
              <a:t>変更対象：</a:t>
            </a:r>
            <a:r>
              <a:rPr kumimoji="1" lang="en-US" altLang="ja-JP"/>
              <a:t>P-1507A/B </a:t>
            </a:r>
            <a:r>
              <a:rPr kumimoji="1" lang="ja-JP" altLang="en-US"/>
              <a:t>吸入ストレーナー</a:t>
            </a:r>
            <a:endParaRPr lang="en-US" altLang="ja-JP"/>
          </a:p>
          <a:p>
            <a:pPr algn="l"/>
            <a:r>
              <a:rPr lang="ja-JP" altLang="en-US" b="1"/>
              <a:t>　　内容：メッシュサイズ </a:t>
            </a:r>
            <a:r>
              <a:rPr lang="en-US" altLang="ja-JP" b="1"/>
              <a:t>40</a:t>
            </a:r>
            <a:r>
              <a:rPr lang="ja-JP" altLang="en-US" b="1"/>
              <a:t>→</a:t>
            </a:r>
            <a:r>
              <a:rPr lang="en-US" altLang="ja-JP" b="1"/>
              <a:t>250</a:t>
            </a:r>
            <a:r>
              <a:rPr lang="ja-JP" altLang="en-US" b="1"/>
              <a:t>メッシュ</a:t>
            </a:r>
            <a:endParaRPr lang="en-US" altLang="ja-JP" b="1"/>
          </a:p>
          <a:p>
            <a:r>
              <a:rPr lang="ja-JP" altLang="en-US" b="1"/>
              <a:t>　　目的：</a:t>
            </a:r>
            <a:r>
              <a:rPr lang="en-US" altLang="ja-JP" b="1"/>
              <a:t>C-1503</a:t>
            </a:r>
            <a:r>
              <a:rPr lang="ja-JP" altLang="en-US" b="1"/>
              <a:t>塔頂で確認された黒色異物（主成分</a:t>
            </a:r>
            <a:r>
              <a:rPr lang="en-US" altLang="ja-JP" b="1"/>
              <a:t>=</a:t>
            </a:r>
            <a:r>
              <a:rPr lang="ja-JP" altLang="en-US" b="1"/>
              <a:t>鉄錆）の製品</a:t>
            </a:r>
            <a:r>
              <a:rPr lang="en-US" altLang="ja-JP" b="1"/>
              <a:t>DEG</a:t>
            </a:r>
            <a:r>
              <a:rPr lang="ja-JP" altLang="en-US" b="1"/>
              <a:t>出荷ラインへの流出を抑制する</a:t>
            </a:r>
            <a:r>
              <a:rPr lang="ja-JP" altLang="en-US"/>
              <a:t>。</a:t>
            </a:r>
            <a:endParaRPr lang="en-US" altLang="ja-JP"/>
          </a:p>
          <a:p>
            <a:r>
              <a:rPr lang="ja-JP" altLang="en-US" b="1"/>
              <a:t>　　影響：</a:t>
            </a:r>
            <a:r>
              <a:rPr lang="ja-JP" altLang="en-US"/>
              <a:t>メッシュが細かくなることにより閉塞が早期化し、</a:t>
            </a:r>
            <a:endParaRPr lang="en-US" altLang="ja-JP"/>
          </a:p>
          <a:p>
            <a:r>
              <a:rPr lang="ja-JP" altLang="en-US"/>
              <a:t>　　　　　</a:t>
            </a:r>
            <a:r>
              <a:rPr lang="en-US" altLang="ja-JP"/>
              <a:t>P-1507A/B</a:t>
            </a:r>
            <a:r>
              <a:rPr lang="ja-JP" altLang="en-US"/>
              <a:t>キャビテーションによる機器損傷リスクが高まる。特に運転開始直後が懸念。</a:t>
            </a:r>
            <a:endParaRPr lang="en-US" altLang="ja-JP"/>
          </a:p>
          <a:p>
            <a:endParaRPr lang="en-US" altLang="ja-JP" sz="1050"/>
          </a:p>
          <a:p>
            <a:r>
              <a:rPr lang="ja-JP" altLang="en-US"/>
              <a:t>　　</a:t>
            </a:r>
            <a:r>
              <a:rPr lang="ja-JP" altLang="en-US" b="1"/>
              <a:t>対応：ポンプ下流ＣＶ開度を監視し、閉塞時は予備機にポンプ切り替えて清掃を実施</a:t>
            </a:r>
            <a:endParaRPr lang="en-US" altLang="ja-JP" b="1"/>
          </a:p>
          <a:p>
            <a:r>
              <a:rPr lang="ja-JP" altLang="en-US"/>
              <a:t>　　　　（吸スト閉塞傾向は下流の流量制御弁 </a:t>
            </a:r>
            <a:r>
              <a:rPr lang="en-US" altLang="ja-JP"/>
              <a:t>FC1531 ,FC1534</a:t>
            </a:r>
            <a:r>
              <a:rPr lang="ja-JP" altLang="en-US"/>
              <a:t> の</a:t>
            </a:r>
            <a:r>
              <a:rPr lang="en-US" altLang="ja-JP"/>
              <a:t>CV</a:t>
            </a:r>
            <a:r>
              <a:rPr lang="ja-JP" altLang="en-US"/>
              <a:t>開度で監視が可能）</a:t>
            </a:r>
            <a:endParaRPr lang="en-US" altLang="ja-JP"/>
          </a:p>
          <a:p>
            <a:r>
              <a:rPr kumimoji="1" lang="ja-JP" altLang="en-US"/>
              <a:t>　　　 </a:t>
            </a:r>
            <a:endParaRPr kumimoji="1" lang="ja-JP" altLang="en-US" dirty="0" err="1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A106E181-1946-EDF8-ED89-763195EEBFDE}"/>
              </a:ext>
            </a:extLst>
          </p:cNvPr>
          <p:cNvSpPr/>
          <p:nvPr/>
        </p:nvSpPr>
        <p:spPr>
          <a:xfrm>
            <a:off x="5021581" y="4427521"/>
            <a:ext cx="685800" cy="586095"/>
          </a:xfrm>
          <a:prstGeom prst="ellipse">
            <a:avLst/>
          </a:prstGeom>
          <a:noFill/>
          <a:ln w="158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E0E84B79-1579-1DE0-03FF-317ABDD48DFD}"/>
              </a:ext>
            </a:extLst>
          </p:cNvPr>
          <p:cNvSpPr/>
          <p:nvPr/>
        </p:nvSpPr>
        <p:spPr>
          <a:xfrm>
            <a:off x="7643912" y="5361933"/>
            <a:ext cx="685800" cy="586095"/>
          </a:xfrm>
          <a:prstGeom prst="ellipse">
            <a:avLst/>
          </a:prstGeom>
          <a:noFill/>
          <a:ln w="158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F4CEB29-455B-16F9-A95F-A20A46FE6B29}"/>
              </a:ext>
            </a:extLst>
          </p:cNvPr>
          <p:cNvSpPr txBox="1"/>
          <p:nvPr/>
        </p:nvSpPr>
        <p:spPr>
          <a:xfrm>
            <a:off x="3635756" y="6399784"/>
            <a:ext cx="4008156" cy="377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>
                <a:solidFill>
                  <a:srgbClr val="0070C0"/>
                </a:solidFill>
              </a:rPr>
              <a:t>監視項目：</a:t>
            </a:r>
            <a:r>
              <a:rPr lang="en-US" altLang="ja-JP">
                <a:solidFill>
                  <a:srgbClr val="0070C0"/>
                </a:solidFill>
              </a:rPr>
              <a:t>FC1531,FC1534 CV</a:t>
            </a:r>
            <a:r>
              <a:rPr lang="ja-JP" altLang="en-US">
                <a:solidFill>
                  <a:srgbClr val="0070C0"/>
                </a:solidFill>
              </a:rPr>
              <a:t>開度</a:t>
            </a:r>
            <a:endParaRPr kumimoji="1" lang="ja-JP" altLang="en-US" dirty="0" err="1">
              <a:solidFill>
                <a:srgbClr val="0070C0"/>
              </a:solidFill>
            </a:endParaRPr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B80010D-07F3-27EA-B24C-AE07E2B95400}"/>
              </a:ext>
            </a:extLst>
          </p:cNvPr>
          <p:cNvCxnSpPr>
            <a:endCxn id="14" idx="5"/>
          </p:cNvCxnSpPr>
          <p:nvPr/>
        </p:nvCxnSpPr>
        <p:spPr>
          <a:xfrm flipH="1" flipV="1">
            <a:off x="5596556" y="5013616"/>
            <a:ext cx="110825" cy="1348683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6EDD55F5-2F3F-12B4-1DF9-ABE364CA35D2}"/>
              </a:ext>
            </a:extLst>
          </p:cNvPr>
          <p:cNvCxnSpPr>
            <a:cxnSpLocks/>
          </p:cNvCxnSpPr>
          <p:nvPr/>
        </p:nvCxnSpPr>
        <p:spPr>
          <a:xfrm flipV="1">
            <a:off x="5707381" y="5800304"/>
            <a:ext cx="1842529" cy="586095"/>
          </a:xfrm>
          <a:prstGeom prst="straightConnector1">
            <a:avLst/>
          </a:prstGeom>
          <a:ln w="158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5ED88B40-AD82-35E9-C748-E22913788F93}"/>
              </a:ext>
            </a:extLst>
          </p:cNvPr>
          <p:cNvSpPr txBox="1"/>
          <p:nvPr/>
        </p:nvSpPr>
        <p:spPr>
          <a:xfrm>
            <a:off x="8471040" y="6091684"/>
            <a:ext cx="37209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altLang="en-US" sz="1600"/>
              <a:t>吸入ストレーナーや下流配管でも微量の異物確認⇒製品ラインへの流出を抑制したい</a:t>
            </a:r>
            <a:endParaRPr kumimoji="1" lang="ja-JP" altLang="en-US" sz="1600" dirty="0" err="1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C8A85BA-92DD-B86A-ECFA-EA400E9C8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637" y="3572820"/>
            <a:ext cx="1353411" cy="1805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766042A9-1707-3708-5974-2586A7A79442}"/>
              </a:ext>
            </a:extLst>
          </p:cNvPr>
          <p:cNvCxnSpPr>
            <a:cxnSpLocks/>
          </p:cNvCxnSpPr>
          <p:nvPr/>
        </p:nvCxnSpPr>
        <p:spPr>
          <a:xfrm>
            <a:off x="1902164" y="4810053"/>
            <a:ext cx="2101101" cy="47543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2B8D7F1-577C-C676-4AF0-370AF23ED487}"/>
              </a:ext>
            </a:extLst>
          </p:cNvPr>
          <p:cNvSpPr txBox="1"/>
          <p:nvPr/>
        </p:nvSpPr>
        <p:spPr>
          <a:xfrm>
            <a:off x="399663" y="5493186"/>
            <a:ext cx="174187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/>
              <a:t>2026</a:t>
            </a:r>
            <a:r>
              <a:rPr lang="ja-JP" altLang="en-US" sz="1400"/>
              <a:t>年開放時</a:t>
            </a:r>
            <a:r>
              <a:rPr lang="ja-JP" altLang="ja-JP" sz="1400"/>
              <a:t>塔壁全体に黒色付着物</a:t>
            </a:r>
            <a:r>
              <a:rPr lang="ja-JP" altLang="en-US" sz="1400"/>
              <a:t>を確認</a:t>
            </a:r>
            <a:r>
              <a:rPr lang="en-US" altLang="ja-JP" sz="1400"/>
              <a:t>(</a:t>
            </a:r>
            <a:r>
              <a:rPr lang="ja-JP" altLang="en-US" sz="1400"/>
              <a:t>洗浄済み</a:t>
            </a:r>
            <a:r>
              <a:rPr lang="en-US" altLang="ja-JP" sz="1400"/>
              <a:t>)</a:t>
            </a:r>
            <a:r>
              <a:rPr lang="ja-JP" altLang="ja-JP" sz="1400"/>
              <a:t>​</a:t>
            </a:r>
            <a:endParaRPr kumimoji="1" lang="ja-JP" altLang="en-US" sz="1400" dirty="0" err="1">
              <a:solidFill>
                <a:srgbClr val="0070C0"/>
              </a:solidFill>
            </a:endParaRPr>
          </a:p>
        </p:txBody>
      </p: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D5CE0A0C-172E-B582-2D8A-D2714A61628B}"/>
              </a:ext>
            </a:extLst>
          </p:cNvPr>
          <p:cNvCxnSpPr>
            <a:cxnSpLocks/>
          </p:cNvCxnSpPr>
          <p:nvPr/>
        </p:nvCxnSpPr>
        <p:spPr>
          <a:xfrm flipH="1">
            <a:off x="5077872" y="5121281"/>
            <a:ext cx="4084529" cy="7712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62388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技術評価まとめ ― 変更の妥当性と監視方法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6126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F4E79"/>
                </a:solidFill>
              </a:defRPr>
            </a:pPr>
            <a:r>
              <a:t>評価したこと：①ポンプのキャビ余裕 ②下流CV開度で閉塞を監視できるか（実機データで照合）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・キャビの余裕：通常運転は余裕大。閉塞が進み 約83%詰まる とNPSH余裕（≒117kPa相当）を失いキャビの恐れ。</a:t>
            </a:r>
          </a:p>
          <a:p>
            <a:pPr>
              <a:spcAft>
                <a:spcPts val="800"/>
              </a:spcAft>
              <a:defRPr sz="1500" b="1">
                <a:solidFill>
                  <a:srgbClr val="C00000"/>
                </a:solidFill>
              </a:defRPr>
            </a:pPr>
            <a:r>
              <a:t>・CV開度で見えるか：閉塞してもCV開度は +6〜8%（FC-1531 +8%／FC-1535 +6%）しか動かない。</a:t>
            </a:r>
          </a:p>
          <a:p>
            <a:pPr>
              <a:spcAft>
                <a:spcPts val="800"/>
              </a:spcAft>
              <a:defRPr sz="1400" b="0">
                <a:solidFill>
                  <a:srgbClr val="C00000"/>
                </a:solidFill>
              </a:defRPr>
            </a:pPr>
            <a:r>
              <a:t>　→ 通常の流量変動（±5〜10%）と同程度。流量補正すれば弱い兆候にはなるが、単独では当てにできない。</a:t>
            </a:r>
          </a:p>
          <a:p>
            <a:pPr>
              <a:spcAft>
                <a:spcPts val="800"/>
              </a:spcAft>
              <a:defRPr sz="1600" b="1">
                <a:solidFill>
                  <a:srgbClr val="2E7D32"/>
                </a:solidFill>
              </a:defRPr>
            </a:pPr>
            <a:r>
              <a:t>・結論：閉塞監視は ストレーナ前後差圧を直接見る（限界117kPaの手前で予備機切替・清掃）。CV開度は補助。</a:t>
            </a:r>
          </a:p>
          <a:p>
            <a:pPr>
              <a:spcAft>
                <a:spcPts val="800"/>
              </a:spcAft>
              <a:defRPr sz="1400" b="0">
                <a:solidFill>
                  <a:srgbClr val="222222"/>
                </a:solidFill>
              </a:defRPr>
            </a:pPr>
            <a:r>
              <a:t>・低温起動：冷えると粘度↑で差圧↑。暖機（~50℃以上）/低流量起動 で対応（冷態は40メッシュも可）。</a:t>
            </a:r>
          </a:p>
          <a:p>
            <a:pPr>
              <a:spcAft>
                <a:spcPts val="800"/>
              </a:spcAft>
              <a:defRPr sz="1300" b="0">
                <a:solidFill>
                  <a:srgbClr val="555555"/>
                </a:solidFill>
              </a:defRPr>
            </a:pPr>
            <a:r>
              <a:t>・予備品：40メッシュは予備保管。孔径62μm・ろ過面積≈100cm²（円錐型）。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675120" y="1280160"/>
          <a:ext cx="52120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502920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差圧は閉塞末期(約83%)で急増するが、吐出圧・差圧にDCSタグは無く直読不可。CV開度は±数%で流量変動に紛れ補助のみ。→ 監視は『清掃周期＋現場パトロール』が主軸。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/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監視方法と清掃周期の見積り（落としどころ）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60120"/>
            <a:ext cx="6492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監視の実態（制約）</a:t>
            </a:r>
          </a:p>
          <a:p>
            <a:pPr>
              <a:defRPr sz="1400" b="0"/>
            </a:pPr>
            <a:r>
              <a:t>• 吐出圧・差圧にDCSタグは無い → 差圧の直読は不可</a:t>
            </a:r>
          </a:p>
          <a:p>
            <a:pPr>
              <a:defRPr sz="1400" b="0"/>
            </a:pPr>
            <a:r>
              <a:t>• 読めるのは ①CV開度トレンド(DCS) ②現場パトロール(1日1回・吐出圧/予備機サクションPG)</a:t>
            </a:r>
          </a:p>
          <a:p>
            <a:pPr>
              <a:defRPr sz="1400" b="0"/>
            </a:pPr>
          </a:p>
          <a:p>
            <a:pPr>
              <a:defRPr sz="1600" b="1">
                <a:solidFill>
                  <a:srgbClr val="377D22"/>
                </a:solidFill>
              </a:defRPr>
            </a:pPr>
            <a:r>
              <a:t>運用の落としどころ（清掃周期を主軸に管理）</a:t>
            </a:r>
          </a:p>
          <a:p>
            <a:pPr>
              <a:defRPr sz="1400" b="0"/>
            </a:pPr>
            <a:r>
              <a:t>• ① 起動時に閉塞速度（どれくらいで差圧が立つか）を現場で実測</a:t>
            </a:r>
          </a:p>
          <a:p>
            <a:pPr>
              <a:defRPr sz="1400" b="0"/>
            </a:pPr>
            <a:r>
              <a:t>• ② CV開度トレンド＋現場パトロールで進行を監視（CV開度は“弱い兆候”の補助）</a:t>
            </a:r>
          </a:p>
          <a:p>
            <a:pPr>
              <a:defRPr sz="1400" b="0"/>
            </a:pPr>
            <a:r>
              <a:t>• ③ 清掃周期は操油課の250メッシュ実績を ろ過面積比＋流量比 で換算して定量見積り</a:t>
            </a:r>
          </a:p>
          <a:p>
            <a:pPr>
              <a:defRPr sz="1400" b="0"/>
            </a:pPr>
            <a:r>
              <a:t>• ④ 初期は安全側で『推定周期の1/2』で開放点検 → 実績で延伸・補正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0" y="2926080"/>
            <a:ext cx="47548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0000"/>
                </a:solidFill>
              </a:defRPr>
            </a:pPr>
            <a:r>
              <a:t>操油課へ照会中（★回答待ち）</a:t>
            </a:r>
          </a:p>
          <a:p>
            <a:pPr>
              <a:defRPr sz="1400" b="0"/>
            </a:pPr>
            <a:r>
              <a:t>• ・250メッシュの清掃(閉塞)周期</a:t>
            </a:r>
          </a:p>
          <a:p>
            <a:pPr>
              <a:defRPr sz="1400" b="0"/>
            </a:pPr>
            <a:r>
              <a:t>• ・閉塞時の差圧の上がり方／状況</a:t>
            </a:r>
          </a:p>
          <a:p>
            <a:pPr>
              <a:defRPr sz="1400" b="0"/>
            </a:pPr>
            <a:r>
              <a:t>• ・ストレーナのろ過面積・通液流量</a:t>
            </a:r>
          </a:p>
          <a:p>
            <a:pPr>
              <a:defRPr sz="1400" b="0"/>
            </a:pPr>
          </a:p>
          <a:p>
            <a:pPr>
              <a:defRPr sz="1300" b="0"/>
            </a:pPr>
            <a:r>
              <a:t>回答が来れば入力するだけで当方の</a:t>
            </a:r>
          </a:p>
          <a:p>
            <a:pPr>
              <a:defRPr sz="1300" b="0"/>
            </a:pPr>
            <a:r>
              <a:t>清掃周期が定量的に出る（Excel⑤）。</a:t>
            </a:r>
          </a:p>
          <a:p>
            <a:pPr>
              <a:defRPr sz="1300" b="1">
                <a:solidFill>
                  <a:srgbClr val="377D22"/>
                </a:solidFill>
              </a:defRPr>
            </a:pPr>
            <a:r>
              <a:t>その周期で運用し、初期は早めに点検。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0" y="960120"/>
            <a:ext cx="4937760" cy="1828800"/>
          </a:xfrm>
          <a:prstGeom prst="rect">
            <a:avLst/>
          </a:prstGeom>
          <a:solidFill>
            <a:srgbClr val="EAF1F8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400" b="1">
                <a:solidFill>
                  <a:srgbClr val="1F4E79"/>
                </a:solidFill>
              </a:defRPr>
            </a:pPr>
            <a:r>
              <a:t>清掃までの時間 t ∝ ろ過面積 ÷ (流量 × 固形分濃度)</a:t>
            </a:r>
          </a:p>
          <a:p>
            <a:pPr>
              <a:defRPr sz="1300"/>
            </a:pPr>
            <a:r>
              <a:t>推定周期 = 操油課周期 ×(当方面積/操油課面積)</a:t>
            </a:r>
          </a:p>
          <a:p>
            <a:pPr>
              <a:defRPr sz="1300"/>
            </a:pPr>
            <a:r>
              <a:t>          ×(操油課流量/当方流量)×濃度比</a:t>
            </a:r>
          </a:p>
          <a:p>
            <a:pPr>
              <a:defRPr sz="1200">
                <a:solidFill>
                  <a:srgbClr val="377D22"/>
                </a:solidFill>
              </a:defRPr>
            </a:pPr>
            <a:r>
              <a:t>当方ろ過面積=101cm²（②円錐式より）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Confidential_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65F74287-1116-4394-A525-ED591E028B6D}"/>
    </a:ext>
  </a:extLst>
</a:theme>
</file>

<file path=ppt/theme/theme2.xml><?xml version="1.0" encoding="utf-8"?>
<a:theme xmlns:a="http://schemas.openxmlformats.org/drawingml/2006/main" name="2_Main template_Blue and Cool gray">
  <a:themeElements>
    <a:clrScheme name="blue and cool gray 1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5BAB"/>
      </a:accent1>
      <a:accent2>
        <a:srgbClr val="003F7E"/>
      </a:accent2>
      <a:accent3>
        <a:srgbClr val="8A9093"/>
      </a:accent3>
      <a:accent4>
        <a:srgbClr val="B3BBBF"/>
      </a:accent4>
      <a:accent5>
        <a:srgbClr val="D7E0E5"/>
      </a:accent5>
      <a:accent6>
        <a:srgbClr val="6F92CC"/>
      </a:accent6>
      <a:hlink>
        <a:srgbClr val="005BAB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5CBF57EB-AE1A-4A30-A251-21905150F8B6}"/>
    </a:ext>
  </a:extLst>
</a:theme>
</file>

<file path=ppt/theme/theme3.xml><?xml version="1.0" encoding="utf-8"?>
<a:theme xmlns:a="http://schemas.openxmlformats.org/drawingml/2006/main" name="3_Confidential_Sub template_Green and Cool gray">
  <a:themeElements>
    <a:clrScheme name="green and cool gray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A33E"/>
      </a:accent1>
      <a:accent2>
        <a:srgbClr val="00772A"/>
      </a:accent2>
      <a:accent3>
        <a:srgbClr val="8A9093"/>
      </a:accent3>
      <a:accent4>
        <a:srgbClr val="B3BBBF"/>
      </a:accent4>
      <a:accent5>
        <a:srgbClr val="D7E0E5"/>
      </a:accent5>
      <a:accent6>
        <a:srgbClr val="66C88B"/>
      </a:accent6>
      <a:hlink>
        <a:srgbClr val="00A33E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7E0EC220-9CDA-4B0D-A849-74E331EF41CD}"/>
    </a:ext>
  </a:extLst>
</a:theme>
</file>

<file path=ppt/theme/theme4.xml><?xml version="1.0" encoding="utf-8"?>
<a:theme xmlns:a="http://schemas.openxmlformats.org/drawingml/2006/main" name="4_Sub template_Green and Cool gray">
  <a:themeElements>
    <a:clrScheme name="green and cool gray">
      <a:dk1>
        <a:srgbClr val="000000"/>
      </a:dk1>
      <a:lt1>
        <a:srgbClr val="FFFFFF"/>
      </a:lt1>
      <a:dk2>
        <a:srgbClr val="D6E0E5"/>
      </a:dk2>
      <a:lt2>
        <a:srgbClr val="EBEFF2"/>
      </a:lt2>
      <a:accent1>
        <a:srgbClr val="00A33E"/>
      </a:accent1>
      <a:accent2>
        <a:srgbClr val="00772A"/>
      </a:accent2>
      <a:accent3>
        <a:srgbClr val="8A9093"/>
      </a:accent3>
      <a:accent4>
        <a:srgbClr val="B3BBBF"/>
      </a:accent4>
      <a:accent5>
        <a:srgbClr val="D7E0E5"/>
      </a:accent5>
      <a:accent6>
        <a:srgbClr val="66C88B"/>
      </a:accent6>
      <a:hlink>
        <a:srgbClr val="00A33E"/>
      </a:hlink>
      <a:folHlink>
        <a:srgbClr val="000000"/>
      </a:folHlink>
    </a:clrScheme>
    <a:fontScheme name="游ゴシックMR＋Arial">
      <a:majorFont>
        <a:latin typeface="Arial"/>
        <a:ea typeface="游ゴシック"/>
        <a:cs typeface=""/>
      </a:majorFont>
      <a:minorFont>
        <a:latin typeface="Arial"/>
        <a:ea typeface="游ゴシック Medium"/>
        <a:cs typeface=""/>
      </a:minorFont>
    </a:fontScheme>
    <a:fmtScheme name="ホワイ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72000" rIns="234000" bIns="0" anchor="t" anchorCtr="0">
        <a:no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MCG_jp_rev.potx" id="{8A0A82B0-7617-4D52-9715-0CA65AFC9068}" vid="{9184EDBB-92CB-467A-9CE7-867182BBDEAB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MCG_jp_rev20240709</Template>
  <TotalTime>188</TotalTime>
  <Words>181</Words>
  <Application>Microsoft Office PowerPoint</Application>
  <PresentationFormat>ワイド画面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Arial</vt:lpstr>
      <vt:lpstr>1_Confidential_Main template_Blue and Cool gray</vt:lpstr>
      <vt:lpstr>2_Main template_Blue and Cool gray</vt:lpstr>
      <vt:lpstr>3_Confidential_Sub template_Green and Cool gray</vt:lpstr>
      <vt:lpstr>4_Sub template_Green and Cool gray</vt:lpstr>
      <vt:lpstr>P-1507A/B吸入ストレーナー メッシュサイズ変更(40→250メッシュ)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hirao kazuaki/0465811/平尾　一陽</dc:creator>
  <cp:keywords/>
  <dc:description/>
  <cp:lastModifiedBy>hirao kazuaki/0465811/平尾　一陽</cp:lastModifiedBy>
  <cp:revision>1</cp:revision>
  <dcterms:created xsi:type="dcterms:W3CDTF">2026-06-17T04:10:11Z</dcterms:created>
  <dcterms:modified xsi:type="dcterms:W3CDTF">2026-06-17T07:18:15Z</dcterms:modified>
  <cp:category/>
</cp:coreProperties>
</file>