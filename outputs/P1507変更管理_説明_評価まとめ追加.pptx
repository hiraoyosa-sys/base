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0" r:id="rId1"/>
    <p:sldMasterId id="2147483902" r:id="rId2"/>
    <p:sldMasterId id="2147483892" r:id="rId3"/>
    <p:sldMasterId id="2147483917" r:id="rId4"/>
  </p:sldMasterIdLst>
  <p:notesMasterIdLst>
    <p:notesMasterId r:id="rId6"/>
  </p:notesMasterIdLst>
  <p:handoutMasterIdLst>
    <p:handoutMasterId r:id="rId7"/>
  </p:handoutMasterIdLst>
  <p:sldIdLst>
    <p:sldId id="278" r:id="rId5"/>
    <p:sldId id="279" r:id="rId12"/>
    <p:sldId id="280" r:id="rId13"/>
    <p:sldId id="281"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323232"/>
    <a:srgbClr val="FFFFFF"/>
    <a:srgbClr val="FDF0CC"/>
    <a:srgbClr val="CCEDD8"/>
    <a:srgbClr val="ECF1F4"/>
    <a:srgbClr val="333333"/>
    <a:srgbClr val="EFF3F4"/>
    <a:srgbClr val="EFF4F5"/>
    <a:srgbClr val="EEF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558"/>
  </p:normalViewPr>
  <p:slideViewPr>
    <p:cSldViewPr snapToGrid="0">
      <p:cViewPr>
        <p:scale>
          <a:sx n="50" d="100"/>
          <a:sy n="50" d="100"/>
        </p:scale>
        <p:origin x="396" y="7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5320" y="152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閉塞率 → ストレーナ差圧（約83%で余裕喪失）</a:t>
            </a:r>
          </a:p>
        </c:rich>
      </c:tx>
      <c:layout/>
      <c:overlay val="0"/>
    </c:title>
    <c:autoTitleDeleted val="0"/>
    <c:plotArea>
      <c:lineChart>
        <c:grouping val="standard"/>
        <c:varyColors val="0"/>
        <c:ser>
          <c:idx val="0"/>
          <c:order val="0"/>
          <c:tx>
            <c:strRef>
              <c:f>Sheet1!$B$1</c:f>
              <c:strCache>
                <c:ptCount val="1"/>
                <c:pt idx="0">
                  <c:v>ストレーナ差圧[kPa]</c:v>
                </c:pt>
              </c:strCache>
            </c:strRef>
          </c:tx>
          <c:cat>
            <c:strRef>
              <c:f>Sheet1!$A$2:$A$8</c:f>
              <c:strCache>
                <c:ptCount val="7"/>
                <c:pt idx="0">
                  <c:v>0</c:v>
                </c:pt>
                <c:pt idx="1">
                  <c:v>30</c:v>
                </c:pt>
                <c:pt idx="2">
                  <c:v>50</c:v>
                </c:pt>
                <c:pt idx="3">
                  <c:v>70</c:v>
                </c:pt>
                <c:pt idx="4">
                  <c:v>80</c:v>
                </c:pt>
                <c:pt idx="5">
                  <c:v>83</c:v>
                </c:pt>
                <c:pt idx="6">
                  <c:v>85</c:v>
                </c:pt>
              </c:strCache>
            </c:strRef>
          </c:cat>
          <c:val>
            <c:numRef>
              <c:f>Sheet1!$B$2:$B$8</c:f>
              <c:numCache>
                <c:formatCode>General</c:formatCode>
                <c:ptCount val="7"/>
                <c:pt idx="0">
                  <c:v>3.6</c:v>
                </c:pt>
                <c:pt idx="1">
                  <c:v>7.3</c:v>
                </c:pt>
                <c:pt idx="2">
                  <c:v>14.2</c:v>
                </c:pt>
                <c:pt idx="3">
                  <c:v>39.6</c:v>
                </c:pt>
                <c:pt idx="4">
                  <c:v>89</c:v>
                </c:pt>
                <c:pt idx="5">
                  <c:v>123</c:v>
                </c:pt>
                <c:pt idx="6">
                  <c:v>158</c:v>
                </c:pt>
              </c:numCache>
            </c:numRef>
          </c:val>
          <c:smooth val="0"/>
        </c:ser>
        <c:ser>
          <c:idx val="1"/>
          <c:order val="1"/>
          <c:tx>
            <c:strRef>
              <c:f>Sheet1!$C$1</c:f>
              <c:strCache>
                <c:ptCount val="1"/>
                <c:pt idx="0">
                  <c:v>NPSH余力(限界117kPa)</c:v>
                </c:pt>
              </c:strCache>
            </c:strRef>
          </c:tx>
          <c:cat>
            <c:strRef>
              <c:f>Sheet1!$A$2:$A$8</c:f>
              <c:strCache>
                <c:ptCount val="7"/>
                <c:pt idx="0">
                  <c:v>0</c:v>
                </c:pt>
                <c:pt idx="1">
                  <c:v>30</c:v>
                </c:pt>
                <c:pt idx="2">
                  <c:v>50</c:v>
                </c:pt>
                <c:pt idx="3">
                  <c:v>70</c:v>
                </c:pt>
                <c:pt idx="4">
                  <c:v>80</c:v>
                </c:pt>
                <c:pt idx="5">
                  <c:v>83</c:v>
                </c:pt>
                <c:pt idx="6">
                  <c:v>85</c:v>
                </c:pt>
              </c:strCache>
            </c:strRef>
          </c:cat>
          <c:val>
            <c:numRef>
              <c:f>Sheet1!$C$2:$C$8</c:f>
              <c:numCache>
                <c:formatCode>General</c:formatCode>
                <c:ptCount val="7"/>
                <c:pt idx="0">
                  <c:v>117</c:v>
                </c:pt>
                <c:pt idx="1">
                  <c:v>117</c:v>
                </c:pt>
                <c:pt idx="2">
                  <c:v>117</c:v>
                </c:pt>
                <c:pt idx="3">
                  <c:v>117</c:v>
                </c:pt>
                <c:pt idx="4">
                  <c:v>117</c:v>
                </c:pt>
                <c:pt idx="5">
                  <c:v>117</c:v>
                </c:pt>
                <c:pt idx="6">
                  <c:v>117</c:v>
                </c:pt>
              </c:numCache>
            </c:numRef>
          </c:val>
          <c:smooth val="0"/>
        </c:ser>
        <c:marker val="1"/>
        <c:smooth val="0"/>
        <c:axId val="2118791784"/>
        <c:axId val="2140495176"/>
      </c:lineChart>
      <c:catAx>
        <c:axId val="2118791784"/>
        <c:scaling>
          <c:orientation val="minMax"/>
        </c:scaling>
        <c:delete val="0"/>
        <c:axPos val="b"/>
        <c:title>
          <c:tx>
            <c:rich>
              <a:bodyPr/>
              <a:lstStyle/>
              <a:p>
                <a:r>
                  <a:t>閉塞率 [%]</a:t>
                </a:r>
              </a:p>
            </c:rich>
          </c:tx>
          <c:layout/>
          <c:overlay val="0"/>
        </c:title>
        <c:majorTickMark val="out"/>
        <c:minorTickMark val="none"/>
        <c:tickLblPos val="nextTo"/>
        <c:crossAx val="2140495176"/>
        <c:crosses val="autoZero"/>
        <c:auto val="1"/>
        <c:lblAlgn val="ctr"/>
        <c:lblOffset val="100"/>
        <c:noMultiLvlLbl val="0"/>
      </c:catAx>
      <c:valAx>
        <c:axId val="2140495176"/>
        <c:scaling>
          <c:max val="200.0"/>
          <c:min val="0.0"/>
        </c:scaling>
        <c:delete val="0"/>
        <c:axPos val="l"/>
        <c:majorGridlines/>
        <c:title>
          <c:tx>
            <c:rich>
              <a:bodyPr/>
              <a:lstStyle/>
              <a:p>
                <a:r>
                  <a:t>差圧 [kPa]</a:t>
                </a:r>
              </a:p>
            </c:rich>
          </c:tx>
          <c:layout/>
          <c:overlay val="0"/>
        </c:title>
        <c:majorTickMark val="out"/>
        <c:minorTickMark val="none"/>
        <c:tickLblPos val="nextTo"/>
        <c:crossAx val="2118791784"/>
        <c:crosses val="autoZero"/>
      </c:valAx>
    </c:plotArea>
    <c:legend>
      <c:legendPos val="tr"/>
      <c:layout/>
      <c:overlay val="0"/>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2707A5F-A7D6-C641-8208-3E6DFDB2F4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70554B22-9586-484A-A766-0C4435114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2026/6/17</a:t>
            </a:fld>
            <a:endParaRPr kumimoji="1" lang="ja-JP" altLang="en-US"/>
          </a:p>
        </p:txBody>
      </p:sp>
      <p:sp>
        <p:nvSpPr>
          <p:cNvPr id="4" name="フッター プレースホルダー 3">
            <a:extLst>
              <a:ext uri="{FF2B5EF4-FFF2-40B4-BE49-F238E27FC236}">
                <a16:creationId xmlns:a16="http://schemas.microsoft.com/office/drawing/2014/main" id="{ED85D71E-D7E7-1E4D-A100-20172004F5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51F7FD02-B9AC-5040-9426-86C1B469DF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24202093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2026/6/17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extLst>
      <p:ext uri="{BB962C8B-B14F-4D97-AF65-F5344CB8AC3E}">
        <p14:creationId xmlns:p14="http://schemas.microsoft.com/office/powerpoint/2010/main" val="12538678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dirty="0"/>
              <a:t> </a:t>
            </a:r>
            <a:r>
              <a:rPr kumimoji="1" lang="ja-JP" altLang="en-US"/>
              <a:t>タイトル</a:t>
            </a:r>
            <a:br>
              <a:rPr kumimoji="1" lang="en-US" altLang="ja-JP" dirty="0"/>
            </a:br>
            <a:r>
              <a:rPr kumimoji="1" lang="ja-JP" altLang="en-US"/>
              <a:t>游ゴシック</a:t>
            </a:r>
            <a:r>
              <a:rPr kumimoji="1" lang="en-US" altLang="ja-JP" dirty="0"/>
              <a:t> 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13" name="テキスト ボックス 12">
            <a:extLst>
              <a:ext uri="{FF2B5EF4-FFF2-40B4-BE49-F238E27FC236}">
                <a16:creationId xmlns:a16="http://schemas.microsoft.com/office/drawing/2014/main" id="{3D317733-1BDA-7840-87EC-1AB6D30D915E}"/>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dirty="0">
              <a:solidFill>
                <a:srgbClr val="FF0000"/>
              </a:solidFill>
              <a:latin typeface="+mj-lt"/>
              <a:ea typeface="MS Gothic" panose="020B0609070205080204" pitchFamily="49" charset="-128"/>
            </a:endParaRPr>
          </a:p>
        </p:txBody>
      </p:sp>
      <p:pic>
        <p:nvPicPr>
          <p:cNvPr id="3" name="図 2" descr="テキスト&#10;&#10;中程度の精度で自動的に生成された説明">
            <a:extLst>
              <a:ext uri="{FF2B5EF4-FFF2-40B4-BE49-F238E27FC236}">
                <a16:creationId xmlns:a16="http://schemas.microsoft.com/office/drawing/2014/main" id="{64AB173A-EA3B-7645-9D0D-8E3868B4053B}"/>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36557218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1BC9BC-7E85-1F07-EBFA-39A9BB38A2B7}"/>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 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dirty="0"/>
              <a:t>三菱ケミカル株式会社　茨城事業所　企画管理部　プロセス技術</a:t>
            </a:r>
            <a:r>
              <a:rPr lang="en-US" altLang="ja-JP" dirty="0"/>
              <a:t>Gr.</a:t>
            </a:r>
            <a:endParaRPr lang="ja-JP" altLang="en-US" dirty="0"/>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530E25D7-0B34-F677-C09E-4185823DAB85}"/>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5" name="図 4" descr="テキスト&#10;&#10;中程度の精度で自動的に生成された説明">
            <a:extLst>
              <a:ext uri="{FF2B5EF4-FFF2-40B4-BE49-F238E27FC236}">
                <a16:creationId xmlns:a16="http://schemas.microsoft.com/office/drawing/2014/main" id="{59FEB064-9E10-7E77-2F7C-DF29C7A3F838}"/>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91306537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図 2" descr="アイコン&#10;&#10;低い精度で自動的に生成された説明">
            <a:extLst>
              <a:ext uri="{FF2B5EF4-FFF2-40B4-BE49-F238E27FC236}">
                <a16:creationId xmlns:a16="http://schemas.microsoft.com/office/drawing/2014/main" id="{CE14A7BB-2994-99E1-3721-81C07CB69B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
        <p:nvSpPr>
          <p:cNvPr id="5" name="テキスト ボックス 4">
            <a:extLst>
              <a:ext uri="{FF2B5EF4-FFF2-40B4-BE49-F238E27FC236}">
                <a16:creationId xmlns:a16="http://schemas.microsoft.com/office/drawing/2014/main" id="{97FBA75B-73F9-C2BD-82A5-BB1CC51D09F9}"/>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dirty="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109313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ue_circular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2" name="テキスト ボックス 1">
            <a:extLst>
              <a:ext uri="{FF2B5EF4-FFF2-40B4-BE49-F238E27FC236}">
                <a16:creationId xmlns:a16="http://schemas.microsoft.com/office/drawing/2014/main" id="{8A04B06F-2D60-B985-8CB3-2D483601C4E1}"/>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9" name="図 8" descr="図形, 円&#10;&#10;自動的に生成された説明">
            <a:extLst>
              <a:ext uri="{FF2B5EF4-FFF2-40B4-BE49-F238E27FC236}">
                <a16:creationId xmlns:a16="http://schemas.microsoft.com/office/drawing/2014/main" id="{85967991-37E0-5319-6989-F2B24BB19B23}"/>
              </a:ext>
            </a:extLst>
          </p:cNvPr>
          <p:cNvPicPr>
            <a:picLocks noChangeAspect="1"/>
          </p:cNvPicPr>
          <p:nvPr userDrawn="1"/>
        </p:nvPicPr>
        <p:blipFill>
          <a:blip r:embed="rId2"/>
          <a:stretch>
            <a:fillRect/>
          </a:stretch>
        </p:blipFill>
        <p:spPr>
          <a:xfrm>
            <a:off x="6985001" y="2545321"/>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8A86725F-A0D9-D467-03BC-7BD39E7BE052}"/>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1559958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ue_circular_section">
    <p:bg>
      <p:bgPr>
        <a:solidFill>
          <a:schemeClr val="bg1"/>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A0C2DCC8-5345-2D48-AE06-2CFCAED3F5BB}"/>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 </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5F2FE3DE-4073-143D-7B94-825F75F4A513}"/>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図形, 円&#10;&#10;自動的に生成された説明">
            <a:extLst>
              <a:ext uri="{FF2B5EF4-FFF2-40B4-BE49-F238E27FC236}">
                <a16:creationId xmlns:a16="http://schemas.microsoft.com/office/drawing/2014/main" id="{BAAA99CE-7539-35DC-129B-3103813D2787}"/>
              </a:ext>
            </a:extLst>
          </p:cNvPr>
          <p:cNvPicPr>
            <a:picLocks noChangeAspect="1"/>
          </p:cNvPicPr>
          <p:nvPr userDrawn="1"/>
        </p:nvPicPr>
        <p:blipFill>
          <a:blip r:embed="rId2"/>
          <a:stretch>
            <a:fillRect/>
          </a:stretch>
        </p:blipFill>
        <p:spPr>
          <a:xfrm>
            <a:off x="6984999"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5F45C960-2865-9B70-11B9-987BD91727B3}"/>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67784421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_circular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normAutofit/>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descr="図形&#10;&#10;低い精度で自動的に生成された説明">
            <a:extLst>
              <a:ext uri="{FF2B5EF4-FFF2-40B4-BE49-F238E27FC236}">
                <a16:creationId xmlns:a16="http://schemas.microsoft.com/office/drawing/2014/main" id="{F458B451-556C-0A77-5C7B-A5094204D86B}"/>
              </a:ext>
            </a:extLst>
          </p:cNvPr>
          <p:cNvPicPr>
            <a:picLocks noChangeAspect="1"/>
          </p:cNvPicPr>
          <p:nvPr userDrawn="1"/>
        </p:nvPicPr>
        <p:blipFill>
          <a:blip r:embed="rId2"/>
          <a:stretch>
            <a:fillRect/>
          </a:stretch>
        </p:blipFill>
        <p:spPr>
          <a:xfrm>
            <a:off x="8955855" y="4064000"/>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22166060-8B4F-1920-1513-4363D0A7B1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
        <p:nvSpPr>
          <p:cNvPr id="3" name="テキスト ボックス 2">
            <a:extLst>
              <a:ext uri="{FF2B5EF4-FFF2-40B4-BE49-F238E27FC236}">
                <a16:creationId xmlns:a16="http://schemas.microsoft.com/office/drawing/2014/main" id="{0144AC8A-33B5-1A05-F51D-90EC0A00A9FC}"/>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dirty="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235192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green_circular_cover">
    <p:bg>
      <p:bgPr>
        <a:solidFill>
          <a:schemeClr val="bg1"/>
        </a:solidFill>
        <a:effectLst/>
      </p:bgPr>
    </p:bg>
    <p:spTree>
      <p:nvGrpSpPr>
        <p:cNvPr id="1" name=""/>
        <p:cNvGrpSpPr/>
        <p:nvPr/>
      </p:nvGrpSpPr>
      <p:grpSpPr>
        <a:xfrm>
          <a:off x="0" y="0"/>
          <a:ext cx="0" cy="0"/>
          <a:chOff x="0" y="0"/>
          <a:chExt cx="0" cy="0"/>
        </a:xfrm>
      </p:grpSpPr>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2" name="テキスト ボックス 1">
            <a:extLst>
              <a:ext uri="{FF2B5EF4-FFF2-40B4-BE49-F238E27FC236}">
                <a16:creationId xmlns:a16="http://schemas.microsoft.com/office/drawing/2014/main" id="{0FD2AD1D-2D74-0BB5-DAB1-9346C04FBA6F}"/>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ランプ, 光 が含まれている画像&#10;&#10;自動的に生成された説明">
            <a:extLst>
              <a:ext uri="{FF2B5EF4-FFF2-40B4-BE49-F238E27FC236}">
                <a16:creationId xmlns:a16="http://schemas.microsoft.com/office/drawing/2014/main" id="{A9C384B3-0095-28B9-FF8B-EEA7915A51A7}"/>
              </a:ext>
            </a:extLst>
          </p:cNvPr>
          <p:cNvPicPr>
            <a:picLocks noChangeAspect="1"/>
          </p:cNvPicPr>
          <p:nvPr userDrawn="1"/>
        </p:nvPicPr>
        <p:blipFill>
          <a:blip r:embed="rId2"/>
          <a:stretch>
            <a:fillRect/>
          </a:stretch>
        </p:blipFill>
        <p:spPr>
          <a:xfrm>
            <a:off x="6985000" y="254000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D694D317-7B15-CC02-568D-38931AF913CC}"/>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85136963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green_circular_section">
    <p:bg>
      <p:bgPr>
        <a:solidFill>
          <a:schemeClr val="bg1"/>
        </a:solidFill>
        <a:effectLst/>
      </p:bgPr>
    </p:bg>
    <p:spTree>
      <p:nvGrpSpPr>
        <p:cNvPr id="1" name=""/>
        <p:cNvGrpSpPr/>
        <p:nvPr/>
      </p:nvGrpSpPr>
      <p:grpSpPr>
        <a:xfrm>
          <a:off x="0" y="0"/>
          <a:ext cx="0" cy="0"/>
          <a:chOff x="0" y="0"/>
          <a:chExt cx="0" cy="0"/>
        </a:xfrm>
      </p:grpSpPr>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6667703"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7" y="2867723"/>
            <a:ext cx="6667702"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23E43A41-1D75-BD23-DC7E-612BD213B64B}"/>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図形, 円&#10;&#10;自動的に生成された説明">
            <a:extLst>
              <a:ext uri="{FF2B5EF4-FFF2-40B4-BE49-F238E27FC236}">
                <a16:creationId xmlns:a16="http://schemas.microsoft.com/office/drawing/2014/main" id="{0B353F5B-4C3E-D949-FFA1-11F959F66C20}"/>
              </a:ext>
            </a:extLst>
          </p:cNvPr>
          <p:cNvPicPr>
            <a:picLocks noChangeAspect="1"/>
          </p:cNvPicPr>
          <p:nvPr userDrawn="1"/>
        </p:nvPicPr>
        <p:blipFill>
          <a:blip r:embed="rId2"/>
          <a:stretch>
            <a:fillRect/>
          </a:stretch>
        </p:blipFill>
        <p:spPr>
          <a:xfrm>
            <a:off x="6985000"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931474FF-EACA-45E7-2043-CE82C24343BA}"/>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20546046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photo_blue_cover">
    <p:bg>
      <p:bgPr>
        <a:solidFill>
          <a:schemeClr val="bg1"/>
        </a:solidFill>
        <a:effectLst/>
      </p:bgPr>
    </p:bg>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DDF27D8A-CF93-1DE1-A1E0-579A53D5F3DA}"/>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2" name="テキスト ボックス 1">
            <a:extLst>
              <a:ext uri="{FF2B5EF4-FFF2-40B4-BE49-F238E27FC236}">
                <a16:creationId xmlns:a16="http://schemas.microsoft.com/office/drawing/2014/main" id="{E60FAC23-4C92-4DE0-F083-427560DDC99A}"/>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7" name="図 6" descr="図形, 円&#10;&#10;自動的に生成された説明">
            <a:extLst>
              <a:ext uri="{FF2B5EF4-FFF2-40B4-BE49-F238E27FC236}">
                <a16:creationId xmlns:a16="http://schemas.microsoft.com/office/drawing/2014/main" id="{2C0B660F-651E-2CBA-22A2-45839C456B24}"/>
              </a:ext>
            </a:extLst>
          </p:cNvPr>
          <p:cNvPicPr>
            <a:picLocks noChangeAspect="1"/>
          </p:cNvPicPr>
          <p:nvPr userDrawn="1"/>
        </p:nvPicPr>
        <p:blipFill>
          <a:blip r:embed="rId3"/>
          <a:stretch>
            <a:fillRect/>
          </a:stretch>
        </p:blipFill>
        <p:spPr>
          <a:xfrm>
            <a:off x="6985000" y="2545321"/>
            <a:ext cx="5207000" cy="4318000"/>
          </a:xfrm>
          <a:prstGeom prst="rect">
            <a:avLst/>
          </a:prstGeom>
        </p:spPr>
      </p:pic>
      <p:pic>
        <p:nvPicPr>
          <p:cNvPr id="4" name="図 3" descr="テキスト&#10;&#10;中程度の精度で自動的に生成された説明">
            <a:extLst>
              <a:ext uri="{FF2B5EF4-FFF2-40B4-BE49-F238E27FC236}">
                <a16:creationId xmlns:a16="http://schemas.microsoft.com/office/drawing/2014/main" id="{F9035B74-094B-209B-142E-2F4575B9D4E6}"/>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98005266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photo_blue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50ECA10C-38C8-BAA4-70D5-31A2424404F6}"/>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527DCC5-4C04-E99F-2F99-C0F7F6AD0B94}"/>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5" name="図 4" descr="図形, 円&#10;&#10;自動的に生成された説明">
            <a:extLst>
              <a:ext uri="{FF2B5EF4-FFF2-40B4-BE49-F238E27FC236}">
                <a16:creationId xmlns:a16="http://schemas.microsoft.com/office/drawing/2014/main" id="{C8AE480A-D33F-F3D0-EB6D-229546ABF623}"/>
              </a:ext>
            </a:extLst>
          </p:cNvPr>
          <p:cNvPicPr>
            <a:picLocks noChangeAspect="1"/>
          </p:cNvPicPr>
          <p:nvPr userDrawn="1"/>
        </p:nvPicPr>
        <p:blipFill>
          <a:blip r:embed="rId3"/>
          <a:stretch>
            <a:fillRect/>
          </a:stretch>
        </p:blipFill>
        <p:spPr>
          <a:xfrm>
            <a:off x="6985000"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E1C7F703-B8C7-70F6-B82F-D0F3E51C581B}"/>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6936511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photo_green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B637127-8D27-2A9A-ED77-8C55395E8CE7}"/>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7" name="テキスト ボックス 6">
            <a:extLst>
              <a:ext uri="{FF2B5EF4-FFF2-40B4-BE49-F238E27FC236}">
                <a16:creationId xmlns:a16="http://schemas.microsoft.com/office/drawing/2014/main" id="{BAAEDEE3-8A5C-AB38-D1A5-E130459EE35E}"/>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ランプ, 光 が含まれている画像&#10;&#10;自動的に生成された説明">
            <a:extLst>
              <a:ext uri="{FF2B5EF4-FFF2-40B4-BE49-F238E27FC236}">
                <a16:creationId xmlns:a16="http://schemas.microsoft.com/office/drawing/2014/main" id="{7FE87EA2-0A02-84F3-CEDE-36468E0242DF}"/>
              </a:ext>
            </a:extLst>
          </p:cNvPr>
          <p:cNvPicPr>
            <a:picLocks noChangeAspect="1"/>
          </p:cNvPicPr>
          <p:nvPr userDrawn="1"/>
        </p:nvPicPr>
        <p:blipFill>
          <a:blip r:embed="rId3"/>
          <a:stretch>
            <a:fillRect/>
          </a:stretch>
        </p:blipFill>
        <p:spPr>
          <a:xfrm>
            <a:off x="6984999" y="254000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FA01F46E-13A7-9E58-7675-153447B1BC5C}"/>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398047381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photo_green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3AFD4A4-F749-31F6-0CF6-C2D7E621B4CE}"/>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E51AE076-D993-65D0-E8B8-91BD78009CDB}"/>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図形, 円&#10;&#10;自動的に生成された説明">
            <a:extLst>
              <a:ext uri="{FF2B5EF4-FFF2-40B4-BE49-F238E27FC236}">
                <a16:creationId xmlns:a16="http://schemas.microsoft.com/office/drawing/2014/main" id="{12A89BD8-D3A6-7B79-431B-CE770CB21B24}"/>
              </a:ext>
            </a:extLst>
          </p:cNvPr>
          <p:cNvPicPr>
            <a:picLocks noChangeAspect="1"/>
          </p:cNvPicPr>
          <p:nvPr userDrawn="1"/>
        </p:nvPicPr>
        <p:blipFill>
          <a:blip r:embed="rId3"/>
          <a:stretch>
            <a:fillRect/>
          </a:stretch>
        </p:blipFill>
        <p:spPr>
          <a:xfrm>
            <a:off x="6984999"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7AEFF0B8-9A84-F80B-92CD-AD1344C6E7E0}"/>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233208160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photo_yellow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C0EC2D82-930D-41B6-187D-C2F274A8DDD4}"/>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sp>
        <p:nvSpPr>
          <p:cNvPr id="7" name="テキスト ボックス 6">
            <a:extLst>
              <a:ext uri="{FF2B5EF4-FFF2-40B4-BE49-F238E27FC236}">
                <a16:creationId xmlns:a16="http://schemas.microsoft.com/office/drawing/2014/main" id="{3533DDFF-0A76-1642-661D-FC398C3F2AD5}"/>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ランプ, ポール, 座る, 男 が含まれている画像&#10;&#10;自動的に生成された説明">
            <a:extLst>
              <a:ext uri="{FF2B5EF4-FFF2-40B4-BE49-F238E27FC236}">
                <a16:creationId xmlns:a16="http://schemas.microsoft.com/office/drawing/2014/main" id="{69B991B3-A4EE-4E2F-A072-61D5B5DFE92D}"/>
              </a:ext>
            </a:extLst>
          </p:cNvPr>
          <p:cNvPicPr>
            <a:picLocks noChangeAspect="1"/>
          </p:cNvPicPr>
          <p:nvPr userDrawn="1"/>
        </p:nvPicPr>
        <p:blipFill>
          <a:blip r:embed="rId3"/>
          <a:stretch>
            <a:fillRect/>
          </a:stretch>
        </p:blipFill>
        <p:spPr>
          <a:xfrm>
            <a:off x="6984999" y="254000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889672A9-3F3D-4BBC-648C-70C5A75DED38}"/>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01180776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photo_yellow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9097306-CA26-F0EE-D450-5D81EE9CCE24}"/>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14B040E-3965-1B9C-AB97-144C8B641E19}"/>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ケーブル, コネクタ, 結び目, ネックレス が含まれている画像&#10;&#10;自動的に生成された説明">
            <a:extLst>
              <a:ext uri="{FF2B5EF4-FFF2-40B4-BE49-F238E27FC236}">
                <a16:creationId xmlns:a16="http://schemas.microsoft.com/office/drawing/2014/main" id="{740EFBEE-C6CF-F51A-AA85-BA53F5EAB454}"/>
              </a:ext>
            </a:extLst>
          </p:cNvPr>
          <p:cNvPicPr>
            <a:picLocks noChangeAspect="1"/>
          </p:cNvPicPr>
          <p:nvPr userDrawn="1"/>
        </p:nvPicPr>
        <p:blipFill>
          <a:blip r:embed="rId3"/>
          <a:stretch>
            <a:fillRect/>
          </a:stretch>
        </p:blipFill>
        <p:spPr>
          <a:xfrm>
            <a:off x="6985000" y="-9071"/>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915A59F2-15A2-E96E-F771-46EC3B4B100D}"/>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41757299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dirty="0"/>
              <a:t> </a:t>
            </a:r>
            <a:r>
              <a:rPr kumimoji="1" lang="ja-JP" altLang="en-US"/>
              <a:t>タイトル</a:t>
            </a:r>
            <a:br>
              <a:rPr kumimoji="1" lang="en-US" altLang="ja-JP" dirty="0"/>
            </a:br>
            <a:r>
              <a:rPr kumimoji="1" lang="ja-JP" altLang="en-US"/>
              <a:t>游ゴシック</a:t>
            </a:r>
            <a:r>
              <a:rPr kumimoji="1" lang="en-US" altLang="ja-JP" dirty="0"/>
              <a:t> 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3" name="図 2" descr="テキスト&#10;&#10;中程度の精度で自動的に生成された説明">
            <a:extLst>
              <a:ext uri="{FF2B5EF4-FFF2-40B4-BE49-F238E27FC236}">
                <a16:creationId xmlns:a16="http://schemas.microsoft.com/office/drawing/2014/main" id="{64AB173A-EA3B-7645-9D0D-8E3868B4053B}"/>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279248423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1BC9BC-7E85-1F07-EBFA-39A9BB38A2B7}"/>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 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dirty="0"/>
              <a:t>三菱ケミカル株式会社　茨城事業所　企画管理部　プロセス技術</a:t>
            </a:r>
            <a:r>
              <a:rPr lang="en-US" altLang="ja-JP" dirty="0"/>
              <a:t>Gr.</a:t>
            </a:r>
            <a:endParaRPr lang="ja-JP" altLang="en-US" dirty="0"/>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図 4" descr="テキスト&#10;&#10;中程度の精度で自動的に生成された説明">
            <a:extLst>
              <a:ext uri="{FF2B5EF4-FFF2-40B4-BE49-F238E27FC236}">
                <a16:creationId xmlns:a16="http://schemas.microsoft.com/office/drawing/2014/main" id="{59FEB064-9E10-7E77-2F7C-DF29C7A3F838}"/>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256102086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dirty="0"/>
              <a:t>三菱ケミカル株式会社　茨城事業所　企画管理部　プロセス技術</a:t>
            </a:r>
            <a:r>
              <a:rPr lang="en-US" altLang="ja-JP" dirty="0"/>
              <a:t>Gr.</a:t>
            </a:r>
            <a:endParaRPr lang="ja-JP" altLang="en-US" dirty="0"/>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図 2" descr="アイコン&#10;&#10;低い精度で自動的に生成された説明">
            <a:extLst>
              <a:ext uri="{FF2B5EF4-FFF2-40B4-BE49-F238E27FC236}">
                <a16:creationId xmlns:a16="http://schemas.microsoft.com/office/drawing/2014/main" id="{CE14A7BB-2994-99E1-3721-81C07CB69B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9527298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lue_circular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9" name="図 8" descr="図形, 円&#10;&#10;自動的に生成された説明">
            <a:extLst>
              <a:ext uri="{FF2B5EF4-FFF2-40B4-BE49-F238E27FC236}">
                <a16:creationId xmlns:a16="http://schemas.microsoft.com/office/drawing/2014/main" id="{85967991-37E0-5319-6989-F2B24BB19B23}"/>
              </a:ext>
            </a:extLst>
          </p:cNvPr>
          <p:cNvPicPr>
            <a:picLocks noChangeAspect="1"/>
          </p:cNvPicPr>
          <p:nvPr userDrawn="1"/>
        </p:nvPicPr>
        <p:blipFill>
          <a:blip r:embed="rId2"/>
          <a:stretch>
            <a:fillRect/>
          </a:stretch>
        </p:blipFill>
        <p:spPr>
          <a:xfrm>
            <a:off x="6985000" y="2545321"/>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8A86725F-A0D9-D467-03BC-7BD39E7BE052}"/>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116147159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blue_circular_section">
    <p:bg>
      <p:bgPr>
        <a:solidFill>
          <a:schemeClr val="bg1"/>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A0C2DCC8-5345-2D48-AE06-2CFCAED3F5BB}"/>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 </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図 7" descr="図形, 円&#10;&#10;自動的に生成された説明">
            <a:extLst>
              <a:ext uri="{FF2B5EF4-FFF2-40B4-BE49-F238E27FC236}">
                <a16:creationId xmlns:a16="http://schemas.microsoft.com/office/drawing/2014/main" id="{BAAA99CE-7539-35DC-129B-3103813D2787}"/>
              </a:ext>
            </a:extLst>
          </p:cNvPr>
          <p:cNvPicPr>
            <a:picLocks noChangeAspect="1"/>
          </p:cNvPicPr>
          <p:nvPr userDrawn="1"/>
        </p:nvPicPr>
        <p:blipFill>
          <a:blip r:embed="rId2"/>
          <a:stretch>
            <a:fillRect/>
          </a:stretch>
        </p:blipFill>
        <p:spPr>
          <a:xfrm>
            <a:off x="6984999"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5F45C960-2865-9B70-11B9-987BD91727B3}"/>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420784572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blue_circular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normAutofit/>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descr="図形&#10;&#10;低い精度で自動的に生成された説明">
            <a:extLst>
              <a:ext uri="{FF2B5EF4-FFF2-40B4-BE49-F238E27FC236}">
                <a16:creationId xmlns:a16="http://schemas.microsoft.com/office/drawing/2014/main" id="{F458B451-556C-0A77-5C7B-A5094204D86B}"/>
              </a:ext>
            </a:extLst>
          </p:cNvPr>
          <p:cNvPicPr>
            <a:picLocks noChangeAspect="1"/>
          </p:cNvPicPr>
          <p:nvPr userDrawn="1"/>
        </p:nvPicPr>
        <p:blipFill>
          <a:blip r:embed="rId2"/>
          <a:stretch>
            <a:fillRect/>
          </a:stretch>
        </p:blipFill>
        <p:spPr>
          <a:xfrm>
            <a:off x="9019690" y="4071257"/>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22166060-8B4F-1920-1513-4363D0A7B1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41962332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green_circular_cover">
    <p:bg>
      <p:bgPr>
        <a:solidFill>
          <a:schemeClr val="bg1"/>
        </a:solidFill>
        <a:effectLst/>
      </p:bgPr>
    </p:bg>
    <p:spTree>
      <p:nvGrpSpPr>
        <p:cNvPr id="1" name=""/>
        <p:cNvGrpSpPr/>
        <p:nvPr/>
      </p:nvGrpSpPr>
      <p:grpSpPr>
        <a:xfrm>
          <a:off x="0" y="0"/>
          <a:ext cx="0" cy="0"/>
          <a:chOff x="0" y="0"/>
          <a:chExt cx="0" cy="0"/>
        </a:xfrm>
      </p:grpSpPr>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8" name="図 7" descr="ランプ, 光 が含まれている画像&#10;&#10;自動的に生成された説明">
            <a:extLst>
              <a:ext uri="{FF2B5EF4-FFF2-40B4-BE49-F238E27FC236}">
                <a16:creationId xmlns:a16="http://schemas.microsoft.com/office/drawing/2014/main" id="{A9C384B3-0095-28B9-FF8B-EEA7915A51A7}"/>
              </a:ext>
            </a:extLst>
          </p:cNvPr>
          <p:cNvPicPr>
            <a:picLocks noChangeAspect="1"/>
          </p:cNvPicPr>
          <p:nvPr userDrawn="1"/>
        </p:nvPicPr>
        <p:blipFill>
          <a:blip r:embed="rId2"/>
          <a:stretch>
            <a:fillRect/>
          </a:stretch>
        </p:blipFill>
        <p:spPr>
          <a:xfrm>
            <a:off x="6985000" y="254000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D694D317-7B15-CC02-568D-38931AF913CC}"/>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73396161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green_circular_section">
    <p:bg>
      <p:bgPr>
        <a:solidFill>
          <a:schemeClr val="bg1"/>
        </a:solidFill>
        <a:effectLst/>
      </p:bgPr>
    </p:bg>
    <p:spTree>
      <p:nvGrpSpPr>
        <p:cNvPr id="1" name=""/>
        <p:cNvGrpSpPr/>
        <p:nvPr/>
      </p:nvGrpSpPr>
      <p:grpSpPr>
        <a:xfrm>
          <a:off x="0" y="0"/>
          <a:ext cx="0" cy="0"/>
          <a:chOff x="0" y="0"/>
          <a:chExt cx="0" cy="0"/>
        </a:xfrm>
      </p:grpSpPr>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6667703"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7" y="2867723"/>
            <a:ext cx="6667702"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図 7" descr="図形, 円&#10;&#10;自動的に生成された説明">
            <a:extLst>
              <a:ext uri="{FF2B5EF4-FFF2-40B4-BE49-F238E27FC236}">
                <a16:creationId xmlns:a16="http://schemas.microsoft.com/office/drawing/2014/main" id="{0B353F5B-4C3E-D949-FFA1-11F959F66C20}"/>
              </a:ext>
            </a:extLst>
          </p:cNvPr>
          <p:cNvPicPr>
            <a:picLocks noChangeAspect="1"/>
          </p:cNvPicPr>
          <p:nvPr userDrawn="1"/>
        </p:nvPicPr>
        <p:blipFill>
          <a:blip r:embed="rId2"/>
          <a:stretch>
            <a:fillRect/>
          </a:stretch>
        </p:blipFill>
        <p:spPr>
          <a:xfrm>
            <a:off x="6985000"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931474FF-EACA-45E7-2043-CE82C24343BA}"/>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22560373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photo_blue_cover">
    <p:bg>
      <p:bgPr>
        <a:solidFill>
          <a:schemeClr val="bg1"/>
        </a:solidFill>
        <a:effectLst/>
      </p:bgPr>
    </p:bg>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DDF27D8A-CF93-1DE1-A1E0-579A53D5F3DA}"/>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7" name="図 6" descr="図形, 円&#10;&#10;自動的に生成された説明">
            <a:extLst>
              <a:ext uri="{FF2B5EF4-FFF2-40B4-BE49-F238E27FC236}">
                <a16:creationId xmlns:a16="http://schemas.microsoft.com/office/drawing/2014/main" id="{2C0B660F-651E-2CBA-22A2-45839C456B24}"/>
              </a:ext>
            </a:extLst>
          </p:cNvPr>
          <p:cNvPicPr>
            <a:picLocks noChangeAspect="1"/>
          </p:cNvPicPr>
          <p:nvPr userDrawn="1"/>
        </p:nvPicPr>
        <p:blipFill>
          <a:blip r:embed="rId3"/>
          <a:stretch>
            <a:fillRect/>
          </a:stretch>
        </p:blipFill>
        <p:spPr>
          <a:xfrm>
            <a:off x="6985000" y="2545321"/>
            <a:ext cx="5207000" cy="4318000"/>
          </a:xfrm>
          <a:prstGeom prst="rect">
            <a:avLst/>
          </a:prstGeom>
        </p:spPr>
      </p:pic>
      <p:pic>
        <p:nvPicPr>
          <p:cNvPr id="4" name="図 3" descr="テキスト&#10;&#10;中程度の精度で自動的に生成された説明">
            <a:extLst>
              <a:ext uri="{FF2B5EF4-FFF2-40B4-BE49-F238E27FC236}">
                <a16:creationId xmlns:a16="http://schemas.microsoft.com/office/drawing/2014/main" id="{F9035B74-094B-209B-142E-2F4575B9D4E6}"/>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3004723792"/>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photo_blue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50ECA10C-38C8-BAA4-70D5-31A2424404F6}"/>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図 4" descr="図形, 円&#10;&#10;自動的に生成された説明">
            <a:extLst>
              <a:ext uri="{FF2B5EF4-FFF2-40B4-BE49-F238E27FC236}">
                <a16:creationId xmlns:a16="http://schemas.microsoft.com/office/drawing/2014/main" id="{C8AE480A-D33F-F3D0-EB6D-229546ABF623}"/>
              </a:ext>
            </a:extLst>
          </p:cNvPr>
          <p:cNvPicPr>
            <a:picLocks noChangeAspect="1"/>
          </p:cNvPicPr>
          <p:nvPr userDrawn="1"/>
        </p:nvPicPr>
        <p:blipFill>
          <a:blip r:embed="rId3"/>
          <a:stretch>
            <a:fillRect/>
          </a:stretch>
        </p:blipFill>
        <p:spPr>
          <a:xfrm>
            <a:off x="6985000"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E1C7F703-B8C7-70F6-B82F-D0F3E51C581B}"/>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88201645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photo_green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B637127-8D27-2A9A-ED77-8C55395E8CE7}"/>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6" name="図 5" descr="ランプ, 光 が含まれている画像&#10;&#10;自動的に生成された説明">
            <a:extLst>
              <a:ext uri="{FF2B5EF4-FFF2-40B4-BE49-F238E27FC236}">
                <a16:creationId xmlns:a16="http://schemas.microsoft.com/office/drawing/2014/main" id="{7FE87EA2-0A02-84F3-CEDE-36468E0242DF}"/>
              </a:ext>
            </a:extLst>
          </p:cNvPr>
          <p:cNvPicPr>
            <a:picLocks noChangeAspect="1"/>
          </p:cNvPicPr>
          <p:nvPr userDrawn="1"/>
        </p:nvPicPr>
        <p:blipFill>
          <a:blip r:embed="rId3"/>
          <a:stretch>
            <a:fillRect/>
          </a:stretch>
        </p:blipFill>
        <p:spPr>
          <a:xfrm>
            <a:off x="6985000" y="254000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FA01F46E-13A7-9E58-7675-153447B1BC5C}"/>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1529338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photo_green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3AFD4A4-F749-31F6-0CF6-C2D7E621B4CE}"/>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図 5" descr="図形, 円&#10;&#10;自動的に生成された説明">
            <a:extLst>
              <a:ext uri="{FF2B5EF4-FFF2-40B4-BE49-F238E27FC236}">
                <a16:creationId xmlns:a16="http://schemas.microsoft.com/office/drawing/2014/main" id="{12A89BD8-D3A6-7B79-431B-CE770CB21B24}"/>
              </a:ext>
            </a:extLst>
          </p:cNvPr>
          <p:cNvPicPr>
            <a:picLocks noChangeAspect="1"/>
          </p:cNvPicPr>
          <p:nvPr userDrawn="1"/>
        </p:nvPicPr>
        <p:blipFill>
          <a:blip r:embed="rId3"/>
          <a:stretch>
            <a:fillRect/>
          </a:stretch>
        </p:blipFill>
        <p:spPr>
          <a:xfrm>
            <a:off x="6984999"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7AEFF0B8-9A84-F80B-92CD-AD1344C6E7E0}"/>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225213594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photo_yellow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C0EC2D82-930D-41B6-187D-C2F274A8DDD4}"/>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dirty="0"/>
              <a:t> </a:t>
            </a:r>
            <a:br>
              <a:rPr kumimoji="1" lang="en-US" altLang="ja-JP" dirty="0"/>
            </a:br>
            <a:r>
              <a:rPr kumimoji="1" lang="ja-JP" altLang="en-US"/>
              <a:t>游ゴシック </a:t>
            </a:r>
            <a:r>
              <a:rPr kumimoji="1" lang="en-US" altLang="ja-JP" dirty="0"/>
              <a:t>Bold 42pt </a:t>
            </a:r>
            <a:br>
              <a:rPr kumimoji="1" lang="en-US" altLang="ja-JP" dirty="0"/>
            </a:br>
            <a:r>
              <a:rPr kumimoji="1" lang="ja-JP" altLang="en-US"/>
              <a:t>行間</a:t>
            </a:r>
            <a:r>
              <a:rPr kumimoji="1" lang="en-US" altLang="ja-JP" dirty="0"/>
              <a:t>0.95</a:t>
            </a:r>
            <a:endParaRPr kumimoji="1" lang="ja-JP" altLang="en-US" dirty="0"/>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 / </a:t>
            </a:r>
            <a:r>
              <a:rPr kumimoji="1" lang="ja-JP" altLang="en-US"/>
              <a:t>行間</a:t>
            </a:r>
            <a:r>
              <a:rPr kumimoji="1" lang="en-US" altLang="ja-JP" dirty="0"/>
              <a:t>1</a:t>
            </a:r>
            <a:br>
              <a:rPr kumimoji="1" lang="en-US" altLang="ja-JP" dirty="0"/>
            </a:br>
            <a:r>
              <a:rPr kumimoji="1" lang="ja-JP" altLang="en-US"/>
              <a:t>日付　　＊社外向け資料には、サブタイトル内に自社名を必ず記入してください。</a:t>
            </a:r>
            <a:endParaRPr kumimoji="1" lang="en-US" altLang="ja-JP" dirty="0"/>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dirty="0"/>
              <a:t> </a:t>
            </a:r>
            <a:r>
              <a:rPr kumimoji="1" lang="ja-JP" altLang="en-US"/>
              <a:t>游ゴシック </a:t>
            </a:r>
            <a:r>
              <a:rPr kumimoji="1" lang="en-US" altLang="ja-JP" dirty="0"/>
              <a:t>Medium 24pt</a:t>
            </a:r>
            <a:endParaRPr kumimoji="1" lang="ja-JP" altLang="en-US" dirty="0"/>
          </a:p>
        </p:txBody>
      </p:sp>
      <p:pic>
        <p:nvPicPr>
          <p:cNvPr id="6" name="図 5" descr="ランプ, ポール, 座る, 男 が含まれている画像&#10;&#10;自動的に生成された説明">
            <a:extLst>
              <a:ext uri="{FF2B5EF4-FFF2-40B4-BE49-F238E27FC236}">
                <a16:creationId xmlns:a16="http://schemas.microsoft.com/office/drawing/2014/main" id="{69B991B3-A4EE-4E2F-A072-61D5B5DFE92D}"/>
              </a:ext>
            </a:extLst>
          </p:cNvPr>
          <p:cNvPicPr>
            <a:picLocks noChangeAspect="1"/>
          </p:cNvPicPr>
          <p:nvPr userDrawn="1"/>
        </p:nvPicPr>
        <p:blipFill>
          <a:blip r:embed="rId3"/>
          <a:stretch>
            <a:fillRect/>
          </a:stretch>
        </p:blipFill>
        <p:spPr>
          <a:xfrm>
            <a:off x="6985000" y="2545321"/>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889672A9-3F3D-4BBC-648C-70C5A75DED38}"/>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383539809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photo_yellow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9097306-CA26-F0EE-D450-5D81EE9CCE24}"/>
              </a:ext>
            </a:extLst>
          </p:cNvPr>
          <p:cNvPicPr>
            <a:picLocks noChangeAspect="1"/>
          </p:cNvPicPr>
          <p:nvPr userDrawn="1"/>
        </p:nvPicPr>
        <p:blipFill>
          <a:blip r:embed="rId2"/>
          <a:srcRect t="56" b="56"/>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dirty="0"/>
              <a:t> </a:t>
            </a:r>
            <a:r>
              <a:rPr kumimoji="1" lang="ja-JP" altLang="en-US"/>
              <a:t>游ゴシック </a:t>
            </a:r>
            <a:r>
              <a:rPr kumimoji="1" lang="en-US" altLang="ja-JP" dirty="0"/>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dirty="0"/>
            </a:br>
            <a:r>
              <a:rPr lang="ja-JP" altLang="en-US" sz="4000"/>
              <a:t>游ゴシック</a:t>
            </a:r>
            <a:r>
              <a:rPr lang="en-US" altLang="ja-JP" sz="4000" dirty="0"/>
              <a:t>Bold 40pt / </a:t>
            </a:r>
            <a:r>
              <a:rPr lang="ja-JP" altLang="en-US" sz="4000"/>
              <a:t>行間</a:t>
            </a:r>
            <a:r>
              <a:rPr lang="en-US" altLang="ja-JP" sz="4000" dirty="0"/>
              <a:t>1</a:t>
            </a:r>
            <a:endParaRPr kumimoji="1" lang="ja-JP" altLang="en-US" dirty="0"/>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図 5" descr="ケーブル, コネクタ, 結び目, ネックレス が含まれている画像&#10;&#10;自動的に生成された説明">
            <a:extLst>
              <a:ext uri="{FF2B5EF4-FFF2-40B4-BE49-F238E27FC236}">
                <a16:creationId xmlns:a16="http://schemas.microsoft.com/office/drawing/2014/main" id="{740EFBEE-C6CF-F51A-AA85-BA53F5EAB454}"/>
              </a:ext>
            </a:extLst>
          </p:cNvPr>
          <p:cNvPicPr>
            <a:picLocks noChangeAspect="1"/>
          </p:cNvPicPr>
          <p:nvPr userDrawn="1"/>
        </p:nvPicPr>
        <p:blipFill>
          <a:blip r:embed="rId3"/>
          <a:stretch>
            <a:fillRect/>
          </a:stretch>
        </p:blipFill>
        <p:spPr>
          <a:xfrm>
            <a:off x="6985000" y="-9071"/>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915A59F2-15A2-E96E-F771-46EC3B4B100D}"/>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391505298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Green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図 4" descr="アイコン&#10;&#10;低い精度で自動的に生成された説明">
            <a:extLst>
              <a:ext uri="{FF2B5EF4-FFF2-40B4-BE49-F238E27FC236}">
                <a16:creationId xmlns:a16="http://schemas.microsoft.com/office/drawing/2014/main" id="{FF0E6664-F39E-E2E4-35D2-96706015AD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
        <p:nvSpPr>
          <p:cNvPr id="3" name="テキスト ボックス 2">
            <a:extLst>
              <a:ext uri="{FF2B5EF4-FFF2-40B4-BE49-F238E27FC236}">
                <a16:creationId xmlns:a16="http://schemas.microsoft.com/office/drawing/2014/main" id="{FA622023-E1FB-4EAE-2A34-9A027BBB5CB3}"/>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dirty="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13987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green_circular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Green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descr="図形&#10;&#10;中程度の精度で自動的に生成された説明">
            <a:extLst>
              <a:ext uri="{FF2B5EF4-FFF2-40B4-BE49-F238E27FC236}">
                <a16:creationId xmlns:a16="http://schemas.microsoft.com/office/drawing/2014/main" id="{C69D6576-8772-E9C9-93AC-25EDDE921743}"/>
              </a:ext>
            </a:extLst>
          </p:cNvPr>
          <p:cNvPicPr>
            <a:picLocks noChangeAspect="1"/>
          </p:cNvPicPr>
          <p:nvPr userDrawn="1"/>
        </p:nvPicPr>
        <p:blipFill>
          <a:blip r:embed="rId2"/>
          <a:stretch>
            <a:fillRect/>
          </a:stretch>
        </p:blipFill>
        <p:spPr>
          <a:xfrm>
            <a:off x="9017000" y="4064000"/>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3DF79D47-C70C-2A14-95D5-58B9F72791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
        <p:nvSpPr>
          <p:cNvPr id="3" name="テキスト ボックス 2">
            <a:extLst>
              <a:ext uri="{FF2B5EF4-FFF2-40B4-BE49-F238E27FC236}">
                <a16:creationId xmlns:a16="http://schemas.microsoft.com/office/drawing/2014/main" id="{0A2AC2B7-03B4-4678-DBB5-2564949C5CC8}"/>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dirty="0">
                <a:solidFill>
                  <a:srgbClr val="FF0000"/>
                </a:solidFill>
                <a:latin typeface="+mj-lt"/>
                <a:ea typeface="MS Gothic" panose="020B0609070205080204" pitchFamily="49" charset="-128"/>
              </a:rPr>
              <a:t>CONFIDENTIAL</a:t>
            </a:r>
            <a:endParaRPr kumimoji="1" lang="ja-JP" altLang="en-US" sz="1100" b="0" i="0" dirty="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38469890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Green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図 4" descr="アイコン&#10;&#10;低い精度で自動的に生成された説明">
            <a:extLst>
              <a:ext uri="{FF2B5EF4-FFF2-40B4-BE49-F238E27FC236}">
                <a16:creationId xmlns:a16="http://schemas.microsoft.com/office/drawing/2014/main" id="{FF0E6664-F39E-E2E4-35D2-96706015AD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18154889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green_circular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dirty="0"/>
              <a:t> </a:t>
            </a:r>
            <a:r>
              <a:rPr kumimoji="1" lang="ja-JP" altLang="en-US"/>
              <a:t>游ゴシック</a:t>
            </a:r>
            <a:r>
              <a:rPr kumimoji="1" lang="en-US" altLang="ja-JP" dirty="0"/>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dirty="0"/>
              <a:t> </a:t>
            </a:r>
            <a:r>
              <a:rPr kumimoji="1" lang="ja-JP" altLang="en-US"/>
              <a:t>游ゴシック </a:t>
            </a:r>
            <a:r>
              <a:rPr kumimoji="1" lang="en-US" altLang="ja-JP" dirty="0"/>
              <a:t>Medium 16pt / </a:t>
            </a:r>
            <a:r>
              <a:rPr kumimoji="1" lang="ja-JP" altLang="en-US"/>
              <a:t>行間</a:t>
            </a:r>
            <a:r>
              <a:rPr kumimoji="1" lang="en-US" altLang="ja-JP" dirty="0"/>
              <a:t>1.5</a:t>
            </a:r>
            <a:br>
              <a:rPr kumimoji="1" lang="en-US" altLang="ja-JP" dirty="0"/>
            </a:br>
            <a:r>
              <a:rPr kumimoji="1" lang="ja-JP" altLang="en-US"/>
              <a:t>テーマカラー：</a:t>
            </a:r>
            <a:r>
              <a:rPr kumimoji="1" lang="en-US" altLang="ja-JP" dirty="0"/>
              <a:t>Green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descr="図形&#10;&#10;中程度の精度で自動的に生成された説明">
            <a:extLst>
              <a:ext uri="{FF2B5EF4-FFF2-40B4-BE49-F238E27FC236}">
                <a16:creationId xmlns:a16="http://schemas.microsoft.com/office/drawing/2014/main" id="{C69D6576-8772-E9C9-93AC-25EDDE921743}"/>
              </a:ext>
            </a:extLst>
          </p:cNvPr>
          <p:cNvPicPr>
            <a:picLocks noChangeAspect="1"/>
          </p:cNvPicPr>
          <p:nvPr userDrawn="1"/>
        </p:nvPicPr>
        <p:blipFill>
          <a:blip r:embed="rId2"/>
          <a:stretch>
            <a:fillRect/>
          </a:stretch>
        </p:blipFill>
        <p:spPr>
          <a:xfrm>
            <a:off x="9017000" y="4064000"/>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3DF79D47-C70C-2A14-95D5-58B9F72791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8421858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8" name="フッター プレースホルダー 2">
            <a:extLst>
              <a:ext uri="{FF2B5EF4-FFF2-40B4-BE49-F238E27FC236}">
                <a16:creationId xmlns:a16="http://schemas.microsoft.com/office/drawing/2014/main" id="{793D33C9-6286-93AD-F690-DD106EE41887}"/>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dirty="0"/>
              <a:t>三菱ケミカル株式会社　茨城事業所　企画管理部　プロセス技術</a:t>
            </a:r>
            <a:r>
              <a:rPr lang="en-US" altLang="ja-JP" dirty="0"/>
              <a:t>Gr.</a:t>
            </a:r>
            <a:endParaRPr lang="ja-JP" altLang="en-US" dirty="0"/>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5" name="タイトル プレースホルダー 4">
            <a:extLst>
              <a:ext uri="{FF2B5EF4-FFF2-40B4-BE49-F238E27FC236}">
                <a16:creationId xmlns:a16="http://schemas.microsoft.com/office/drawing/2014/main" id="{20757BDD-7C5A-9847-972C-E62918DA2709}"/>
              </a:ext>
            </a:extLst>
          </p:cNvPr>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DAEC7C21-0104-334A-9DA4-A217535898C9}"/>
              </a:ext>
            </a:extLst>
          </p:cNvPr>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696390841"/>
      </p:ext>
    </p:extLst>
  </p:cSld>
  <p:clrMap bg1="lt1" tx1="dk1" bg2="lt2" tx2="dk2" accent1="accent1" accent2="accent2" accent3="accent3" accent4="accent4" accent5="accent5" accent6="accent6" hlink="hlink" folHlink="folHlink"/>
  <p:sldLayoutIdLst>
    <p:sldLayoutId id="2147483821" r:id="rId1"/>
    <p:sldLayoutId id="2147483858" r:id="rId2"/>
    <p:sldLayoutId id="2147483864" r:id="rId3"/>
    <p:sldLayoutId id="2147483862" r:id="rId4"/>
    <p:sldLayoutId id="2147483863" r:id="rId5"/>
    <p:sldLayoutId id="2147483859" r:id="rId6"/>
    <p:sldLayoutId id="2147483874" r:id="rId7"/>
    <p:sldLayoutId id="2147483875" r:id="rId8"/>
    <p:sldLayoutId id="2147483880" r:id="rId9"/>
    <p:sldLayoutId id="2147483881" r:id="rId10"/>
    <p:sldLayoutId id="2147483888" r:id="rId11"/>
    <p:sldLayoutId id="2147483890" r:id="rId12"/>
    <p:sldLayoutId id="2147483885" r:id="rId13"/>
    <p:sldLayoutId id="2147483886" r:id="rId14"/>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5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75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75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75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9" userDrawn="1">
          <p15:clr>
            <a:srgbClr val="F26B43"/>
          </p15:clr>
        </p15:guide>
        <p15:guide id="2" pos="3840" userDrawn="1">
          <p15:clr>
            <a:srgbClr val="F26B43"/>
          </p15:clr>
        </p15:guide>
        <p15:guide id="4" pos="7537" userDrawn="1">
          <p15:clr>
            <a:srgbClr val="F26B43"/>
          </p15:clr>
        </p15:guide>
        <p15:guide id="5" pos="2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8" name="フッター プレースホルダー 2">
            <a:extLst>
              <a:ext uri="{FF2B5EF4-FFF2-40B4-BE49-F238E27FC236}">
                <a16:creationId xmlns:a16="http://schemas.microsoft.com/office/drawing/2014/main" id="{793D33C9-6286-93AD-F690-DD106EE41887}"/>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5" name="タイトル プレースホルダー 4">
            <a:extLst>
              <a:ext uri="{FF2B5EF4-FFF2-40B4-BE49-F238E27FC236}">
                <a16:creationId xmlns:a16="http://schemas.microsoft.com/office/drawing/2014/main" id="{20757BDD-7C5A-9847-972C-E62918DA2709}"/>
              </a:ext>
            </a:extLst>
          </p:cNvPr>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DAEC7C21-0104-334A-9DA4-A217535898C9}"/>
              </a:ext>
            </a:extLst>
          </p:cNvPr>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マスター テキストの書式設定</a:t>
            </a:r>
          </a:p>
          <a:p>
            <a:pPr marL="645750"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2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00575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3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365750"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4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72575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5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p:txBody>
      </p:sp>
    </p:spTree>
    <p:extLst>
      <p:ext uri="{BB962C8B-B14F-4D97-AF65-F5344CB8AC3E}">
        <p14:creationId xmlns:p14="http://schemas.microsoft.com/office/powerpoint/2010/main" val="3522324436"/>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9" userDrawn="1">
          <p15:clr>
            <a:srgbClr val="F26B43"/>
          </p15:clr>
        </p15:guide>
        <p15:guide id="2" pos="3840" userDrawn="1">
          <p15:clr>
            <a:srgbClr val="F26B43"/>
          </p15:clr>
        </p15:guide>
        <p15:guide id="4" pos="7537" userDrawn="1">
          <p15:clr>
            <a:srgbClr val="F26B43"/>
          </p15:clr>
        </p15:guide>
        <p15:guide id="5" pos="25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8" name="フッター プレースホルダー 2">
            <a:extLst>
              <a:ext uri="{FF2B5EF4-FFF2-40B4-BE49-F238E27FC236}">
                <a16:creationId xmlns:a16="http://schemas.microsoft.com/office/drawing/2014/main" id="{793D33C9-6286-93AD-F690-DD106EE41887}"/>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5" name="タイトル プレースホルダー 4">
            <a:extLst>
              <a:ext uri="{FF2B5EF4-FFF2-40B4-BE49-F238E27FC236}">
                <a16:creationId xmlns:a16="http://schemas.microsoft.com/office/drawing/2014/main" id="{20757BDD-7C5A-9847-972C-E62918DA2709}"/>
              </a:ext>
            </a:extLst>
          </p:cNvPr>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DAEC7C21-0104-334A-9DA4-A217535898C9}"/>
              </a:ext>
            </a:extLst>
          </p:cNvPr>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マスター テキストの書式設定</a:t>
            </a:r>
          </a:p>
          <a:p>
            <a:pPr marL="645750"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2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00575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3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365750"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4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72575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5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p:txBody>
      </p:sp>
    </p:spTree>
    <p:extLst>
      <p:ext uri="{BB962C8B-B14F-4D97-AF65-F5344CB8AC3E}">
        <p14:creationId xmlns:p14="http://schemas.microsoft.com/office/powerpoint/2010/main" val="700818174"/>
      </p:ext>
    </p:extLst>
  </p:cSld>
  <p:clrMap bg1="lt1" tx1="dk1" bg2="lt2" tx2="dk2" accent1="accent1" accent2="accent2" accent3="accent3" accent4="accent4" accent5="accent5" accent6="accent6" hlink="hlink" folHlink="folHlink"/>
  <p:sldLayoutIdLst>
    <p:sldLayoutId id="2147483895" r:id="rId1"/>
    <p:sldLayoutId id="2147483901" r:id="rId2"/>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9" userDrawn="1">
          <p15:clr>
            <a:srgbClr val="F26B43"/>
          </p15:clr>
        </p15:guide>
        <p15:guide id="2" pos="3840" userDrawn="1">
          <p15:clr>
            <a:srgbClr val="F26B43"/>
          </p15:clr>
        </p15:guide>
        <p15:guide id="4" pos="7537" userDrawn="1">
          <p15:clr>
            <a:srgbClr val="F26B43"/>
          </p15:clr>
        </p15:guide>
        <p15:guide id="5" pos="25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8" name="フッター プレースホルダー 2">
            <a:extLst>
              <a:ext uri="{FF2B5EF4-FFF2-40B4-BE49-F238E27FC236}">
                <a16:creationId xmlns:a16="http://schemas.microsoft.com/office/drawing/2014/main" id="{793D33C9-6286-93AD-F690-DD106EE41887}"/>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endParaRPr lang="ja-JP" altLang="en-US"/>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5" name="タイトル プレースホルダー 4">
            <a:extLst>
              <a:ext uri="{FF2B5EF4-FFF2-40B4-BE49-F238E27FC236}">
                <a16:creationId xmlns:a16="http://schemas.microsoft.com/office/drawing/2014/main" id="{20757BDD-7C5A-9847-972C-E62918DA2709}"/>
              </a:ext>
            </a:extLst>
          </p:cNvPr>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DAEC7C21-0104-334A-9DA4-A217535898C9}"/>
              </a:ext>
            </a:extLst>
          </p:cNvPr>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マスター テキストの書式設定</a:t>
            </a:r>
          </a:p>
          <a:p>
            <a:pPr marL="645750"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2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00575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3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365750"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4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a:p>
            <a:pPr marL="172575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第 </a:t>
            </a:r>
            <a:r>
              <a:rPr kumimoji="1" lang="en-US" altLang="ja-JP" sz="1600" b="0" i="0" u="none" strike="noStrike" kern="1200" cap="none" spc="0" normalizeH="0" baseline="0" noProof="0" dirty="0">
                <a:ln>
                  <a:noFill/>
                </a:ln>
                <a:solidFill>
                  <a:srgbClr val="000000"/>
                </a:solidFill>
                <a:effectLst/>
                <a:uLnTx/>
                <a:uFillTx/>
                <a:latin typeface="Arial"/>
                <a:ea typeface="游ゴシック Medium"/>
                <a:cs typeface="+mn-cs"/>
              </a:rPr>
              <a:t>5 </a:t>
            </a:r>
            <a:r>
              <a:rPr kumimoji="1" lang="ja-JP" altLang="en-US" sz="1600" b="0" i="0" u="none" strike="noStrike" kern="1200" cap="none" spc="0" normalizeH="0" baseline="0" noProof="0" dirty="0">
                <a:ln>
                  <a:noFill/>
                </a:ln>
                <a:solidFill>
                  <a:srgbClr val="000000"/>
                </a:solidFill>
                <a:effectLst/>
                <a:uLnTx/>
                <a:uFillTx/>
                <a:latin typeface="Arial"/>
                <a:ea typeface="游ゴシック Medium"/>
                <a:cs typeface="+mn-cs"/>
              </a:rPr>
              <a:t>レベル</a:t>
            </a:r>
          </a:p>
        </p:txBody>
      </p:sp>
    </p:spTree>
    <p:extLst>
      <p:ext uri="{BB962C8B-B14F-4D97-AF65-F5344CB8AC3E}">
        <p14:creationId xmlns:p14="http://schemas.microsoft.com/office/powerpoint/2010/main" val="1428101575"/>
      </p:ext>
    </p:extLst>
  </p:cSld>
  <p:clrMap bg1="lt1" tx1="dk1" bg2="lt2" tx2="dk2" accent1="accent1" accent2="accent2" accent3="accent3" accent4="accent4" accent5="accent5" accent6="accent6" hlink="hlink" folHlink="folHlink"/>
  <p:sldLayoutIdLst>
    <p:sldLayoutId id="2147483918" r:id="rId1"/>
    <p:sldLayoutId id="2147483919" r:id="rId2"/>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9" userDrawn="1">
          <p15:clr>
            <a:srgbClr val="F26B43"/>
          </p15:clr>
        </p15:guide>
        <p15:guide id="2" pos="3840" userDrawn="1">
          <p15:clr>
            <a:srgbClr val="F26B43"/>
          </p15:clr>
        </p15:guide>
        <p15:guide id="4" pos="7537" userDrawn="1">
          <p15:clr>
            <a:srgbClr val="F26B43"/>
          </p15:clr>
        </p15:guide>
        <p15:guide id="5" pos="25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FA64AB4-7066-4561-6173-0007350AE6FA}"/>
              </a:ext>
            </a:extLst>
          </p:cNvPr>
          <p:cNvSpPr>
            <a:spLocks noGrp="1"/>
          </p:cNvSpPr>
          <p:nvPr>
            <p:ph type="sldNum" sz="quarter" idx="4"/>
          </p:nvPr>
        </p:nvSpPr>
        <p:spPr/>
        <p:txBody>
          <a:bodyPr/>
          <a:lstStyle/>
          <a:p>
            <a:fld id="{48394356-8693-4048-8EAF-2BF05B04AA80}" type="slidenum">
              <a:rPr lang="ja-JP" altLang="en-US" smtClean="0"/>
              <a:pPr/>
              <a:t>1</a:t>
            </a:fld>
            <a:endParaRPr lang="ja-JP" altLang="en-US"/>
          </a:p>
        </p:txBody>
      </p:sp>
      <p:sp>
        <p:nvSpPr>
          <p:cNvPr id="4" name="タイトル 3">
            <a:extLst>
              <a:ext uri="{FF2B5EF4-FFF2-40B4-BE49-F238E27FC236}">
                <a16:creationId xmlns:a16="http://schemas.microsoft.com/office/drawing/2014/main" id="{F6E24FE4-EFA3-18D3-0300-ED1E0CB7E199}"/>
              </a:ext>
            </a:extLst>
          </p:cNvPr>
          <p:cNvSpPr>
            <a:spLocks noGrp="1"/>
          </p:cNvSpPr>
          <p:nvPr>
            <p:ph type="title"/>
          </p:nvPr>
        </p:nvSpPr>
        <p:spPr/>
        <p:txBody>
          <a:bodyPr/>
          <a:lstStyle/>
          <a:p>
            <a:r>
              <a:rPr kumimoji="1" lang="en-US" altLang="ja-JP"/>
              <a:t>P-1507A/B</a:t>
            </a:r>
            <a:r>
              <a:rPr kumimoji="1" lang="ja-JP" altLang="en-US"/>
              <a:t>吸入ストレーナー メッシュ</a:t>
            </a:r>
            <a:r>
              <a:rPr lang="ja-JP" altLang="en-US"/>
              <a:t>サイズ</a:t>
            </a:r>
            <a:r>
              <a:rPr kumimoji="1" lang="ja-JP" altLang="en-US"/>
              <a:t>変更</a:t>
            </a:r>
            <a:r>
              <a:rPr kumimoji="1" lang="en-US" altLang="ja-JP"/>
              <a:t>(40</a:t>
            </a:r>
            <a:r>
              <a:rPr kumimoji="1" lang="ja-JP" altLang="en-US"/>
              <a:t>→</a:t>
            </a:r>
            <a:r>
              <a:rPr kumimoji="1" lang="en-US" altLang="ja-JP"/>
              <a:t>250</a:t>
            </a:r>
            <a:r>
              <a:rPr kumimoji="1" lang="ja-JP" altLang="en-US"/>
              <a:t>メッシュ</a:t>
            </a:r>
            <a:r>
              <a:rPr kumimoji="1" lang="en-US" altLang="ja-JP"/>
              <a:t>)</a:t>
            </a:r>
            <a:endParaRPr kumimoji="1" lang="ja-JP" altLang="en-US"/>
          </a:p>
        </p:txBody>
      </p:sp>
      <p:pic>
        <p:nvPicPr>
          <p:cNvPr id="7" name="図 6">
            <a:extLst>
              <a:ext uri="{FF2B5EF4-FFF2-40B4-BE49-F238E27FC236}">
                <a16:creationId xmlns:a16="http://schemas.microsoft.com/office/drawing/2014/main" id="{C41469B3-7B16-9BDE-F561-3757138D07D9}"/>
              </a:ext>
            </a:extLst>
          </p:cNvPr>
          <p:cNvPicPr>
            <a:picLocks noChangeAspect="1"/>
          </p:cNvPicPr>
          <p:nvPr/>
        </p:nvPicPr>
        <p:blipFill>
          <a:blip r:embed="rId2"/>
          <a:srcRect r="54467" b="10778"/>
          <a:stretch>
            <a:fillRect/>
          </a:stretch>
        </p:blipFill>
        <p:spPr>
          <a:xfrm>
            <a:off x="9185166" y="3572820"/>
            <a:ext cx="1796730" cy="2496250"/>
          </a:xfrm>
          <a:prstGeom prst="rect">
            <a:avLst/>
          </a:prstGeom>
        </p:spPr>
      </p:pic>
      <p:pic>
        <p:nvPicPr>
          <p:cNvPr id="9" name="図 8">
            <a:extLst>
              <a:ext uri="{FF2B5EF4-FFF2-40B4-BE49-F238E27FC236}">
                <a16:creationId xmlns:a16="http://schemas.microsoft.com/office/drawing/2014/main" id="{2A11D544-0970-E028-AE35-2337C6842326}"/>
              </a:ext>
            </a:extLst>
          </p:cNvPr>
          <p:cNvPicPr>
            <a:picLocks noChangeAspect="1"/>
          </p:cNvPicPr>
          <p:nvPr/>
        </p:nvPicPr>
        <p:blipFill>
          <a:blip r:embed="rId3"/>
          <a:srcRect b="48038"/>
          <a:stretch>
            <a:fillRect/>
          </a:stretch>
        </p:blipFill>
        <p:spPr>
          <a:xfrm>
            <a:off x="2141536" y="3429000"/>
            <a:ext cx="6226765" cy="2762107"/>
          </a:xfrm>
          <a:prstGeom prst="rect">
            <a:avLst/>
          </a:prstGeom>
        </p:spPr>
      </p:pic>
      <p:sp>
        <p:nvSpPr>
          <p:cNvPr id="12" name="二等辺三角形 11">
            <a:extLst>
              <a:ext uri="{FF2B5EF4-FFF2-40B4-BE49-F238E27FC236}">
                <a16:creationId xmlns:a16="http://schemas.microsoft.com/office/drawing/2014/main" id="{CB6F6513-7099-B633-E9C0-CFD01935FA79}"/>
              </a:ext>
            </a:extLst>
          </p:cNvPr>
          <p:cNvSpPr/>
          <p:nvPr/>
        </p:nvSpPr>
        <p:spPr>
          <a:xfrm rot="5400000">
            <a:off x="4857246" y="5121151"/>
            <a:ext cx="174150" cy="154519"/>
          </a:xfrm>
          <a:prstGeom prst="triangle">
            <a:avLst/>
          </a:prstGeom>
          <a:pattFill prst="openDmnd">
            <a:fgClr>
              <a:srgbClr val="FF0000"/>
            </a:fgClr>
            <a:bgClr>
              <a:schemeClr val="bg1"/>
            </a:bgClr>
          </a:patt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2B3D345-0D28-61CF-455A-114E1D1DC38F}"/>
              </a:ext>
            </a:extLst>
          </p:cNvPr>
          <p:cNvSpPr txBox="1"/>
          <p:nvPr/>
        </p:nvSpPr>
        <p:spPr>
          <a:xfrm>
            <a:off x="93950" y="812599"/>
            <a:ext cx="13069389" cy="1775234"/>
          </a:xfrm>
          <a:prstGeom prst="rect">
            <a:avLst/>
          </a:prstGeom>
          <a:noFill/>
        </p:spPr>
        <p:txBody>
          <a:bodyPr wrap="square" lIns="0" tIns="72000" rIns="234000" bIns="0" rtlCol="0" anchor="t" anchorCtr="0">
            <a:noAutofit/>
          </a:bodyPr>
          <a:lstStyle/>
          <a:p>
            <a:pPr algn="l"/>
            <a:r>
              <a:rPr kumimoji="1" lang="ja-JP" altLang="en-US" b="1"/>
              <a:t>変更対象：</a:t>
            </a:r>
            <a:r>
              <a:rPr kumimoji="1" lang="en-US" altLang="ja-JP"/>
              <a:t>P-1507A/B </a:t>
            </a:r>
            <a:r>
              <a:rPr kumimoji="1" lang="ja-JP" altLang="en-US"/>
              <a:t>吸入ストレーナー</a:t>
            </a:r>
            <a:endParaRPr lang="en-US" altLang="ja-JP"/>
          </a:p>
          <a:p>
            <a:pPr algn="l"/>
            <a:r>
              <a:rPr lang="ja-JP" altLang="en-US" b="1"/>
              <a:t>　　内容：メッシュサイズ </a:t>
            </a:r>
            <a:r>
              <a:rPr lang="en-US" altLang="ja-JP" b="1"/>
              <a:t>40</a:t>
            </a:r>
            <a:r>
              <a:rPr lang="ja-JP" altLang="en-US" b="1"/>
              <a:t>→</a:t>
            </a:r>
            <a:r>
              <a:rPr lang="en-US" altLang="ja-JP" b="1"/>
              <a:t>250</a:t>
            </a:r>
            <a:r>
              <a:rPr lang="ja-JP" altLang="en-US" b="1"/>
              <a:t>メッシュ</a:t>
            </a:r>
            <a:endParaRPr lang="en-US" altLang="ja-JP" b="1"/>
          </a:p>
          <a:p>
            <a:r>
              <a:rPr lang="ja-JP" altLang="en-US" b="1"/>
              <a:t>　　目的：</a:t>
            </a:r>
            <a:r>
              <a:rPr lang="en-US" altLang="ja-JP" b="1"/>
              <a:t>C-1503</a:t>
            </a:r>
            <a:r>
              <a:rPr lang="ja-JP" altLang="en-US" b="1"/>
              <a:t>塔頂で確認された黒色異物（主成分</a:t>
            </a:r>
            <a:r>
              <a:rPr lang="en-US" altLang="ja-JP" b="1"/>
              <a:t>=</a:t>
            </a:r>
            <a:r>
              <a:rPr lang="ja-JP" altLang="en-US" b="1"/>
              <a:t>鉄錆）の製品</a:t>
            </a:r>
            <a:r>
              <a:rPr lang="en-US" altLang="ja-JP" b="1"/>
              <a:t>DEG</a:t>
            </a:r>
            <a:r>
              <a:rPr lang="ja-JP" altLang="en-US" b="1"/>
              <a:t>出荷ラインへの流出を抑制する</a:t>
            </a:r>
            <a:r>
              <a:rPr lang="ja-JP" altLang="en-US"/>
              <a:t>。</a:t>
            </a:r>
            <a:endParaRPr lang="en-US" altLang="ja-JP"/>
          </a:p>
          <a:p>
            <a:r>
              <a:rPr lang="ja-JP" altLang="en-US" b="1"/>
              <a:t>　　影響：</a:t>
            </a:r>
            <a:r>
              <a:rPr lang="ja-JP" altLang="en-US"/>
              <a:t>メッシュが細かくなることにより閉塞が早期化し、</a:t>
            </a:r>
            <a:endParaRPr lang="en-US" altLang="ja-JP"/>
          </a:p>
          <a:p>
            <a:r>
              <a:rPr lang="ja-JP" altLang="en-US"/>
              <a:t>　　　　　</a:t>
            </a:r>
            <a:r>
              <a:rPr lang="en-US" altLang="ja-JP"/>
              <a:t>P-1507A/B</a:t>
            </a:r>
            <a:r>
              <a:rPr lang="ja-JP" altLang="en-US"/>
              <a:t>キャビテーションによる機器損傷リスクが高まる。特に運転開始直後が懸念。</a:t>
            </a:r>
            <a:endParaRPr lang="en-US" altLang="ja-JP"/>
          </a:p>
          <a:p>
            <a:endParaRPr lang="en-US" altLang="ja-JP" sz="1050"/>
          </a:p>
          <a:p>
            <a:r>
              <a:rPr lang="ja-JP" altLang="en-US"/>
              <a:t>　　</a:t>
            </a:r>
            <a:r>
              <a:rPr lang="ja-JP" altLang="en-US" b="1"/>
              <a:t>対応：ポンプ下流ＣＶ開度を監視し、閉塞時は予備機にポンプ切り替えて清掃を実施</a:t>
            </a:r>
            <a:endParaRPr lang="en-US" altLang="ja-JP" b="1"/>
          </a:p>
          <a:p>
            <a:r>
              <a:rPr lang="ja-JP" altLang="en-US"/>
              <a:t>　　　　（吸スト閉塞傾向は下流の流量制御弁 </a:t>
            </a:r>
            <a:r>
              <a:rPr lang="en-US" altLang="ja-JP"/>
              <a:t>FC1531 ,FC1534</a:t>
            </a:r>
            <a:r>
              <a:rPr lang="ja-JP" altLang="en-US"/>
              <a:t> の</a:t>
            </a:r>
            <a:r>
              <a:rPr lang="en-US" altLang="ja-JP"/>
              <a:t>CV</a:t>
            </a:r>
            <a:r>
              <a:rPr lang="ja-JP" altLang="en-US"/>
              <a:t>開度で監視が可能）</a:t>
            </a:r>
            <a:endParaRPr lang="en-US" altLang="ja-JP"/>
          </a:p>
          <a:p>
            <a:r>
              <a:rPr kumimoji="1" lang="ja-JP" altLang="en-US"/>
              <a:t>　　　 </a:t>
            </a:r>
            <a:endParaRPr kumimoji="1" lang="ja-JP" altLang="en-US" dirty="0" err="1"/>
          </a:p>
        </p:txBody>
      </p:sp>
      <p:sp>
        <p:nvSpPr>
          <p:cNvPr id="14" name="楕円 13">
            <a:extLst>
              <a:ext uri="{FF2B5EF4-FFF2-40B4-BE49-F238E27FC236}">
                <a16:creationId xmlns:a16="http://schemas.microsoft.com/office/drawing/2014/main" id="{A106E181-1946-EDF8-ED89-763195EEBFDE}"/>
              </a:ext>
            </a:extLst>
          </p:cNvPr>
          <p:cNvSpPr/>
          <p:nvPr/>
        </p:nvSpPr>
        <p:spPr>
          <a:xfrm>
            <a:off x="5021581" y="4427521"/>
            <a:ext cx="685800" cy="586095"/>
          </a:xfrm>
          <a:prstGeom prst="ellipse">
            <a:avLst/>
          </a:pr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E0E84B79-1579-1DE0-03FF-317ABDD48DFD}"/>
              </a:ext>
            </a:extLst>
          </p:cNvPr>
          <p:cNvSpPr/>
          <p:nvPr/>
        </p:nvSpPr>
        <p:spPr>
          <a:xfrm>
            <a:off x="7643912" y="5361933"/>
            <a:ext cx="685800" cy="586095"/>
          </a:xfrm>
          <a:prstGeom prst="ellipse">
            <a:avLst/>
          </a:pr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F4CEB29-455B-16F9-A95F-A20A46FE6B29}"/>
              </a:ext>
            </a:extLst>
          </p:cNvPr>
          <p:cNvSpPr txBox="1"/>
          <p:nvPr/>
        </p:nvSpPr>
        <p:spPr>
          <a:xfrm>
            <a:off x="3635756" y="6399784"/>
            <a:ext cx="4008156" cy="377417"/>
          </a:xfrm>
          <a:prstGeom prst="rect">
            <a:avLst/>
          </a:prstGeom>
          <a:noFill/>
        </p:spPr>
        <p:txBody>
          <a:bodyPr wrap="square">
            <a:spAutoFit/>
          </a:bodyPr>
          <a:lstStyle/>
          <a:p>
            <a:pPr algn="l"/>
            <a:r>
              <a:rPr lang="ja-JP" altLang="en-US">
                <a:solidFill>
                  <a:srgbClr val="0070C0"/>
                </a:solidFill>
              </a:rPr>
              <a:t>監視項目：</a:t>
            </a:r>
            <a:r>
              <a:rPr lang="en-US" altLang="ja-JP">
                <a:solidFill>
                  <a:srgbClr val="0070C0"/>
                </a:solidFill>
              </a:rPr>
              <a:t>FC1531,FC1534 CV</a:t>
            </a:r>
            <a:r>
              <a:rPr lang="ja-JP" altLang="en-US">
                <a:solidFill>
                  <a:srgbClr val="0070C0"/>
                </a:solidFill>
              </a:rPr>
              <a:t>開度</a:t>
            </a:r>
            <a:endParaRPr kumimoji="1" lang="ja-JP" altLang="en-US" dirty="0" err="1">
              <a:solidFill>
                <a:srgbClr val="0070C0"/>
              </a:solidFill>
            </a:endParaRPr>
          </a:p>
        </p:txBody>
      </p:sp>
      <p:cxnSp>
        <p:nvCxnSpPr>
          <p:cNvPr id="19" name="直線矢印コネクタ 18">
            <a:extLst>
              <a:ext uri="{FF2B5EF4-FFF2-40B4-BE49-F238E27FC236}">
                <a16:creationId xmlns:a16="http://schemas.microsoft.com/office/drawing/2014/main" id="{7B80010D-07F3-27EA-B24C-AE07E2B95400}"/>
              </a:ext>
            </a:extLst>
          </p:cNvPr>
          <p:cNvCxnSpPr>
            <a:endCxn id="14" idx="5"/>
          </p:cNvCxnSpPr>
          <p:nvPr/>
        </p:nvCxnSpPr>
        <p:spPr>
          <a:xfrm flipH="1" flipV="1">
            <a:off x="5596556" y="5013616"/>
            <a:ext cx="110825" cy="1348683"/>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6EDD55F5-2F3F-12B4-1DF9-ABE364CA35D2}"/>
              </a:ext>
            </a:extLst>
          </p:cNvPr>
          <p:cNvCxnSpPr>
            <a:cxnSpLocks/>
          </p:cNvCxnSpPr>
          <p:nvPr/>
        </p:nvCxnSpPr>
        <p:spPr>
          <a:xfrm flipV="1">
            <a:off x="5707381" y="5800304"/>
            <a:ext cx="1842529" cy="586095"/>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5ED88B40-AD82-35E9-C748-E22913788F93}"/>
              </a:ext>
            </a:extLst>
          </p:cNvPr>
          <p:cNvSpPr txBox="1"/>
          <p:nvPr/>
        </p:nvSpPr>
        <p:spPr>
          <a:xfrm>
            <a:off x="8471040" y="6091684"/>
            <a:ext cx="3720960" cy="830997"/>
          </a:xfrm>
          <a:prstGeom prst="rect">
            <a:avLst/>
          </a:prstGeom>
          <a:noFill/>
        </p:spPr>
        <p:txBody>
          <a:bodyPr wrap="square">
            <a:spAutoFit/>
          </a:bodyPr>
          <a:lstStyle/>
          <a:p>
            <a:pPr algn="l"/>
            <a:r>
              <a:rPr lang="ja-JP" altLang="en-US" sz="1600"/>
              <a:t>吸入ストレーナーや下流配管でも微量の異物確認⇒製品ラインへの流出を抑制したい</a:t>
            </a:r>
            <a:endParaRPr kumimoji="1" lang="ja-JP" altLang="en-US" sz="1600" dirty="0" err="1"/>
          </a:p>
        </p:txBody>
      </p:sp>
      <p:pic>
        <p:nvPicPr>
          <p:cNvPr id="1026" name="Picture 2">
            <a:extLst>
              <a:ext uri="{FF2B5EF4-FFF2-40B4-BE49-F238E27FC236}">
                <a16:creationId xmlns:a16="http://schemas.microsoft.com/office/drawing/2014/main" id="{6C8A85BA-92DD-B86A-ECFA-EA400E9C86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637" y="3572820"/>
            <a:ext cx="1353411" cy="180539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線矢印コネクタ 23">
            <a:extLst>
              <a:ext uri="{FF2B5EF4-FFF2-40B4-BE49-F238E27FC236}">
                <a16:creationId xmlns:a16="http://schemas.microsoft.com/office/drawing/2014/main" id="{766042A9-1707-3708-5974-2586A7A79442}"/>
              </a:ext>
            </a:extLst>
          </p:cNvPr>
          <p:cNvCxnSpPr>
            <a:cxnSpLocks/>
          </p:cNvCxnSpPr>
          <p:nvPr/>
        </p:nvCxnSpPr>
        <p:spPr>
          <a:xfrm>
            <a:off x="1902164" y="4810053"/>
            <a:ext cx="2101101" cy="47543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32B8D7F1-577C-C676-4AF0-370AF23ED487}"/>
              </a:ext>
            </a:extLst>
          </p:cNvPr>
          <p:cNvSpPr txBox="1"/>
          <p:nvPr/>
        </p:nvSpPr>
        <p:spPr>
          <a:xfrm>
            <a:off x="399663" y="5493186"/>
            <a:ext cx="1741873" cy="738664"/>
          </a:xfrm>
          <a:prstGeom prst="rect">
            <a:avLst/>
          </a:prstGeom>
          <a:noFill/>
        </p:spPr>
        <p:txBody>
          <a:bodyPr wrap="square">
            <a:spAutoFit/>
          </a:bodyPr>
          <a:lstStyle/>
          <a:p>
            <a:r>
              <a:rPr lang="en-US" altLang="ja-JP" sz="1400"/>
              <a:t>2026</a:t>
            </a:r>
            <a:r>
              <a:rPr lang="ja-JP" altLang="en-US" sz="1400"/>
              <a:t>年開放時</a:t>
            </a:r>
            <a:r>
              <a:rPr lang="ja-JP" altLang="ja-JP" sz="1400"/>
              <a:t>塔壁全体に黒色付着物</a:t>
            </a:r>
            <a:r>
              <a:rPr lang="ja-JP" altLang="en-US" sz="1400"/>
              <a:t>を確認</a:t>
            </a:r>
            <a:r>
              <a:rPr lang="en-US" altLang="ja-JP" sz="1400"/>
              <a:t>(</a:t>
            </a:r>
            <a:r>
              <a:rPr lang="ja-JP" altLang="en-US" sz="1400"/>
              <a:t>洗浄済み</a:t>
            </a:r>
            <a:r>
              <a:rPr lang="en-US" altLang="ja-JP" sz="1400"/>
              <a:t>)</a:t>
            </a:r>
            <a:r>
              <a:rPr lang="ja-JP" altLang="ja-JP" sz="1400"/>
              <a:t>​</a:t>
            </a:r>
            <a:endParaRPr kumimoji="1" lang="ja-JP" altLang="en-US" sz="1400" dirty="0" err="1">
              <a:solidFill>
                <a:srgbClr val="0070C0"/>
              </a:solidFill>
            </a:endParaRPr>
          </a:p>
        </p:txBody>
      </p:sp>
      <p:cxnSp>
        <p:nvCxnSpPr>
          <p:cNvPr id="28" name="直線矢印コネクタ 27">
            <a:extLst>
              <a:ext uri="{FF2B5EF4-FFF2-40B4-BE49-F238E27FC236}">
                <a16:creationId xmlns:a16="http://schemas.microsoft.com/office/drawing/2014/main" id="{D5CE0A0C-172E-B582-2D8A-D2714A61628B}"/>
              </a:ext>
            </a:extLst>
          </p:cNvPr>
          <p:cNvCxnSpPr>
            <a:cxnSpLocks/>
          </p:cNvCxnSpPr>
          <p:nvPr/>
        </p:nvCxnSpPr>
        <p:spPr>
          <a:xfrm flipH="1">
            <a:off x="5077872" y="5121281"/>
            <a:ext cx="4084529" cy="7712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62388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7" sz="quarter"/>
          </p:nvPr>
        </p:nvSpPr>
        <p:spPr/>
        <p:txBody>
          <a:bodyPr/>
          <a:lstStyle/>
          <a:p/>
        </p:txBody>
      </p:sp>
      <p:sp>
        <p:nvSpPr>
          <p:cNvPr id="5" name="Rectangle 4"/>
          <p:cNvSpPr/>
          <p:nvPr/>
        </p:nvSpPr>
        <p:spPr>
          <a:xfrm>
            <a:off x="0" y="0"/>
            <a:ext cx="12192000"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defRPr sz="2400" b="1">
                <a:solidFill>
                  <a:srgbClr val="FFFFFF"/>
                </a:solidFill>
              </a:defRPr>
            </a:pPr>
            <a:r>
              <a:t>技術評価まとめ ― 変更の妥当性と監視方法</a:t>
            </a:r>
          </a:p>
        </p:txBody>
      </p:sp>
      <p:sp>
        <p:nvSpPr>
          <p:cNvPr id="6" name="TextBox 5"/>
          <p:cNvSpPr txBox="1"/>
          <p:nvPr/>
        </p:nvSpPr>
        <p:spPr>
          <a:xfrm>
            <a:off x="365760" y="960120"/>
            <a:ext cx="6126480" cy="5486400"/>
          </a:xfrm>
          <a:prstGeom prst="rect">
            <a:avLst/>
          </a:prstGeom>
          <a:noFill/>
        </p:spPr>
        <p:txBody>
          <a:bodyPr wrap="square">
            <a:spAutoFit/>
          </a:bodyPr>
          <a:lstStyle/>
          <a:p>
            <a:pPr>
              <a:spcAft>
                <a:spcPts val="800"/>
              </a:spcAft>
              <a:defRPr sz="1600" b="1">
                <a:solidFill>
                  <a:srgbClr val="1F4E79"/>
                </a:solidFill>
              </a:defRPr>
            </a:pPr>
            <a:r>
              <a:t>評価したこと：①ポンプのキャビ余裕 ②下流CV開度で閉塞を監視できるか（実機データで照合）</a:t>
            </a:r>
          </a:p>
          <a:p>
            <a:pPr>
              <a:spcAft>
                <a:spcPts val="800"/>
              </a:spcAft>
              <a:defRPr sz="1500" b="0">
                <a:solidFill>
                  <a:srgbClr val="222222"/>
                </a:solidFill>
              </a:defRPr>
            </a:pPr>
            <a:r>
              <a:t>・キャビの余裕：通常運転は余裕大。閉塞が進み 約83%詰まる とNPSH余裕（≒117kPa相当）を失いキャビの恐れ。</a:t>
            </a:r>
          </a:p>
          <a:p>
            <a:pPr>
              <a:spcAft>
                <a:spcPts val="800"/>
              </a:spcAft>
              <a:defRPr sz="1500" b="1">
                <a:solidFill>
                  <a:srgbClr val="C00000"/>
                </a:solidFill>
              </a:defRPr>
            </a:pPr>
            <a:r>
              <a:t>・CV開度で見えるか：閉塞してもCV開度は +6〜8%（FC-1531 +8%／FC-1535 +6%）しか動かない。</a:t>
            </a:r>
          </a:p>
          <a:p>
            <a:pPr>
              <a:spcAft>
                <a:spcPts val="800"/>
              </a:spcAft>
              <a:defRPr sz="1400" b="0">
                <a:solidFill>
                  <a:srgbClr val="C00000"/>
                </a:solidFill>
              </a:defRPr>
            </a:pPr>
            <a:r>
              <a:t>　→ 通常の流量変動（±5〜10%）と同程度。流量補正すれば弱い兆候にはなるが、単独では当てにできない。</a:t>
            </a:r>
          </a:p>
          <a:p>
            <a:pPr>
              <a:spcAft>
                <a:spcPts val="800"/>
              </a:spcAft>
              <a:defRPr sz="1600" b="1">
                <a:solidFill>
                  <a:srgbClr val="2E7D32"/>
                </a:solidFill>
              </a:defRPr>
            </a:pPr>
            <a:r>
              <a:t>・結論：閉塞監視は ストレーナ前後差圧を直接見る（限界117kPaの手前で予備機切替・清掃）。CV開度は補助。</a:t>
            </a:r>
          </a:p>
          <a:p>
            <a:pPr>
              <a:spcAft>
                <a:spcPts val="800"/>
              </a:spcAft>
              <a:defRPr sz="1400" b="0">
                <a:solidFill>
                  <a:srgbClr val="222222"/>
                </a:solidFill>
              </a:defRPr>
            </a:pPr>
            <a:r>
              <a:t>・低温起動：冷えると粘度↑で差圧↑。暖機（~50℃以上）/低流量起動 で対応（冷態は40メッシュも可）。</a:t>
            </a:r>
          </a:p>
          <a:p>
            <a:pPr>
              <a:spcAft>
                <a:spcPts val="800"/>
              </a:spcAft>
              <a:defRPr sz="1300" b="0">
                <a:solidFill>
                  <a:srgbClr val="555555"/>
                </a:solidFill>
              </a:defRPr>
            </a:pPr>
            <a:r>
              <a:t>・予備品：40メッシュは予備保管。孔径62μm・ろ過面積≈100cm²（円錐型）。</a:t>
            </a:r>
          </a:p>
        </p:txBody>
      </p:sp>
      <p:graphicFrame>
        <p:nvGraphicFramePr>
          <p:cNvPr id="7" name="Chart 6"/>
          <p:cNvGraphicFramePr>
            <a:graphicFrameLocks noGrp="1"/>
          </p:cNvGraphicFramePr>
          <p:nvPr/>
        </p:nvGraphicFramePr>
        <p:xfrm>
          <a:off x="6675120" y="1280160"/>
          <a:ext cx="5212080" cy="3657600"/>
        </p:xfrm>
        <a:graphic>
          <a:graphicData uri="http://schemas.openxmlformats.org/drawingml/2006/chart">
            <c:chart xmlns:c="http://schemas.openxmlformats.org/drawingml/2006/chart" r:id="rId2"/>
          </a:graphicData>
        </a:graphic>
      </p:graphicFrame>
      <p:sp>
        <p:nvSpPr>
          <p:cNvPr id="8" name="TextBox 7"/>
          <p:cNvSpPr txBox="1"/>
          <p:nvPr/>
        </p:nvSpPr>
        <p:spPr>
          <a:xfrm>
            <a:off x="6675120" y="5029200"/>
            <a:ext cx="5212080" cy="1280160"/>
          </a:xfrm>
          <a:prstGeom prst="rect">
            <a:avLst/>
          </a:prstGeom>
          <a:noFill/>
        </p:spPr>
        <p:txBody>
          <a:bodyPr wrap="square">
            <a:spAutoFit/>
          </a:bodyPr>
          <a:lstStyle/>
          <a:p>
            <a:r>
              <a:t>差圧は閉塞末期(約83%)で急増するが、吐出圧・差圧にDCSタグは無く直読不可。CV開度は±数%で流量変動に紛れ補助のみ。→ 監視は『清掃周期＋現場パトロール』が主軸。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P-1507A/B 吸入ストレーナ変更　監視方法と清掃周期の見積り</a:t>
            </a:r>
          </a:p>
        </p:txBody>
      </p:sp>
      <p:sp>
        <p:nvSpPr>
          <p:cNvPr id="3" name="TextBox 2"/>
          <p:cNvSpPr txBox="1"/>
          <p:nvPr/>
        </p:nvSpPr>
        <p:spPr>
          <a:xfrm>
            <a:off x="457200" y="1005840"/>
            <a:ext cx="11247120" cy="5120640"/>
          </a:xfrm>
          <a:prstGeom prst="rect">
            <a:avLst/>
          </a:prstGeom>
          <a:noFill/>
        </p:spPr>
        <p:txBody>
          <a:bodyPr wrap="square">
            <a:spAutoFit/>
          </a:bodyPr>
          <a:lstStyle/>
          <a:p>
            <a:r>
              <a:rPr b="1" sz="1500"/>
              <a:t>監視の実態（制約）</a:t>
            </a:r>
          </a:p>
          <a:p>
            <a:r>
              <a:rPr b="0" sz="1400"/>
              <a:t>・吐出圧／差圧にDCSタグは無く、差圧の直読は不可。読めるのはCV開度トレンド(DCS)と現場パトロール(1日1回・吐出圧/予備機サクションPG)のみ。</a:t>
            </a:r>
          </a:p>
          <a:p>
            <a:r>
              <a:rPr b="1" sz="1400"/>
              <a:t/>
            </a:r>
          </a:p>
          <a:p>
            <a:r>
              <a:rPr b="1" sz="1500"/>
              <a:t>運用の落としどころ（清掃周期を主軸に管理）</a:t>
            </a:r>
          </a:p>
          <a:p>
            <a:r>
              <a:rPr b="0" sz="1400"/>
              <a:t>① 起動時に差圧の立ち方（どの期間でどれくらい上がるか）を現場で実測する。</a:t>
            </a:r>
          </a:p>
          <a:p>
            <a:r>
              <a:rPr b="0" sz="1400"/>
              <a:t>② CV開度トレンド＋現場パトロールで進行を監視（CV開度は“弱い兆候”として補助）。</a:t>
            </a:r>
          </a:p>
          <a:p>
            <a:r>
              <a:rPr b="0" sz="1400"/>
              <a:t>③ 清掃周期は操油課250メッシュの差圧上昇実績をろ過面積比で当方へ換算して定量見積り。</a:t>
            </a:r>
          </a:p>
          <a:p>
            <a:r>
              <a:rPr b="0" sz="1400"/>
              <a:t>④ 初期は安全側で『推定周期の1/2』で開放点検し、実績で延伸・補正する。</a:t>
            </a:r>
          </a:p>
          <a:p>
            <a:r>
              <a:rPr b="1" sz="1400"/>
              <a:t/>
            </a:r>
          </a:p>
          <a:p>
            <a:r>
              <a:rPr b="1" sz="1500"/>
              <a:t>清掃周期の見積り式</a:t>
            </a:r>
          </a:p>
          <a:p>
            <a:r>
              <a:rPr b="0" sz="1400"/>
              <a:t>・推定清掃周期 ＝ 当方の許容差圧上昇 ÷ 当方の差圧上昇速度</a:t>
            </a:r>
          </a:p>
          <a:p>
            <a:r>
              <a:rPr b="0" sz="1400"/>
              <a:t>・当方の差圧上昇速度 ＝ 操油課の差圧上昇速度 ×（操油課ろ過面積 ÷ 当方ろ過面積101cm²）</a:t>
            </a:r>
          </a:p>
          <a:p>
            <a:r>
              <a:rPr b="0" sz="1400"/>
              <a:t>・当方の許容差圧上昇 ＝ キャビ限界117 − クリーン3.6 ≒ 113 kPa</a:t>
            </a:r>
          </a:p>
          <a:p>
            <a:r>
              <a:rPr b="0" sz="1400"/>
              <a:t>・操油課へ照会中（★回答待ち）：250メッシュの差圧の上がり方・期間、ろ過面積。回答を入力すれば当方周期が定量的に出る（Excel⑤）。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P-1507A/B DEG塔製品ポンプ　機器情報整理</a:t>
            </a:r>
          </a:p>
        </p:txBody>
      </p:sp>
      <p:graphicFrame>
        <p:nvGraphicFramePr>
          <p:cNvPr id="3" name="Table 2"/>
          <p:cNvGraphicFramePr>
            <a:graphicFrameLocks noGrp="1"/>
          </p:cNvGraphicFramePr>
          <p:nvPr/>
        </p:nvGraphicFramePr>
        <p:xfrm>
          <a:off x="411480" y="1051560"/>
          <a:ext cx="5715000" cy="2743200"/>
        </p:xfrm>
        <a:graphic>
          <a:graphicData uri="http://schemas.openxmlformats.org/drawingml/2006/table">
            <a:tbl>
              <a:tblPr firstRow="0" bandRow="0">
                <a:tableStyleId>{5940675A-B579-460E-94D1-54222C63F5DA}</a:tableStyleId>
              </a:tblPr>
              <a:tblGrid>
                <a:gridCol w="1783080"/>
                <a:gridCol w="3931920"/>
              </a:tblGrid>
              <a:tr h="274320">
                <a:tc gridSpan="2">
                  <a:txBody>
                    <a:bodyPr wrap="square"/>
                    <a:lstStyle/>
                    <a:p>
                      <a:r>
                        <a:rPr b="1" sz="1200">
                          <a:solidFill>
                            <a:srgbClr val="000000"/>
                          </a:solidFill>
                        </a:rPr>
                        <a:t>■ 機器仕様</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名称</a:t>
                      </a:r>
                    </a:p>
                  </a:txBody>
                  <a:tcPr anchor="ctr" marT="12700" marB="12700" marL="63500">
                    <a:solidFill>
                      <a:srgbClr val="FFFFFF"/>
                    </a:solidFill>
                  </a:tcPr>
                </a:tc>
                <a:tc>
                  <a:txBody>
                    <a:bodyPr wrap="square"/>
                    <a:lstStyle/>
                    <a:p>
                      <a:r>
                        <a:rPr sz="1150" b="0">
                          <a:solidFill>
                            <a:srgbClr val="000000"/>
                          </a:solidFill>
                        </a:rPr>
                        <a:t>P-1507A/B DEG塔製品(ランダウン)ポンプ</a:t>
                      </a:r>
                    </a:p>
                  </a:txBody>
                  <a:tcPr anchor="ctr" marT="12700" marB="12700" marL="63500">
                    <a:solidFill>
                      <a:srgbClr val="FFFFFF"/>
                    </a:solidFill>
                  </a:tcPr>
                </a:tc>
              </a:tr>
              <a:tr h="274320">
                <a:tc>
                  <a:txBody>
                    <a:bodyPr wrap="square"/>
                    <a:lstStyle/>
                    <a:p>
                      <a:r>
                        <a:rPr sz="1150" b="1">
                          <a:solidFill>
                            <a:srgbClr val="000000"/>
                          </a:solidFill>
                        </a:rPr>
                        <a:t>形式</a:t>
                      </a:r>
                    </a:p>
                  </a:txBody>
                  <a:tcPr anchor="ctr" marT="12700" marB="12700" marL="63500">
                    <a:solidFill>
                      <a:srgbClr val="FFFFFF"/>
                    </a:solidFill>
                  </a:tcPr>
                </a:tc>
                <a:tc>
                  <a:txBody>
                    <a:bodyPr wrap="square"/>
                    <a:lstStyle/>
                    <a:p>
                      <a:r>
                        <a:rPr sz="1150" b="0">
                          <a:solidFill>
                            <a:srgbClr val="000000"/>
                          </a:solidFill>
                        </a:rPr>
                        <a:t>横型遠心ポンプ（A=運転／B=予備）</a:t>
                      </a:r>
                    </a:p>
                  </a:txBody>
                  <a:tcPr anchor="ctr" marT="12700" marB="12700" marL="63500">
                    <a:solidFill>
                      <a:srgbClr val="FFFFFF"/>
                    </a:solidFill>
                  </a:tcPr>
                </a:tc>
              </a:tr>
              <a:tr h="274320">
                <a:tc>
                  <a:txBody>
                    <a:bodyPr wrap="square"/>
                    <a:lstStyle/>
                    <a:p>
                      <a:r>
                        <a:rPr sz="1150" b="1">
                          <a:solidFill>
                            <a:srgbClr val="000000"/>
                          </a:solidFill>
                        </a:rPr>
                        <a:t>メーカー・図番</a:t>
                      </a:r>
                    </a:p>
                  </a:txBody>
                  <a:tcPr anchor="ctr" marT="12700" marB="12700" marL="63500">
                    <a:solidFill>
                      <a:srgbClr val="FFFFFF"/>
                    </a:solidFill>
                  </a:tcPr>
                </a:tc>
                <a:tc>
                  <a:txBody>
                    <a:bodyPr wrap="square"/>
                    <a:lstStyle/>
                    <a:p>
                      <a:r>
                        <a:rPr sz="1150" b="0">
                          <a:solidFill>
                            <a:srgbClr val="000000"/>
                          </a:solidFill>
                        </a:rPr>
                        <a:t>三菱重工業　図番 3444 J702-00046</a:t>
                      </a:r>
                    </a:p>
                  </a:txBody>
                  <a:tcPr anchor="ctr" marT="12700" marB="12700" marL="63500">
                    <a:solidFill>
                      <a:srgbClr val="FFFFFF"/>
                    </a:solidFill>
                  </a:tcPr>
                </a:tc>
              </a:tr>
              <a:tr h="274320">
                <a:tc>
                  <a:txBody>
                    <a:bodyPr wrap="square"/>
                    <a:lstStyle/>
                    <a:p>
                      <a:r>
                        <a:rPr sz="1150" b="1">
                          <a:solidFill>
                            <a:srgbClr val="000000"/>
                          </a:solidFill>
                        </a:rPr>
                        <a:t>材質</a:t>
                      </a:r>
                    </a:p>
                  </a:txBody>
                  <a:tcPr anchor="ctr" marT="12700" marB="12700" marL="63500">
                    <a:solidFill>
                      <a:srgbClr val="FFFFFF"/>
                    </a:solidFill>
                  </a:tcPr>
                </a:tc>
                <a:tc>
                  <a:txBody>
                    <a:bodyPr wrap="square"/>
                    <a:lstStyle/>
                    <a:p>
                      <a:r>
                        <a:rPr sz="1150" b="0">
                          <a:solidFill>
                            <a:srgbClr val="000000"/>
                          </a:solidFill>
                        </a:rPr>
                        <a:t>ケーシング/インペラ SCS13</a:t>
                      </a:r>
                    </a:p>
                  </a:txBody>
                  <a:tcPr anchor="ctr" marT="12700" marB="12700" marL="63500">
                    <a:solidFill>
                      <a:srgbClr val="FFFFFF"/>
                    </a:solidFill>
                  </a:tcPr>
                </a:tc>
              </a:tr>
              <a:tr h="274320">
                <a:tc gridSpan="2">
                  <a:txBody>
                    <a:bodyPr wrap="square"/>
                    <a:lstStyle/>
                    <a:p>
                      <a:r>
                        <a:rPr b="1" sz="1200">
                          <a:solidFill>
                            <a:srgbClr val="000000"/>
                          </a:solidFill>
                        </a:rPr>
                        <a:t>■ 運転条件</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送液</a:t>
                      </a:r>
                    </a:p>
                  </a:txBody>
                  <a:tcPr anchor="ctr" marT="12700" marB="12700" marL="63500">
                    <a:solidFill>
                      <a:srgbClr val="FFFFFF"/>
                    </a:solidFill>
                  </a:tcPr>
                </a:tc>
                <a:tc>
                  <a:txBody>
                    <a:bodyPr wrap="square"/>
                    <a:lstStyle/>
                    <a:p>
                      <a:r>
                        <a:rPr sz="1150" b="0">
                          <a:solidFill>
                            <a:srgbClr val="000000"/>
                          </a:solidFill>
                        </a:rPr>
                        <a:t>DEG（ジエチレングリコール）</a:t>
                      </a:r>
                    </a:p>
                  </a:txBody>
                  <a:tcPr anchor="ctr" marT="12700" marB="12700" marL="63500">
                    <a:solidFill>
                      <a:srgbClr val="FFFFFF"/>
                    </a:solidFill>
                  </a:tcPr>
                </a:tc>
              </a:tr>
              <a:tr h="274320">
                <a:tc>
                  <a:txBody>
                    <a:bodyPr wrap="square"/>
                    <a:lstStyle/>
                    <a:p>
                      <a:r>
                        <a:rPr sz="1150" b="1">
                          <a:solidFill>
                            <a:srgbClr val="000000"/>
                          </a:solidFill>
                        </a:rPr>
                        <a:t>ポンプ温度</a:t>
                      </a:r>
                    </a:p>
                  </a:txBody>
                  <a:tcPr anchor="ctr" marT="12700" marB="12700" marL="63500">
                    <a:solidFill>
                      <a:srgbClr val="FFFFFF"/>
                    </a:solidFill>
                  </a:tcPr>
                </a:tc>
                <a:tc>
                  <a:txBody>
                    <a:bodyPr wrap="square"/>
                    <a:lstStyle/>
                    <a:p>
                      <a:r>
                        <a:rPr sz="1150" b="0">
                          <a:solidFill>
                            <a:srgbClr val="000000"/>
                          </a:solidFill>
                        </a:rPr>
                        <a:t>158.8 ℃（実績 約150〜160℃）</a:t>
                      </a:r>
                    </a:p>
                  </a:txBody>
                  <a:tcPr anchor="ctr" marT="12700" marB="12700" marL="63500">
                    <a:solidFill>
                      <a:srgbClr val="FFFFFF"/>
                    </a:solidFill>
                  </a:tcPr>
                </a:tc>
              </a:tr>
              <a:tr h="274320">
                <a:tc>
                  <a:txBody>
                    <a:bodyPr wrap="square"/>
                    <a:lstStyle/>
                    <a:p>
                      <a:r>
                        <a:rPr sz="1150" b="1">
                          <a:solidFill>
                            <a:srgbClr val="000000"/>
                          </a:solidFill>
                        </a:rPr>
                        <a:t>規定容量</a:t>
                      </a:r>
                    </a:p>
                  </a:txBody>
                  <a:tcPr anchor="ctr" marT="12700" marB="12700" marL="63500">
                    <a:solidFill>
                      <a:srgbClr val="FFFFFF"/>
                    </a:solidFill>
                  </a:tcPr>
                </a:tc>
                <a:tc>
                  <a:txBody>
                    <a:bodyPr wrap="square"/>
                    <a:lstStyle/>
                    <a:p>
                      <a:r>
                        <a:rPr sz="1150" b="0">
                          <a:solidFill>
                            <a:srgbClr val="000000"/>
                          </a:solidFill>
                        </a:rPr>
                        <a:t>9.8 m³/h（運転 約2.3〜2.7 m³/h）</a:t>
                      </a:r>
                    </a:p>
                  </a:txBody>
                  <a:tcPr anchor="ctr" marT="12700" marB="12700" marL="63500">
                    <a:solidFill>
                      <a:srgbClr val="FFFFFF"/>
                    </a:solidFill>
                  </a:tcPr>
                </a:tc>
              </a:tr>
              <a:tr h="274320">
                <a:tc>
                  <a:txBody>
                    <a:bodyPr wrap="square"/>
                    <a:lstStyle/>
                    <a:p>
                      <a:r>
                        <a:rPr sz="1150" b="1">
                          <a:solidFill>
                            <a:srgbClr val="000000"/>
                          </a:solidFill>
                        </a:rPr>
                        <a:t>揚程</a:t>
                      </a:r>
                    </a:p>
                  </a:txBody>
                  <a:tcPr anchor="ctr" marT="12700" marB="12700" marL="63500">
                    <a:solidFill>
                      <a:srgbClr val="FFFFFF"/>
                    </a:solidFill>
                  </a:tcPr>
                </a:tc>
                <a:tc>
                  <a:txBody>
                    <a:bodyPr wrap="square"/>
                    <a:lstStyle/>
                    <a:p>
                      <a:r>
                        <a:rPr sz="1150" b="0">
                          <a:solidFill>
                            <a:srgbClr val="000000"/>
                          </a:solidFill>
                        </a:rPr>
                        <a:t>約61 m（吐出圧 約6.17 kg/cm²G）</a:t>
                      </a:r>
                    </a:p>
                  </a:txBody>
                  <a:tcPr anchor="ctr" marT="12700" marB="12700" marL="63500">
                    <a:solidFill>
                      <a:srgbClr val="FFFFFF"/>
                    </a:solidFill>
                  </a:tcPr>
                </a:tc>
              </a:tr>
            </a:tbl>
          </a:graphicData>
        </a:graphic>
      </p:graphicFrame>
      <p:graphicFrame>
        <p:nvGraphicFramePr>
          <p:cNvPr id="4" name="Table 3"/>
          <p:cNvGraphicFramePr>
            <a:graphicFrameLocks noGrp="1"/>
          </p:cNvGraphicFramePr>
          <p:nvPr/>
        </p:nvGraphicFramePr>
        <p:xfrm>
          <a:off x="6355080" y="1051560"/>
          <a:ext cx="5440679" cy="3840480"/>
        </p:xfrm>
        <a:graphic>
          <a:graphicData uri="http://schemas.openxmlformats.org/drawingml/2006/table">
            <a:tbl>
              <a:tblPr firstRow="0" bandRow="0">
                <a:tableStyleId>{5940675A-B579-460E-94D1-54222C63F5DA}</a:tableStyleId>
              </a:tblPr>
              <a:tblGrid>
                <a:gridCol w="1691640"/>
                <a:gridCol w="3749039"/>
              </a:tblGrid>
              <a:tr h="274320">
                <a:tc gridSpan="2">
                  <a:txBody>
                    <a:bodyPr wrap="square"/>
                    <a:lstStyle/>
                    <a:p>
                      <a:r>
                        <a:rPr b="1" sz="1200">
                          <a:solidFill>
                            <a:srgbClr val="000000"/>
                          </a:solidFill>
                        </a:rPr>
                        <a:t>■ DEG物性（Aspen＠158.8℃）</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密度 ρ</a:t>
                      </a:r>
                    </a:p>
                  </a:txBody>
                  <a:tcPr anchor="ctr" marT="12700" marB="12700" marL="63500">
                    <a:solidFill>
                      <a:srgbClr val="FFFFFF"/>
                    </a:solidFill>
                  </a:tcPr>
                </a:tc>
                <a:tc>
                  <a:txBody>
                    <a:bodyPr wrap="square"/>
                    <a:lstStyle/>
                    <a:p>
                      <a:r>
                        <a:rPr sz="1150" b="0">
                          <a:solidFill>
                            <a:srgbClr val="000000"/>
                          </a:solidFill>
                        </a:rPr>
                        <a:t>約1010 kg/m³（SG≈1.01）</a:t>
                      </a:r>
                    </a:p>
                  </a:txBody>
                  <a:tcPr anchor="ctr" marT="12700" marB="12700" marL="63500">
                    <a:solidFill>
                      <a:srgbClr val="FFFFFF"/>
                    </a:solidFill>
                  </a:tcPr>
                </a:tc>
              </a:tr>
              <a:tr h="274320">
                <a:tc>
                  <a:txBody>
                    <a:bodyPr wrap="square"/>
                    <a:lstStyle/>
                    <a:p>
                      <a:r>
                        <a:rPr sz="1150" b="1">
                          <a:solidFill>
                            <a:srgbClr val="000000"/>
                          </a:solidFill>
                        </a:rPr>
                        <a:t>粘度 μ</a:t>
                      </a:r>
                    </a:p>
                  </a:txBody>
                  <a:tcPr anchor="ctr" marT="12700" marB="12700" marL="63500">
                    <a:solidFill>
                      <a:srgbClr val="FFFFFF"/>
                    </a:solidFill>
                  </a:tcPr>
                </a:tc>
                <a:tc>
                  <a:txBody>
                    <a:bodyPr wrap="square"/>
                    <a:lstStyle/>
                    <a:p>
                      <a:r>
                        <a:rPr sz="1150" b="0">
                          <a:solidFill>
                            <a:srgbClr val="000000"/>
                          </a:solidFill>
                        </a:rPr>
                        <a:t>約1.16 cP</a:t>
                      </a:r>
                    </a:p>
                  </a:txBody>
                  <a:tcPr anchor="ctr" marT="12700" marB="12700" marL="63500">
                    <a:solidFill>
                      <a:srgbClr val="FFFFFF"/>
                    </a:solidFill>
                  </a:tcPr>
                </a:tc>
              </a:tr>
              <a:tr h="274320">
                <a:tc>
                  <a:txBody>
                    <a:bodyPr wrap="square"/>
                    <a:lstStyle/>
                    <a:p>
                      <a:r>
                        <a:rPr sz="1150" b="1">
                          <a:solidFill>
                            <a:srgbClr val="000000"/>
                          </a:solidFill>
                        </a:rPr>
                        <a:t>蒸気圧 Pvp</a:t>
                      </a:r>
                    </a:p>
                  </a:txBody>
                  <a:tcPr anchor="ctr" marT="12700" marB="12700" marL="63500">
                    <a:solidFill>
                      <a:srgbClr val="FFFFFF"/>
                    </a:solidFill>
                  </a:tcPr>
                </a:tc>
                <a:tc>
                  <a:txBody>
                    <a:bodyPr wrap="square"/>
                    <a:lstStyle/>
                    <a:p>
                      <a:r>
                        <a:rPr sz="1150" b="0">
                          <a:solidFill>
                            <a:srgbClr val="000000"/>
                          </a:solidFill>
                        </a:rPr>
                        <a:t>約5.5 kPa</a:t>
                      </a:r>
                    </a:p>
                  </a:txBody>
                  <a:tcPr anchor="ctr" marT="12700" marB="12700" marL="63500">
                    <a:solidFill>
                      <a:srgbClr val="FFFFFF"/>
                    </a:solidFill>
                  </a:tcPr>
                </a:tc>
              </a:tr>
              <a:tr h="274320">
                <a:tc gridSpan="2">
                  <a:txBody>
                    <a:bodyPr wrap="square"/>
                    <a:lstStyle/>
                    <a:p>
                      <a:r>
                        <a:rPr b="1" sz="1200">
                          <a:solidFill>
                            <a:srgbClr val="000000"/>
                          </a:solidFill>
                        </a:rPr>
                        <a:t>■ NPSH／キャビ余裕</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NPSHa／NPSHr</a:t>
                      </a:r>
                    </a:p>
                  </a:txBody>
                  <a:tcPr anchor="ctr" marT="12700" marB="12700" marL="63500">
                    <a:solidFill>
                      <a:srgbClr val="FFFFFF"/>
                    </a:solidFill>
                  </a:tcPr>
                </a:tc>
                <a:tc>
                  <a:txBody>
                    <a:bodyPr wrap="square"/>
                    <a:lstStyle/>
                    <a:p>
                      <a:r>
                        <a:rPr sz="1150" b="0">
                          <a:solidFill>
                            <a:srgbClr val="000000"/>
                          </a:solidFill>
                        </a:rPr>
                        <a:t>14.0 m ／ 2.20 m（荏原 RM17156-13）</a:t>
                      </a:r>
                    </a:p>
                  </a:txBody>
                  <a:tcPr anchor="ctr" marT="12700" marB="12700" marL="63500">
                    <a:solidFill>
                      <a:srgbClr val="FFFFFF"/>
                    </a:solidFill>
                  </a:tcPr>
                </a:tc>
              </a:tr>
              <a:tr h="274320">
                <a:tc>
                  <a:txBody>
                    <a:bodyPr wrap="square"/>
                    <a:lstStyle/>
                    <a:p>
                      <a:r>
                        <a:rPr sz="1150" b="1">
                          <a:solidFill>
                            <a:srgbClr val="000000"/>
                          </a:solidFill>
                        </a:rPr>
                        <a:t>余裕</a:t>
                      </a:r>
                    </a:p>
                  </a:txBody>
                  <a:tcPr anchor="ctr" marT="12700" marB="12700" marL="63500">
                    <a:solidFill>
                      <a:srgbClr val="FFFFFF"/>
                    </a:solidFill>
                  </a:tcPr>
                </a:tc>
                <a:tc>
                  <a:txBody>
                    <a:bodyPr wrap="square"/>
                    <a:lstStyle/>
                    <a:p>
                      <a:r>
                        <a:rPr sz="1150" b="0">
                          <a:solidFill>
                            <a:srgbClr val="000000"/>
                          </a:solidFill>
                        </a:rPr>
                        <a:t>11.8 m ≒ 117 kPa（＝許容差圧上昇）</a:t>
                      </a:r>
                    </a:p>
                  </a:txBody>
                  <a:tcPr anchor="ctr" marT="12700" marB="12700" marL="63500">
                    <a:solidFill>
                      <a:srgbClr val="FFFFFF"/>
                    </a:solidFill>
                  </a:tcPr>
                </a:tc>
              </a:tr>
              <a:tr h="274320">
                <a:tc gridSpan="2">
                  <a:txBody>
                    <a:bodyPr wrap="square"/>
                    <a:lstStyle/>
                    <a:p>
                      <a:r>
                        <a:rPr b="1" sz="1200">
                          <a:solidFill>
                            <a:srgbClr val="000000"/>
                          </a:solidFill>
                        </a:rPr>
                        <a:t>■ 吸入ストレーナ（変更対象）</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形式</a:t>
                      </a:r>
                    </a:p>
                  </a:txBody>
                  <a:tcPr anchor="ctr" marT="12700" marB="12700" marL="63500">
                    <a:solidFill>
                      <a:srgbClr val="FFFFFF"/>
                    </a:solidFill>
                  </a:tcPr>
                </a:tc>
                <a:tc>
                  <a:txBody>
                    <a:bodyPr wrap="square"/>
                    <a:lstStyle/>
                    <a:p>
                      <a:r>
                        <a:rPr sz="1150" b="0">
                          <a:solidFill>
                            <a:srgbClr val="000000"/>
                          </a:solidFill>
                        </a:rPr>
                        <a:t>YAC EWPCL-150S 円錐型 2B</a:t>
                      </a:r>
                    </a:p>
                  </a:txBody>
                  <a:tcPr anchor="ctr" marT="12700" marB="12700" marL="63500">
                    <a:solidFill>
                      <a:srgbClr val="FFFFFF"/>
                    </a:solidFill>
                  </a:tcPr>
                </a:tc>
              </a:tr>
              <a:tr h="274320">
                <a:tc>
                  <a:txBody>
                    <a:bodyPr wrap="square"/>
                    <a:lstStyle/>
                    <a:p>
                      <a:r>
                        <a:rPr sz="1150" b="1">
                          <a:solidFill>
                            <a:srgbClr val="000000"/>
                          </a:solidFill>
                        </a:rPr>
                        <a:t>ろ過面積</a:t>
                      </a:r>
                    </a:p>
                  </a:txBody>
                  <a:tcPr anchor="ctr" marT="12700" marB="12700" marL="63500">
                    <a:solidFill>
                      <a:srgbClr val="FFFFFF"/>
                    </a:solidFill>
                  </a:tcPr>
                </a:tc>
                <a:tc>
                  <a:txBody>
                    <a:bodyPr wrap="square"/>
                    <a:lstStyle/>
                    <a:p>
                      <a:r>
                        <a:rPr sz="1150" b="0">
                          <a:solidFill>
                            <a:srgbClr val="000000"/>
                          </a:solidFill>
                        </a:rPr>
                        <a:t>≒101 cm²（図面寸法より円錐側面積）</a:t>
                      </a:r>
                    </a:p>
                  </a:txBody>
                  <a:tcPr anchor="ctr" marT="12700" marB="12700" marL="63500">
                    <a:solidFill>
                      <a:srgbClr val="FFFFFF"/>
                    </a:solidFill>
                  </a:tcPr>
                </a:tc>
              </a:tr>
              <a:tr h="274320">
                <a:tc>
                  <a:txBody>
                    <a:bodyPr wrap="square"/>
                    <a:lstStyle/>
                    <a:p>
                      <a:r>
                        <a:rPr sz="1150" b="1">
                          <a:solidFill>
                            <a:srgbClr val="000000"/>
                          </a:solidFill>
                        </a:rPr>
                        <a:t>メッシュ</a:t>
                      </a:r>
                    </a:p>
                  </a:txBody>
                  <a:tcPr anchor="ctr" marT="12700" marB="12700" marL="63500">
                    <a:solidFill>
                      <a:srgbClr val="FFFFFF"/>
                    </a:solidFill>
                  </a:tcPr>
                </a:tc>
                <a:tc>
                  <a:txBody>
                    <a:bodyPr wrap="square"/>
                    <a:lstStyle/>
                    <a:p>
                      <a:r>
                        <a:rPr sz="1150" b="0">
                          <a:solidFill>
                            <a:srgbClr val="000000"/>
                          </a:solidFill>
                        </a:rPr>
                        <a:t>40→250（目開き62μm）</a:t>
                      </a:r>
                    </a:p>
                  </a:txBody>
                  <a:tcPr anchor="ctr" marT="12700" marB="12700" marL="63500">
                    <a:solidFill>
                      <a:srgbClr val="FFFFFF"/>
                    </a:solidFill>
                  </a:tcPr>
                </a:tc>
              </a:tr>
              <a:tr h="274320">
                <a:tc gridSpan="2">
                  <a:txBody>
                    <a:bodyPr wrap="square"/>
                    <a:lstStyle/>
                    <a:p>
                      <a:r>
                        <a:rPr b="1" sz="1200">
                          <a:solidFill>
                            <a:srgbClr val="000000"/>
                          </a:solidFill>
                        </a:rPr>
                        <a:t>■ 下流制御弁</a:t>
                      </a:r>
                    </a:p>
                  </a:txBody>
                  <a:tcPr anchor="ctr" marT="12700" marB="12700">
                    <a:solidFill>
                      <a:srgbClr val="D9D9D9"/>
                    </a:solidFill>
                  </a:tcPr>
                </a:tc>
                <a:tc hMerge="1">
                  <a:txBody>
                    <a:bodyPr/>
                    <a:lstStyle/>
                    <a:p/>
                  </a:txBody>
                  <a:tcPr/>
                </a:tc>
              </a:tr>
              <a:tr h="274320">
                <a:tc>
                  <a:txBody>
                    <a:bodyPr wrap="square"/>
                    <a:lstStyle/>
                    <a:p>
                      <a:r>
                        <a:rPr sz="1150" b="1">
                          <a:solidFill>
                            <a:srgbClr val="000000"/>
                          </a:solidFill>
                        </a:rPr>
                        <a:t>FC-1531</a:t>
                      </a:r>
                    </a:p>
                  </a:txBody>
                  <a:tcPr anchor="ctr" marT="12700" marB="12700" marL="63500">
                    <a:solidFill>
                      <a:srgbClr val="FFFFFF"/>
                    </a:solidFill>
                  </a:tcPr>
                </a:tc>
                <a:tc>
                  <a:txBody>
                    <a:bodyPr wrap="square"/>
                    <a:lstStyle/>
                    <a:p>
                      <a:r>
                        <a:rPr sz="1150" b="0">
                          <a:solidFill>
                            <a:srgbClr val="000000"/>
                          </a:solidFill>
                        </a:rPr>
                        <a:t>Azbil AGVB（Cv定格21）</a:t>
                      </a:r>
                    </a:p>
                  </a:txBody>
                  <a:tcPr anchor="ctr" marT="12700" marB="12700" marL="63500">
                    <a:solidFill>
                      <a:srgbClr val="FFFFFF"/>
                    </a:solidFill>
                  </a:tcPr>
                </a:tc>
              </a:tr>
              <a:tr h="274320">
                <a:tc>
                  <a:txBody>
                    <a:bodyPr wrap="square"/>
                    <a:lstStyle/>
                    <a:p>
                      <a:r>
                        <a:rPr sz="1150" b="1">
                          <a:solidFill>
                            <a:srgbClr val="000000"/>
                          </a:solidFill>
                        </a:rPr>
                        <a:t>FC-1535</a:t>
                      </a:r>
                    </a:p>
                  </a:txBody>
                  <a:tcPr anchor="ctr" marT="12700" marB="12700" marL="63500">
                    <a:solidFill>
                      <a:srgbClr val="FFFFFF"/>
                    </a:solidFill>
                  </a:tcPr>
                </a:tc>
                <a:tc>
                  <a:txBody>
                    <a:bodyPr wrap="square"/>
                    <a:lstStyle/>
                    <a:p>
                      <a:r>
                        <a:rPr sz="1150" b="0">
                          <a:solidFill>
                            <a:srgbClr val="000000"/>
                          </a:solidFill>
                        </a:rPr>
                        <a:t>Azbil AGVB（Cv4.0）</a:t>
                      </a:r>
                    </a:p>
                  </a:txBody>
                  <a:tcPr anchor="ctr" marT="12700" marB="12700" marL="63500">
                    <a:solidFill>
                      <a:srgbClr val="FFFFFF"/>
                    </a:solidFill>
                  </a:tcPr>
                </a:tc>
              </a:tr>
            </a:tbl>
          </a:graphicData>
        </a:graphic>
      </p:graphicFrame>
      <p:sp>
        <p:nvSpPr>
          <p:cNvPr id="5" name="TextBox 4"/>
          <p:cNvSpPr txBox="1"/>
          <p:nvPr/>
        </p:nvSpPr>
        <p:spPr>
          <a:xfrm>
            <a:off x="411480" y="6263640"/>
            <a:ext cx="11338560" cy="365760"/>
          </a:xfrm>
          <a:prstGeom prst="rect">
            <a:avLst/>
          </a:prstGeom>
          <a:noFill/>
        </p:spPr>
        <p:txBody>
          <a:bodyPr wrap="none">
            <a:spAutoFit/>
          </a:bodyPr>
          <a:lstStyle/>
          <a:p>
            <a:r>
              <a:rPr sz="1000" i="1">
                <a:solidFill>
                  <a:srgbClr val="000000"/>
                </a:solidFill>
              </a:rPr>
              <a:t>出典：三菱重工 ポンプデータシート(図番3444 J702-00046)、荏原性能試験RM17156-13、Aspen物性、ストレーナ/ポンプ図面</a:t>
            </a:r>
          </a:p>
        </p:txBody>
      </p:sp>
    </p:spTree>
  </p:cSld>
  <p:clrMapOvr>
    <a:masterClrMapping/>
  </p:clrMapOvr>
</p:sld>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MCG_jp_rev.potx" id="{8A0A82B0-7617-4D52-9715-0CA65AFC9068}" vid="{65F74287-1116-4394-A525-ED591E028B6D}"/>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MCG_jp_rev.potx" id="{8A0A82B0-7617-4D52-9715-0CA65AFC9068}" vid="{5CBF57EB-AE1A-4A30-A251-21905150F8B6}"/>
    </a:ext>
  </a:extLst>
</a:theme>
</file>

<file path=ppt/theme/theme3.xml><?xml version="1.0" encoding="utf-8"?>
<a:theme xmlns:a="http://schemas.openxmlformats.org/drawingml/2006/main" name="3_Confidential_Sub template_Green and Cool gray">
  <a:themeElements>
    <a:clrScheme name="green and cool gray">
      <a:dk1>
        <a:srgbClr val="000000"/>
      </a:dk1>
      <a:lt1>
        <a:srgbClr val="FFFFFF"/>
      </a:lt1>
      <a:dk2>
        <a:srgbClr val="D6E0E5"/>
      </a:dk2>
      <a:lt2>
        <a:srgbClr val="EBEFF2"/>
      </a:lt2>
      <a:accent1>
        <a:srgbClr val="00A33E"/>
      </a:accent1>
      <a:accent2>
        <a:srgbClr val="00772A"/>
      </a:accent2>
      <a:accent3>
        <a:srgbClr val="8A9093"/>
      </a:accent3>
      <a:accent4>
        <a:srgbClr val="B3BBBF"/>
      </a:accent4>
      <a:accent5>
        <a:srgbClr val="D7E0E5"/>
      </a:accent5>
      <a:accent6>
        <a:srgbClr val="66C88B"/>
      </a:accent6>
      <a:hlink>
        <a:srgbClr val="00A33E"/>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MCG_jp_rev.potx" id="{8A0A82B0-7617-4D52-9715-0CA65AFC9068}" vid="{7E0EC220-9CDA-4B0D-A849-74E331EF41CD}"/>
    </a:ext>
  </a:extLst>
</a:theme>
</file>

<file path=ppt/theme/theme4.xml><?xml version="1.0" encoding="utf-8"?>
<a:theme xmlns:a="http://schemas.openxmlformats.org/drawingml/2006/main" name="4_Sub template_Green and Cool gray">
  <a:themeElements>
    <a:clrScheme name="green and cool gray">
      <a:dk1>
        <a:srgbClr val="000000"/>
      </a:dk1>
      <a:lt1>
        <a:srgbClr val="FFFFFF"/>
      </a:lt1>
      <a:dk2>
        <a:srgbClr val="D6E0E5"/>
      </a:dk2>
      <a:lt2>
        <a:srgbClr val="EBEFF2"/>
      </a:lt2>
      <a:accent1>
        <a:srgbClr val="00A33E"/>
      </a:accent1>
      <a:accent2>
        <a:srgbClr val="00772A"/>
      </a:accent2>
      <a:accent3>
        <a:srgbClr val="8A9093"/>
      </a:accent3>
      <a:accent4>
        <a:srgbClr val="B3BBBF"/>
      </a:accent4>
      <a:accent5>
        <a:srgbClr val="D7E0E5"/>
      </a:accent5>
      <a:accent6>
        <a:srgbClr val="66C88B"/>
      </a:accent6>
      <a:hlink>
        <a:srgbClr val="00A33E"/>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MCG_jp_rev.potx" id="{8A0A82B0-7617-4D52-9715-0CA65AFC9068}" vid="{9184EDBB-92CB-467A-9CE7-867182BBDEAB}"/>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MCG_jp_rev20240709</Template>
  <TotalTime>188</TotalTime>
  <Words>181</Words>
  <Application>Microsoft Office PowerPoint</Application>
  <PresentationFormat>ワイド画面</PresentationFormat>
  <Paragraphs>14</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4</vt:i4>
      </vt:variant>
      <vt:variant>
        <vt:lpstr>スライド タイトル</vt:lpstr>
      </vt:variant>
      <vt:variant>
        <vt:i4>1</vt:i4>
      </vt:variant>
    </vt:vector>
  </HeadingPairs>
  <TitlesOfParts>
    <vt:vector size="7" baseType="lpstr">
      <vt:lpstr>游ゴシック</vt:lpstr>
      <vt:lpstr>Arial</vt:lpstr>
      <vt:lpstr>1_Confidential_Main template_Blue and Cool gray</vt:lpstr>
      <vt:lpstr>2_Main template_Blue and Cool gray</vt:lpstr>
      <vt:lpstr>3_Confidential_Sub template_Green and Cool gray</vt:lpstr>
      <vt:lpstr>4_Sub template_Green and Cool gray</vt:lpstr>
      <vt:lpstr>P-1507A/B吸入ストレーナー メッシュサイズ変更(40→250メッシュ)</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hirao kazuaki/0465811/平尾　一陽</dc:creator>
  <cp:keywords/>
  <dc:description/>
  <cp:lastModifiedBy>hirao kazuaki/0465811/平尾　一陽</cp:lastModifiedBy>
  <cp:revision>1</cp:revision>
  <dcterms:created xsi:type="dcterms:W3CDTF">2026-06-17T04:10:11Z</dcterms:created>
  <dcterms:modified xsi:type="dcterms:W3CDTF">2026-06-17T07:18:15Z</dcterms:modified>
  <cp:category/>
</cp:coreProperties>
</file>