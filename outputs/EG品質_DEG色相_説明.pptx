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2232000"/>
            <a:ext cx="11184121" cy="1152000"/>
          </a:xfrm>
          <a:prstGeom prst="rect">
            <a:avLst/>
          </a:prstGeom>
          <a:noFill/>
        </p:spPr>
        <p:txBody>
          <a:bodyPr wrap="square" anchor="t" lIns="36000" rIns="36000" tIns="18000" bIns="18000">
            <a:spAutoFit/>
          </a:bodyPr>
          <a:lstStyle/>
          <a:p>
            <a:pPr algn="ctr">
              <a:lnSpc>
                <a:spcPct val="112000"/>
              </a:lnSpc>
              <a:spcBef>
                <a:spcPts val="0"/>
              </a:spcBef>
              <a:spcAft>
                <a:spcPts val="400"/>
              </a:spcAft>
            </a:pPr>
            <a:r>
              <a:rPr sz="3400" b="1">
                <a:solidFill>
                  <a:srgbClr val="000000"/>
                </a:solidFill>
                <a:latin typeface="Meiryo"/>
                <a:ea typeface="Meiryo"/>
              </a:rPr>
              <a:t>EG品質の現状とDEG色相悪化への対応</a:t>
            </a:r>
          </a:p>
        </p:txBody>
      </p:sp>
      <p:sp>
        <p:nvSpPr>
          <p:cNvPr id="3" name="TextBox 2"/>
          <p:cNvSpPr txBox="1"/>
          <p:nvPr/>
        </p:nvSpPr>
        <p:spPr>
          <a:xfrm>
            <a:off x="503999" y="3456000"/>
            <a:ext cx="11184121" cy="432000"/>
          </a:xfrm>
          <a:prstGeom prst="rect">
            <a:avLst/>
          </a:prstGeom>
          <a:noFill/>
        </p:spPr>
        <p:txBody>
          <a:bodyPr wrap="square" anchor="t" lIns="36000" rIns="36000" tIns="18000" bIns="18000">
            <a:spAutoFit/>
          </a:bodyPr>
          <a:lstStyle/>
          <a:p>
            <a:pPr algn="ctr">
              <a:lnSpc>
                <a:spcPct val="112000"/>
              </a:lnSpc>
              <a:spcBef>
                <a:spcPts val="0"/>
              </a:spcBef>
              <a:spcAft>
                <a:spcPts val="400"/>
              </a:spcAft>
            </a:pPr>
            <a:r>
              <a:rPr sz="1800" b="0">
                <a:solidFill>
                  <a:srgbClr val="404040"/>
                </a:solidFill>
                <a:latin typeface="Meiryo"/>
                <a:ea typeface="Meiryo"/>
              </a:rPr>
              <a:t>現状の事実・着色の見立て・対応方針の整理</a:t>
            </a:r>
          </a:p>
        </p:txBody>
      </p:sp>
      <p:sp>
        <p:nvSpPr>
          <p:cNvPr id="4" name="TextBox 3"/>
          <p:cNvSpPr txBox="1"/>
          <p:nvPr/>
        </p:nvSpPr>
        <p:spPr>
          <a:xfrm>
            <a:off x="503999" y="4031999"/>
            <a:ext cx="11184121" cy="360000"/>
          </a:xfrm>
          <a:prstGeom prst="rect">
            <a:avLst/>
          </a:prstGeom>
          <a:noFill/>
        </p:spPr>
        <p:txBody>
          <a:bodyPr wrap="square" anchor="t" lIns="36000" rIns="36000" tIns="18000" bIns="18000">
            <a:spAutoFit/>
          </a:bodyPr>
          <a:lstStyle/>
          <a:p>
            <a:pPr algn="ctr">
              <a:lnSpc>
                <a:spcPct val="112000"/>
              </a:lnSpc>
              <a:spcBef>
                <a:spcPts val="0"/>
              </a:spcBef>
              <a:spcAft>
                <a:spcPts val="400"/>
              </a:spcAft>
            </a:pPr>
            <a:r>
              <a:rPr sz="1400" b="0">
                <a:solidFill>
                  <a:srgbClr val="404040"/>
                </a:solidFill>
                <a:latin typeface="Meiryo"/>
                <a:ea typeface="Meiryo"/>
              </a:rPr>
              <a:t>2026-06-20</a:t>
            </a:r>
          </a:p>
        </p:txBody>
      </p:sp>
      <p:sp>
        <p:nvSpPr>
          <p:cNvPr id="5" name="TextBox 4"/>
          <p:cNvSpPr txBox="1"/>
          <p:nvPr/>
        </p:nvSpPr>
        <p:spPr>
          <a:xfrm>
            <a:off x="503999" y="6282000"/>
            <a:ext cx="11184121" cy="288000"/>
          </a:xfrm>
          <a:prstGeom prst="rect">
            <a:avLst/>
          </a:prstGeom>
          <a:noFill/>
        </p:spPr>
        <p:txBody>
          <a:bodyPr wrap="square" anchor="t" lIns="36000" rIns="36000" tIns="18000" bIns="18000">
            <a:spAutoFit/>
          </a:bodyPr>
          <a:lstStyle/>
          <a:p>
            <a:pPr algn="ctr">
              <a:lnSpc>
                <a:spcPct val="112000"/>
              </a:lnSpc>
              <a:spcBef>
                <a:spcPts val="0"/>
              </a:spcBef>
              <a:spcAft>
                <a:spcPts val="400"/>
              </a:spcAft>
            </a:pPr>
            <a:r>
              <a:rPr sz="1200" b="0">
                <a:solidFill>
                  <a:srgbClr val="404040"/>
                </a:solidFill>
                <a:latin typeface="Meiryo"/>
                <a:ea typeface="Meiryo"/>
              </a:rPr>
              <a:t>プロセス技術部　EOGモデルチェンジPJ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この資料の目的</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1026000"/>
            <a:ext cx="11184121" cy="5400000"/>
          </a:xfrm>
          <a:prstGeom prst="rect">
            <a:avLst/>
          </a:prstGeom>
          <a:noFill/>
        </p:spPr>
        <p:txBody>
          <a:bodyPr wrap="square" anchor="t" lIns="36000" rIns="36000" tIns="18000" bIns="18000">
            <a:spAutoFit/>
          </a:bodyPr>
          <a:lstStyle/>
          <a:p>
            <a:pPr algn="l">
              <a:lnSpc>
                <a:spcPct val="120000"/>
              </a:lnSpc>
              <a:spcBef>
                <a:spcPts val="0"/>
              </a:spcBef>
              <a:spcAft>
                <a:spcPts val="1000"/>
              </a:spcAft>
            </a:pPr>
            <a:r>
              <a:rPr sz="1600" b="0">
                <a:solidFill>
                  <a:srgbClr val="000000"/>
                </a:solidFill>
                <a:latin typeface="Meiryo"/>
                <a:ea typeface="Meiryo"/>
              </a:rPr>
              <a:t>・EO触媒の選択率低下で原料EO中のアルデヒドが増え、製品MEGのUV上昇・製品DEGの色相悪化が起きている。</a:t>
            </a:r>
          </a:p>
          <a:p>
            <a:pPr algn="l">
              <a:lnSpc>
                <a:spcPct val="120000"/>
              </a:lnSpc>
              <a:spcBef>
                <a:spcPts val="0"/>
              </a:spcBef>
              <a:spcAft>
                <a:spcPts val="1000"/>
              </a:spcAft>
            </a:pPr>
            <a:r>
              <a:rPr sz="1600" b="0">
                <a:solidFill>
                  <a:srgbClr val="000000"/>
                </a:solidFill>
                <a:latin typeface="Meiryo"/>
                <a:ea typeface="Meiryo"/>
              </a:rPr>
              <a:t>・足元の原料アルデヒド水準はM50想定と同等以上であり、対策が決まらないとM50で常態化する懸念がある。</a:t>
            </a:r>
          </a:p>
          <a:p>
            <a:pPr algn="l">
              <a:lnSpc>
                <a:spcPct val="120000"/>
              </a:lnSpc>
              <a:spcBef>
                <a:spcPts val="0"/>
              </a:spcBef>
              <a:spcAft>
                <a:spcPts val="1000"/>
              </a:spcAft>
            </a:pPr>
            <a:r>
              <a:rPr sz="1600" b="0">
                <a:solidFill>
                  <a:srgbClr val="000000"/>
                </a:solidFill>
                <a:latin typeface="Meiryo"/>
                <a:ea typeface="Meiryo"/>
              </a:rPr>
              <a:t>・本資料は、確認された事実、着色の見立て、これまでの運転対応の効き、今後の対応方針を一枚ずつ整理し、</a:t>
            </a:r>
          </a:p>
          <a:p>
            <a:pPr algn="l">
              <a:lnSpc>
                <a:spcPct val="120000"/>
              </a:lnSpc>
              <a:spcBef>
                <a:spcPts val="0"/>
              </a:spcBef>
              <a:spcAft>
                <a:spcPts val="1000"/>
              </a:spcAft>
            </a:pPr>
            <a:r>
              <a:rPr sz="1600" b="0">
                <a:solidFill>
                  <a:srgbClr val="000000"/>
                </a:solidFill>
                <a:latin typeface="Meiryo"/>
                <a:ea typeface="Meiryo"/>
              </a:rPr>
              <a:t>・スタートアップ（7/5予定）と対策会議（6/22〜7/3）・承認会議（6/25）での認識合わせに使う。</a:t>
            </a:r>
          </a:p>
        </p:txBody>
      </p:sp>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結論（先に要点）</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1026000"/>
            <a:ext cx="11184121" cy="5400000"/>
          </a:xfrm>
          <a:prstGeom prst="rect">
            <a:avLst/>
          </a:prstGeom>
          <a:noFill/>
        </p:spPr>
        <p:txBody>
          <a:bodyPr wrap="square" anchor="t" lIns="36000" rIns="36000" tIns="18000" bIns="18000">
            <a:spAutoFit/>
          </a:bodyPr>
          <a:lstStyle/>
          <a:p>
            <a:pPr algn="l">
              <a:lnSpc>
                <a:spcPct val="120000"/>
              </a:lnSpc>
              <a:spcBef>
                <a:spcPts val="0"/>
              </a:spcBef>
              <a:spcAft>
                <a:spcPts val="1000"/>
              </a:spcAft>
            </a:pPr>
            <a:r>
              <a:rPr sz="1500" b="0">
                <a:solidFill>
                  <a:srgbClr val="000000"/>
                </a:solidFill>
                <a:latin typeface="Meiryo"/>
                <a:ea typeface="Meiryo"/>
              </a:rPr>
              <a:t>・色相悪化はタンク保管中に進む。採取直後のストリーム品はAPHA0で、タンク品で色が育つ。</a:t>
            </a:r>
          </a:p>
          <a:p>
            <a:pPr algn="l">
              <a:lnSpc>
                <a:spcPct val="120000"/>
              </a:lnSpc>
              <a:spcBef>
                <a:spcPts val="0"/>
              </a:spcBef>
              <a:spcAft>
                <a:spcPts val="1000"/>
              </a:spcAft>
            </a:pPr>
            <a:r>
              <a:rPr sz="1500" b="0">
                <a:solidFill>
                  <a:srgbClr val="000000"/>
                </a:solidFill>
                <a:latin typeface="Meiryo"/>
                <a:ea typeface="Meiryo"/>
              </a:rPr>
              <a:t>・これまでの運転対応で色相に効いたのはリン酸Na添加のみ。NaOH・温度・回収率の操作は色相には効かなかった。</a:t>
            </a:r>
          </a:p>
          <a:p>
            <a:pPr algn="l">
              <a:lnSpc>
                <a:spcPct val="120000"/>
              </a:lnSpc>
              <a:spcBef>
                <a:spcPts val="0"/>
              </a:spcBef>
              <a:spcAft>
                <a:spcPts val="1000"/>
              </a:spcAft>
            </a:pPr>
            <a:r>
              <a:rPr sz="1500" b="0">
                <a:solidFill>
                  <a:srgbClr val="000000"/>
                </a:solidFill>
                <a:latin typeface="Meiryo"/>
                <a:ea typeface="Meiryo"/>
              </a:rPr>
              <a:t>・見立ては、原料アルデヒド増を起点に、前駆体が下流へ運ばれ、製品タンクの長期保管で鎖が伸びて450nmの色がつく筋。</a:t>
            </a:r>
          </a:p>
          <a:p>
            <a:pPr algn="l">
              <a:lnSpc>
                <a:spcPct val="120000"/>
              </a:lnSpc>
              <a:spcBef>
                <a:spcPts val="0"/>
              </a:spcBef>
              <a:spcAft>
                <a:spcPts val="1000"/>
              </a:spcAft>
            </a:pPr>
            <a:r>
              <a:rPr sz="1500" b="0">
                <a:solidFill>
                  <a:srgbClr val="000000"/>
                </a:solidFill>
                <a:latin typeface="Meiryo"/>
                <a:ea typeface="Meiryo"/>
              </a:rPr>
              <a:t>・酸素雰囲気（船・ローリー）では色相悪化が止まる。これは鉄さびを介したラジカル重合が液の着色の主役でないことを示す。</a:t>
            </a:r>
          </a:p>
          <a:p>
            <a:pPr algn="l">
              <a:lnSpc>
                <a:spcPct val="120000"/>
              </a:lnSpc>
              <a:spcBef>
                <a:spcPts val="0"/>
              </a:spcBef>
              <a:spcAft>
                <a:spcPts val="1000"/>
              </a:spcAft>
            </a:pPr>
            <a:r>
              <a:rPr sz="1500" b="0">
                <a:solidFill>
                  <a:srgbClr val="000000"/>
                </a:solidFill>
                <a:latin typeface="Meiryo"/>
                <a:ea typeface="Meiryo"/>
              </a:rPr>
              <a:t>・脱水塔下流のMEG塔リボイラーに穴が見つかり水が混入していた。水分の整理は穴の前後で分けて見直す必要がある。</a:t>
            </a:r>
          </a:p>
          <a:p>
            <a:pPr algn="l">
              <a:lnSpc>
                <a:spcPct val="120000"/>
              </a:lnSpc>
              <a:spcBef>
                <a:spcPts val="0"/>
              </a:spcBef>
              <a:spcAft>
                <a:spcPts val="1000"/>
              </a:spcAft>
            </a:pPr>
            <a:r>
              <a:rPr sz="1500" b="0">
                <a:solidFill>
                  <a:srgbClr val="000000"/>
                </a:solidFill>
                <a:latin typeface="Meiryo"/>
                <a:ea typeface="Meiryo"/>
              </a:rPr>
              <a:t>・対応は、原料アルデヒドを入れない入口対策を軸に、リン酸の継続投入、スタートアップ運転条件の確定で進める。</a:t>
            </a:r>
          </a:p>
        </p:txBody>
      </p:sp>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現状（事実）：製品別の品質状況</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936000"/>
            <a:ext cx="11184121" cy="251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200" b="0">
                <a:solidFill>
                  <a:srgbClr val="404040"/>
                </a:solidFill>
                <a:latin typeface="Meiryo"/>
                <a:ea typeface="Meiryo"/>
              </a:rPr>
              <a:t>顧客の窓口は、MEGが東レ、TEGが東洋紡、DEG色相がレゾナック。</a:t>
            </a:r>
          </a:p>
        </p:txBody>
      </p:sp>
      <p:graphicFrame>
        <p:nvGraphicFramePr>
          <p:cNvPr id="5" name="Table 4"/>
          <p:cNvGraphicFramePr>
            <a:graphicFrameLocks noGrp="1"/>
          </p:cNvGraphicFramePr>
          <p:nvPr/>
        </p:nvGraphicFramePr>
        <p:xfrm>
          <a:off x="503999" y="1206000"/>
          <a:ext cx="11160000" cy="360000"/>
        </p:xfrm>
        <a:graphic>
          <a:graphicData uri="http://schemas.openxmlformats.org/drawingml/2006/table">
            <a:tbl>
              <a:tblPr firstRow="0" bandRow="0">
                <a:tableStyleId>{5C22544A-7EE6-4342-B048-85BDC9FD1C3A}</a:tableStyleId>
              </a:tblPr>
              <a:tblGrid>
                <a:gridCol w="1620000"/>
                <a:gridCol w="4680000"/>
                <a:gridCol w="4860000"/>
              </a:tblGrid>
              <a:tr h="72000">
                <a:tc>
                  <a:txBody>
                    <a:bodyPr wrap="square"/>
                    <a:lstStyle/>
                    <a:p>
                      <a:pPr algn="ctr"/>
                      <a:r>
                        <a:rPr sz="1100" b="1">
                          <a:solidFill>
                            <a:srgbClr val="000000"/>
                          </a:solidFill>
                          <a:latin typeface="Meiryo"/>
                          <a:ea typeface="Meiryo"/>
                        </a:rPr>
                        <a:t>製品／系</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状況</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特徴的な事象</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72000">
                <a:tc>
                  <a:txBody>
                    <a:bodyPr wrap="square"/>
                    <a:lstStyle/>
                    <a:p>
                      <a:pPr algn="ctr">
                        <a:lnSpc>
                          <a:spcPct val="105000"/>
                        </a:lnSpc>
                      </a:pPr>
                      <a:r>
                        <a:rPr sz="1100" b="1">
                          <a:solidFill>
                            <a:srgbClr val="000000"/>
                          </a:solidFill>
                          <a:latin typeface="Meiryo"/>
                          <a:ea typeface="Meiryo"/>
                        </a:rPr>
                        <a:t>MEG</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100" b="0">
                          <a:solidFill>
                            <a:srgbClr val="000000"/>
                          </a:solidFill>
                          <a:latin typeface="Meiryo"/>
                          <a:ea typeface="Meiryo"/>
                        </a:rPr>
                        <a:t>G-ALDはリン酸添加で運転管理値内に抑制。UV/HUV220は東レ連絡値の水準まで上昇。</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100" b="0">
                          <a:solidFill>
                            <a:srgbClr val="000000"/>
                          </a:solidFill>
                          <a:latin typeface="Meiryo"/>
                          <a:ea typeface="Meiryo"/>
                        </a:rPr>
                        <a:t>C-1404 BTMでは1ppm未満だがC-1501 TOPで上昇。塔内でのアルデヒド生成を示唆。</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72000">
                <a:tc>
                  <a:txBody>
                    <a:bodyPr wrap="square"/>
                    <a:lstStyle/>
                    <a:p>
                      <a:pPr algn="ctr">
                        <a:lnSpc>
                          <a:spcPct val="105000"/>
                        </a:lnSpc>
                      </a:pPr>
                      <a:r>
                        <a:rPr sz="1100" b="1">
                          <a:solidFill>
                            <a:srgbClr val="000000"/>
                          </a:solidFill>
                          <a:latin typeface="Meiryo"/>
                          <a:ea typeface="Meiryo"/>
                        </a:rPr>
                        <a:t>DEG</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100" b="0">
                          <a:solidFill>
                            <a:srgbClr val="000000"/>
                          </a:solidFill>
                          <a:latin typeface="Meiryo"/>
                          <a:ea typeface="Meiryo"/>
                        </a:rPr>
                        <a:t>タンク品はAPHA30で規格10を超過。ストリーム品はAPHA0。</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100" b="0">
                          <a:solidFill>
                            <a:srgbClr val="000000"/>
                          </a:solidFill>
                          <a:latin typeface="Meiryo"/>
                          <a:ea typeface="Meiryo"/>
                        </a:rPr>
                        <a:t>リン酸継続投入後にT-615で色相が改善する傾向。タンク保管中に色が育つ。</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72000">
                <a:tc>
                  <a:txBody>
                    <a:bodyPr wrap="square"/>
                    <a:lstStyle/>
                    <a:p>
                      <a:pPr algn="ctr">
                        <a:lnSpc>
                          <a:spcPct val="105000"/>
                        </a:lnSpc>
                      </a:pPr>
                      <a:r>
                        <a:rPr sz="1100" b="1">
                          <a:solidFill>
                            <a:srgbClr val="000000"/>
                          </a:solidFill>
                          <a:latin typeface="Meiryo"/>
                          <a:ea typeface="Meiryo"/>
                        </a:rPr>
                        <a:t>TEG</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100" b="0">
                          <a:solidFill>
                            <a:srgbClr val="000000"/>
                          </a:solidFill>
                          <a:latin typeface="Meiryo"/>
                          <a:ea typeface="Meiryo"/>
                        </a:rPr>
                        <a:t>運転管理値を含む全品質規格内。</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100" b="0">
                          <a:solidFill>
                            <a:srgbClr val="000000"/>
                          </a:solidFill>
                          <a:latin typeface="Meiryo"/>
                          <a:ea typeface="Meiryo"/>
                        </a:rPr>
                        <a:t>酸価指標は高め。東洋紡からTEG酸化指標へのコメントあり。</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72000">
                <a:tc>
                  <a:txBody>
                    <a:bodyPr wrap="square"/>
                    <a:lstStyle/>
                    <a:p>
                      <a:pPr algn="ctr">
                        <a:lnSpc>
                          <a:spcPct val="105000"/>
                        </a:lnSpc>
                      </a:pPr>
                      <a:r>
                        <a:rPr sz="1100" b="1">
                          <a:solidFill>
                            <a:srgbClr val="000000"/>
                          </a:solidFill>
                          <a:latin typeface="Meiryo"/>
                          <a:ea typeface="Meiryo"/>
                        </a:rPr>
                        <a:t>原料EO・原料水</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100" b="0">
                          <a:solidFill>
                            <a:srgbClr val="000000"/>
                          </a:solidFill>
                          <a:latin typeface="Meiryo"/>
                          <a:ea typeface="Meiryo"/>
                        </a:rPr>
                        <a:t>高アルデヒド条件で運転。原料水のA-ALDは過去最大相当の23ppm、F-ALDは過去範囲内の4ppm。</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100" b="0">
                          <a:solidFill>
                            <a:srgbClr val="000000"/>
                          </a:solidFill>
                          <a:latin typeface="Meiryo"/>
                          <a:ea typeface="Meiryo"/>
                        </a:rPr>
                        <a:t>原料アルデヒド水準がM50想定以上で、M50常態化の懸念につながる。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bl>
          </a:graphicData>
        </a:graphic>
      </p:graphicFrame>
      <p:sp>
        <p:nvSpPr>
          <p:cNvPr id="6" name="TextBox 5"/>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現状（事実）：運転対応の実績</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03999" y="1026000"/>
          <a:ext cx="11160000" cy="360000"/>
        </p:xfrm>
        <a:graphic>
          <a:graphicData uri="http://schemas.openxmlformats.org/drawingml/2006/table">
            <a:tbl>
              <a:tblPr firstRow="0" bandRow="0">
                <a:tableStyleId>{5C22544A-7EE6-4342-B048-85BDC9FD1C3A}</a:tableStyleId>
              </a:tblPr>
              <a:tblGrid>
                <a:gridCol w="5040000"/>
                <a:gridCol w="2160000"/>
                <a:gridCol w="1980000"/>
                <a:gridCol w="1980000"/>
              </a:tblGrid>
              <a:tr h="32727">
                <a:tc>
                  <a:txBody>
                    <a:bodyPr wrap="square"/>
                    <a:lstStyle/>
                    <a:p>
                      <a:pPr algn="ctr"/>
                      <a:r>
                        <a:rPr sz="1050" b="1">
                          <a:solidFill>
                            <a:srgbClr val="000000"/>
                          </a:solidFill>
                          <a:latin typeface="Meiryo"/>
                          <a:ea typeface="Meiryo"/>
                        </a:rPr>
                        <a:t>操作</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050" b="1">
                          <a:solidFill>
                            <a:srgbClr val="000000"/>
                          </a:solidFill>
                          <a:latin typeface="Meiryo"/>
                          <a:ea typeface="Meiryo"/>
                        </a:rPr>
                        <a:t>期間</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050" b="1">
                          <a:solidFill>
                            <a:srgbClr val="000000"/>
                          </a:solidFill>
                          <a:latin typeface="Meiryo"/>
                          <a:ea typeface="Meiryo"/>
                        </a:rPr>
                        <a:t>HUV220低減</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050" b="1">
                          <a:solidFill>
                            <a:srgbClr val="000000"/>
                          </a:solidFill>
                          <a:latin typeface="Meiryo"/>
                          <a:ea typeface="Meiryo"/>
                        </a:rPr>
                        <a:t>DEG色相改善</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32727">
                <a:tc>
                  <a:txBody>
                    <a:bodyPr wrap="square"/>
                    <a:lstStyle/>
                    <a:p>
                      <a:pPr algn="l">
                        <a:lnSpc>
                          <a:spcPct val="105000"/>
                        </a:lnSpc>
                      </a:pPr>
                      <a:r>
                        <a:rPr sz="1050" b="0">
                          <a:solidFill>
                            <a:srgbClr val="000000"/>
                          </a:solidFill>
                          <a:latin typeface="Meiryo"/>
                          <a:ea typeface="Meiryo"/>
                        </a:rPr>
                        <a:t>NaOH添加</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2/26〜3/30</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32727">
                <a:tc>
                  <a:txBody>
                    <a:bodyPr wrap="square"/>
                    <a:lstStyle/>
                    <a:p>
                      <a:pPr algn="l">
                        <a:lnSpc>
                          <a:spcPct val="105000"/>
                        </a:lnSpc>
                      </a:pPr>
                      <a:r>
                        <a:rPr sz="1050" b="0">
                          <a:solidFill>
                            <a:srgbClr val="000000"/>
                          </a:solidFill>
                          <a:latin typeface="Meiryo"/>
                          <a:ea typeface="Meiryo"/>
                        </a:rPr>
                        <a:t>EG-BL回収率ダウン</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3/5〜4/16</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32727">
                <a:tc>
                  <a:txBody>
                    <a:bodyPr wrap="square"/>
                    <a:lstStyle/>
                    <a:p>
                      <a:pPr algn="l">
                        <a:lnSpc>
                          <a:spcPct val="105000"/>
                        </a:lnSpc>
                      </a:pPr>
                      <a:r>
                        <a:rPr sz="1050" b="0">
                          <a:solidFill>
                            <a:srgbClr val="000000"/>
                          </a:solidFill>
                          <a:latin typeface="Meiryo"/>
                          <a:ea typeface="Meiryo"/>
                        </a:rPr>
                        <a:t>C-1501塔底温度ダウン（166〜167℃）</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3月下旬〜</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あり</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32727">
                <a:tc>
                  <a:txBody>
                    <a:bodyPr wrap="square"/>
                    <a:lstStyle/>
                    <a:p>
                      <a:pPr algn="l">
                        <a:lnSpc>
                          <a:spcPct val="105000"/>
                        </a:lnSpc>
                      </a:pPr>
                      <a:r>
                        <a:rPr sz="1050" b="0">
                          <a:solidFill>
                            <a:srgbClr val="000000"/>
                          </a:solidFill>
                          <a:latin typeface="Meiryo"/>
                          <a:ea typeface="Meiryo"/>
                        </a:rPr>
                        <a:t>V-1403圧力ダウン（0.70→0.65MPaG）</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3/30〜</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32727">
                <a:tc>
                  <a:txBody>
                    <a:bodyPr wrap="square"/>
                    <a:lstStyle/>
                    <a:p>
                      <a:pPr algn="l">
                        <a:lnSpc>
                          <a:spcPct val="105000"/>
                        </a:lnSpc>
                      </a:pPr>
                      <a:r>
                        <a:rPr sz="1050" b="0">
                          <a:solidFill>
                            <a:srgbClr val="000000"/>
                          </a:solidFill>
                          <a:latin typeface="Meiryo"/>
                          <a:ea typeface="Meiryo"/>
                        </a:rPr>
                        <a:t>MEG-R量低減（8.5→5t/h）</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4/18〜4/24</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32727">
                <a:tc>
                  <a:txBody>
                    <a:bodyPr wrap="square"/>
                    <a:lstStyle/>
                    <a:p>
                      <a:pPr algn="l">
                        <a:lnSpc>
                          <a:spcPct val="105000"/>
                        </a:lnSpc>
                      </a:pPr>
                      <a:r>
                        <a:rPr sz="1050" b="0">
                          <a:solidFill>
                            <a:srgbClr val="000000"/>
                          </a:solidFill>
                          <a:latin typeface="Meiryo"/>
                          <a:ea typeface="Meiryo"/>
                        </a:rPr>
                        <a:t>Na₃PO₄添加（G-ALD抑制目的）</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4/20〜継続</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あり</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32727">
                <a:tc>
                  <a:txBody>
                    <a:bodyPr wrap="square"/>
                    <a:lstStyle/>
                    <a:p>
                      <a:pPr algn="l">
                        <a:lnSpc>
                          <a:spcPct val="105000"/>
                        </a:lnSpc>
                      </a:pPr>
                      <a:r>
                        <a:rPr sz="1050" b="0">
                          <a:solidFill>
                            <a:srgbClr val="000000"/>
                          </a:solidFill>
                          <a:latin typeface="Meiryo"/>
                          <a:ea typeface="Meiryo"/>
                        </a:rPr>
                        <a:t>DEGリサイクル塔抜出増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4/9〜</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32727">
                <a:tc>
                  <a:txBody>
                    <a:bodyPr wrap="square"/>
                    <a:lstStyle/>
                    <a:p>
                      <a:pPr algn="l">
                        <a:lnSpc>
                          <a:spcPct val="105000"/>
                        </a:lnSpc>
                      </a:pPr>
                      <a:r>
                        <a:rPr sz="1050" b="0">
                          <a:solidFill>
                            <a:srgbClr val="000000"/>
                          </a:solidFill>
                          <a:latin typeface="Meiryo"/>
                          <a:ea typeface="Meiryo"/>
                        </a:rPr>
                        <a:t>C-1404 TOP水リサイクルカット</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4/14〜</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32727">
                <a:tc>
                  <a:txBody>
                    <a:bodyPr wrap="square"/>
                    <a:lstStyle/>
                    <a:p>
                      <a:pPr algn="l">
                        <a:lnSpc>
                          <a:spcPct val="105000"/>
                        </a:lnSpc>
                      </a:pPr>
                      <a:r>
                        <a:rPr sz="1050" b="0">
                          <a:solidFill>
                            <a:srgbClr val="000000"/>
                          </a:solidFill>
                          <a:latin typeface="Meiryo"/>
                          <a:ea typeface="Meiryo"/>
                        </a:rPr>
                        <a:t>クエンチ補給+1t/h</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4/16〜</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32730">
                <a:tc>
                  <a:txBody>
                    <a:bodyPr wrap="square"/>
                    <a:lstStyle/>
                    <a:p>
                      <a:pPr algn="l">
                        <a:lnSpc>
                          <a:spcPct val="105000"/>
                        </a:lnSpc>
                      </a:pPr>
                      <a:r>
                        <a:rPr sz="1050" b="0">
                          <a:solidFill>
                            <a:srgbClr val="000000"/>
                          </a:solidFill>
                          <a:latin typeface="Meiryo"/>
                          <a:ea typeface="Meiryo"/>
                        </a:rPr>
                        <a:t>EO脱水塔BTM抜出 2.5→3.5t/h</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4/16〜</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bl>
          </a:graphicData>
        </a:graphic>
      </p:graphicFrame>
      <p:sp>
        <p:nvSpPr>
          <p:cNvPr id="5" name="TextBox 4"/>
          <p:cNvSpPr txBox="1"/>
          <p:nvPr/>
        </p:nvSpPr>
        <p:spPr>
          <a:xfrm>
            <a:off x="503999" y="6246000"/>
            <a:ext cx="11184121" cy="324000"/>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000" b="1">
                <a:solidFill>
                  <a:srgbClr val="000000"/>
                </a:solidFill>
                <a:latin typeface="Meiryo"/>
                <a:ea typeface="Meiryo"/>
              </a:rPr>
              <a:t>要点：改善に寄与したのはC-1501塔底温度ダウン（HUV220のみ）とNa₃PO₄添加（DEG色相のみ）。色相に効いたのはリン酸だけ。</a:t>
            </a:r>
          </a:p>
        </p:txBody>
      </p:sp>
      <p:sp>
        <p:nvSpPr>
          <p:cNvPr id="6" name="TextBox 5"/>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確認された事実（要点）</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1026000"/>
            <a:ext cx="11184121" cy="5400000"/>
          </a:xfrm>
          <a:prstGeom prst="rect">
            <a:avLst/>
          </a:prstGeom>
          <a:noFill/>
        </p:spPr>
        <p:txBody>
          <a:bodyPr wrap="square" anchor="t" lIns="36000" rIns="36000" tIns="18000" bIns="18000">
            <a:spAutoFit/>
          </a:bodyPr>
          <a:lstStyle/>
          <a:p>
            <a:pPr algn="l">
              <a:lnSpc>
                <a:spcPct val="120000"/>
              </a:lnSpc>
              <a:spcBef>
                <a:spcPts val="0"/>
              </a:spcBef>
              <a:spcAft>
                <a:spcPts val="1000"/>
              </a:spcAft>
            </a:pPr>
            <a:r>
              <a:rPr sz="1400" b="0">
                <a:solidFill>
                  <a:srgbClr val="000000"/>
                </a:solidFill>
                <a:latin typeface="Meiryo"/>
                <a:ea typeface="Meiryo"/>
              </a:rPr>
              <a:t>・採取直後は無色。タンク保管中に着色が進む。</a:t>
            </a:r>
          </a:p>
          <a:p>
            <a:pPr algn="l">
              <a:lnSpc>
                <a:spcPct val="120000"/>
              </a:lnSpc>
              <a:spcBef>
                <a:spcPts val="0"/>
              </a:spcBef>
              <a:spcAft>
                <a:spcPts val="1000"/>
              </a:spcAft>
            </a:pPr>
            <a:r>
              <a:rPr sz="1400" b="0">
                <a:solidFill>
                  <a:srgbClr val="000000"/>
                </a:solidFill>
                <a:latin typeface="Meiryo"/>
                <a:ea typeface="Meiryo"/>
              </a:rPr>
              <a:t>・酸素雰囲気（船・ローリー）で色相悪化が止まる。窒素・遮光でも進む。</a:t>
            </a:r>
          </a:p>
          <a:p>
            <a:pPr algn="l">
              <a:lnSpc>
                <a:spcPct val="120000"/>
              </a:lnSpc>
              <a:spcBef>
                <a:spcPts val="0"/>
              </a:spcBef>
              <a:spcAft>
                <a:spcPts val="1000"/>
              </a:spcAft>
            </a:pPr>
            <a:r>
              <a:rPr sz="1400" b="0">
                <a:solidFill>
                  <a:srgbClr val="000000"/>
                </a:solidFill>
                <a:latin typeface="Meiryo"/>
                <a:ea typeface="Meiryo"/>
              </a:rPr>
              <a:t>・本管DEGは27日でAPHA5以下・無変質。タンク品で450nmが育つ。</a:t>
            </a:r>
          </a:p>
          <a:p>
            <a:pPr algn="l">
              <a:lnSpc>
                <a:spcPct val="120000"/>
              </a:lnSpc>
              <a:spcBef>
                <a:spcPts val="0"/>
              </a:spcBef>
              <a:spcAft>
                <a:spcPts val="1000"/>
              </a:spcAft>
            </a:pPr>
            <a:r>
              <a:rPr sz="1400" b="0">
                <a:solidFill>
                  <a:srgbClr val="000000"/>
                </a:solidFill>
                <a:latin typeface="Meiryo"/>
                <a:ea typeface="Meiryo"/>
              </a:rPr>
              <a:t>・DEG色相改善に効いたのはNa₃PO₄添加のみ。</a:t>
            </a:r>
          </a:p>
          <a:p>
            <a:pPr algn="l">
              <a:lnSpc>
                <a:spcPct val="120000"/>
              </a:lnSpc>
              <a:spcBef>
                <a:spcPts val="0"/>
              </a:spcBef>
              <a:spcAft>
                <a:spcPts val="1000"/>
              </a:spcAft>
            </a:pPr>
            <a:r>
              <a:rPr sz="1400" b="0">
                <a:solidFill>
                  <a:srgbClr val="000000"/>
                </a:solidFill>
                <a:latin typeface="Meiryo"/>
                <a:ea typeface="Meiryo"/>
              </a:rPr>
              <a:t>・基礎研GPCで着色物質はポリエナール類と確定（分子量200〜800、予想300前後と整合）。</a:t>
            </a:r>
          </a:p>
          <a:p>
            <a:pPr algn="l">
              <a:lnSpc>
                <a:spcPct val="120000"/>
              </a:lnSpc>
              <a:spcBef>
                <a:spcPts val="0"/>
              </a:spcBef>
              <a:spcAft>
                <a:spcPts val="1000"/>
              </a:spcAft>
            </a:pPr>
            <a:r>
              <a:rPr sz="1400" b="0">
                <a:solidFill>
                  <a:srgbClr val="000000"/>
                </a:solidFill>
                <a:latin typeface="Meiryo"/>
                <a:ea typeface="Meiryo"/>
              </a:rPr>
              <a:t>・脱水塔下流のMEG塔リボイラーに穴が見つかり水が混入。修理後、脱水塔ボトム水分は50ppm台から10ppm台へ低下。</a:t>
            </a:r>
          </a:p>
          <a:p>
            <a:pPr algn="l">
              <a:lnSpc>
                <a:spcPct val="120000"/>
              </a:lnSpc>
              <a:spcBef>
                <a:spcPts val="0"/>
              </a:spcBef>
              <a:spcAft>
                <a:spcPts val="1000"/>
              </a:spcAft>
            </a:pPr>
            <a:r>
              <a:rPr sz="1400" b="0">
                <a:solidFill>
                  <a:srgbClr val="000000"/>
                </a:solidFill>
                <a:latin typeface="Meiryo"/>
                <a:ea typeface="Meiryo"/>
              </a:rPr>
              <a:t>・T-615異物のXRFは、けい素が過半（砂）に鉄さび10〜12%が混じる。鉄さび片も別に確認。</a:t>
            </a:r>
          </a:p>
          <a:p>
            <a:pPr algn="l">
              <a:lnSpc>
                <a:spcPct val="120000"/>
              </a:lnSpc>
              <a:spcBef>
                <a:spcPts val="0"/>
              </a:spcBef>
              <a:spcAft>
                <a:spcPts val="1000"/>
              </a:spcAft>
            </a:pPr>
            <a:r>
              <a:rPr sz="1400" b="0">
                <a:solidFill>
                  <a:srgbClr val="000000"/>
                </a:solidFill>
                <a:latin typeface="Meiryo"/>
                <a:ea typeface="Meiryo"/>
              </a:rPr>
              <a:t>・色相の早期判断はUV450nmの感度が高い。悪化品は1日あたり約0.004上昇、正常品はベース0.002から動かない。</a:t>
            </a:r>
          </a:p>
        </p:txBody>
      </p:sp>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着色の見立て：工程に沿った筋</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03999" y="1098000"/>
            <a:ext cx="1729020" cy="30240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36000"/>
          <a:lstStyle/>
          <a:p>
            <a:pPr algn="ctr"/>
            <a:r>
              <a:rPr sz="1100" b="1">
                <a:solidFill>
                  <a:srgbClr val="000000"/>
                </a:solidFill>
                <a:latin typeface="Meiryo"/>
                <a:ea typeface="Meiryo"/>
              </a:rPr>
              <a:t>反応系（EO反応器 R-1101）</a:t>
            </a:r>
          </a:p>
          <a:p>
            <a:pPr algn="l">
              <a:lnSpc>
                <a:spcPct val="105000"/>
              </a:lnSpc>
              <a:spcBef>
                <a:spcPts val="600"/>
              </a:spcBef>
            </a:pPr>
            <a:r>
              <a:rPr sz="950" b="0">
                <a:solidFill>
                  <a:srgbClr val="000000"/>
                </a:solidFill>
                <a:latin typeface="Meiryo"/>
                <a:ea typeface="Meiryo"/>
              </a:rPr>
              <a:t>EO触媒の選択率低下で原料EO中のアルデヒド（G-ALD／A-ALD／F-ALD）が増える。着色の出発点。</a:t>
            </a:r>
          </a:p>
        </p:txBody>
      </p:sp>
      <p:sp>
        <p:nvSpPr>
          <p:cNvPr id="5" name="Right Arrow 4"/>
          <p:cNvSpPr/>
          <p:nvPr/>
        </p:nvSpPr>
        <p:spPr>
          <a:xfrm>
            <a:off x="2240219" y="2520000"/>
            <a:ext cx="147600" cy="18000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95019" y="1098000"/>
            <a:ext cx="1729020" cy="30240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36000"/>
          <a:lstStyle/>
          <a:p>
            <a:pPr algn="ctr"/>
            <a:r>
              <a:rPr sz="1100" b="1">
                <a:solidFill>
                  <a:srgbClr val="000000"/>
                </a:solidFill>
                <a:latin typeface="Meiryo"/>
                <a:ea typeface="Meiryo"/>
              </a:rPr>
              <a:t>EG濃縮系（パージ）</a:t>
            </a:r>
          </a:p>
          <a:p>
            <a:pPr algn="l">
              <a:lnSpc>
                <a:spcPct val="105000"/>
              </a:lnSpc>
              <a:spcBef>
                <a:spcPts val="600"/>
              </a:spcBef>
            </a:pPr>
            <a:r>
              <a:rPr sz="950" b="0">
                <a:solidFill>
                  <a:srgbClr val="000000"/>
                </a:solidFill>
                <a:latin typeface="Meiryo"/>
                <a:ea typeface="Meiryo"/>
              </a:rPr>
              <a:t>アルデヒドの大半はパージで系外へ。一部が隠れた形（アセタール等）で逃げ切り下流へ進む。</a:t>
            </a:r>
          </a:p>
        </p:txBody>
      </p:sp>
      <p:sp>
        <p:nvSpPr>
          <p:cNvPr id="7" name="Right Arrow 6"/>
          <p:cNvSpPr/>
          <p:nvPr/>
        </p:nvSpPr>
        <p:spPr>
          <a:xfrm>
            <a:off x="4131239" y="2520000"/>
            <a:ext cx="147600" cy="18000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86039" y="1098000"/>
            <a:ext cx="1729020" cy="30240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36000"/>
          <a:lstStyle/>
          <a:p>
            <a:pPr algn="ctr"/>
            <a:r>
              <a:rPr sz="1100" b="1">
                <a:solidFill>
                  <a:srgbClr val="000000"/>
                </a:solidFill>
                <a:latin typeface="Meiryo"/>
                <a:ea typeface="Meiryo"/>
              </a:rPr>
              <a:t>脱水塔（C-1404）</a:t>
            </a:r>
          </a:p>
          <a:p>
            <a:pPr algn="l">
              <a:lnSpc>
                <a:spcPct val="105000"/>
              </a:lnSpc>
              <a:spcBef>
                <a:spcPts val="600"/>
              </a:spcBef>
            </a:pPr>
            <a:r>
              <a:rPr sz="950" b="0">
                <a:solidFill>
                  <a:srgbClr val="000000"/>
                </a:solidFill>
                <a:latin typeface="Meiryo"/>
                <a:ea typeface="Meiryo"/>
              </a:rPr>
              <a:t>低水分の条件でアセタール化して重質化し、下流へ運ばれる。HEMEは安定な隠れF-ALDとして循環する。</a:t>
            </a:r>
          </a:p>
        </p:txBody>
      </p:sp>
      <p:sp>
        <p:nvSpPr>
          <p:cNvPr id="9" name="Right Arrow 8"/>
          <p:cNvSpPr/>
          <p:nvPr/>
        </p:nvSpPr>
        <p:spPr>
          <a:xfrm>
            <a:off x="6022259" y="2520000"/>
            <a:ext cx="147600" cy="18000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7059" y="1098000"/>
            <a:ext cx="1729020" cy="30240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36000"/>
          <a:lstStyle/>
          <a:p>
            <a:pPr algn="ctr"/>
            <a:r>
              <a:rPr sz="1100" b="1">
                <a:solidFill>
                  <a:srgbClr val="000000"/>
                </a:solidFill>
                <a:latin typeface="Meiryo"/>
                <a:ea typeface="Meiryo"/>
              </a:rPr>
              <a:t>MEG塔（C-1501／C-1502）</a:t>
            </a:r>
          </a:p>
          <a:p>
            <a:pPr algn="l">
              <a:lnSpc>
                <a:spcPct val="105000"/>
              </a:lnSpc>
              <a:spcBef>
                <a:spcPts val="600"/>
              </a:spcBef>
            </a:pPr>
            <a:r>
              <a:rPr sz="950" b="0">
                <a:solidFill>
                  <a:srgbClr val="000000"/>
                </a:solidFill>
                <a:latin typeface="Meiryo"/>
                <a:ea typeface="Meiryo"/>
              </a:rPr>
              <a:t>熱とアルカリで隠れた形が分解しアルデヒドに戻り、C-1502付近で湧いて見える。MEGのHUVは塔の温度条件に依存する。</a:t>
            </a:r>
          </a:p>
        </p:txBody>
      </p:sp>
      <p:sp>
        <p:nvSpPr>
          <p:cNvPr id="11" name="Right Arrow 10"/>
          <p:cNvSpPr/>
          <p:nvPr/>
        </p:nvSpPr>
        <p:spPr>
          <a:xfrm>
            <a:off x="7913279" y="2520000"/>
            <a:ext cx="147600" cy="18000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068079" y="1098000"/>
            <a:ext cx="1729020" cy="30240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36000"/>
          <a:lstStyle/>
          <a:p>
            <a:pPr algn="ctr"/>
            <a:r>
              <a:rPr sz="1100" b="1">
                <a:solidFill>
                  <a:srgbClr val="000000"/>
                </a:solidFill>
                <a:latin typeface="Meiryo"/>
                <a:ea typeface="Meiryo"/>
              </a:rPr>
              <a:t>DEG塔（C-1503）</a:t>
            </a:r>
          </a:p>
          <a:p>
            <a:pPr algn="l">
              <a:lnSpc>
                <a:spcPct val="105000"/>
              </a:lnSpc>
              <a:spcBef>
                <a:spcPts val="600"/>
              </a:spcBef>
            </a:pPr>
            <a:r>
              <a:rPr sz="950" b="0">
                <a:solidFill>
                  <a:srgbClr val="000000"/>
                </a:solidFill>
                <a:latin typeface="Meiryo"/>
                <a:ea typeface="Meiryo"/>
              </a:rPr>
              <a:t>高pHと高温でアルドール縮合が進み、ポリエナールの前駆体が生成する。450nmの色が育つ場はここでなくタンク。</a:t>
            </a:r>
          </a:p>
        </p:txBody>
      </p:sp>
      <p:sp>
        <p:nvSpPr>
          <p:cNvPr id="13" name="Right Arrow 12"/>
          <p:cNvSpPr/>
          <p:nvPr/>
        </p:nvSpPr>
        <p:spPr>
          <a:xfrm>
            <a:off x="9804299" y="2520000"/>
            <a:ext cx="147600" cy="180000"/>
          </a:xfrm>
          <a:prstGeom prst="rightArrow">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959099" y="1098000"/>
            <a:ext cx="1729020" cy="302400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36000"/>
          <a:lstStyle/>
          <a:p>
            <a:pPr algn="ctr"/>
            <a:r>
              <a:rPr sz="1100" b="1">
                <a:solidFill>
                  <a:srgbClr val="000000"/>
                </a:solidFill>
                <a:latin typeface="Meiryo"/>
                <a:ea typeface="Meiryo"/>
              </a:rPr>
              <a:t>製品タンク（T-555／T-615）</a:t>
            </a:r>
          </a:p>
          <a:p>
            <a:pPr algn="l">
              <a:lnSpc>
                <a:spcPct val="105000"/>
              </a:lnSpc>
              <a:spcBef>
                <a:spcPts val="600"/>
              </a:spcBef>
            </a:pPr>
            <a:r>
              <a:rPr sz="950" b="0">
                <a:solidFill>
                  <a:srgbClr val="000000"/>
                </a:solidFill>
                <a:latin typeface="Meiryo"/>
                <a:ea typeface="Meiryo"/>
              </a:rPr>
              <a:t>残った前駆体がタンク保管中に鎖を伸ばし、分子量が増えて450nmの色がつく。塩基触媒で酸素なしに進む。</a:t>
            </a:r>
          </a:p>
        </p:txBody>
      </p:sp>
      <p:sp>
        <p:nvSpPr>
          <p:cNvPr id="15" name="TextBox 14"/>
          <p:cNvSpPr txBox="1"/>
          <p:nvPr/>
        </p:nvSpPr>
        <p:spPr>
          <a:xfrm>
            <a:off x="503999" y="4230000"/>
            <a:ext cx="11184121" cy="864000"/>
          </a:xfrm>
          <a:prstGeom prst="rect">
            <a:avLst/>
          </a:prstGeom>
          <a:noFill/>
        </p:spPr>
        <p:txBody>
          <a:bodyPr wrap="square" anchor="t" lIns="36000" rIns="36000" tIns="18000" bIns="18000">
            <a:spAutoFit/>
          </a:bodyPr>
          <a:lstStyle/>
          <a:p>
            <a:pPr algn="l">
              <a:lnSpc>
                <a:spcPct val="120000"/>
              </a:lnSpc>
              <a:spcBef>
                <a:spcPts val="0"/>
              </a:spcBef>
              <a:spcAft>
                <a:spcPts val="400"/>
              </a:spcAft>
            </a:pPr>
            <a:r>
              <a:rPr sz="1200" b="0">
                <a:solidFill>
                  <a:srgbClr val="000000"/>
                </a:solidFill>
                <a:latin typeface="Meiryo"/>
                <a:ea typeface="Meiryo"/>
              </a:rPr>
              <a:t>筋：原料アルデヒド増を起点に、大半はパージで抜け一部が隠れた形で逃げる。脱水塔以降で重質化して運ばれ、MEG塔系で隠れた形が分解してアルデヒドに戻り湧いて見える。DEG塔の高pH・高温でポリエナール前駆体ができ、製品タンクの長期保管で鎖が伸びて450nmの色がつく。動かない軸はDEGに活性アルデヒドを入れないこと。鍵になる変数は塩基（pH）と水分。鉄さびは副次（C-1503の固形異物と380nm寄与）。</a:t>
            </a:r>
          </a:p>
        </p:txBody>
      </p:sp>
      <p:sp>
        <p:nvSpPr>
          <p:cNvPr id="16" name="TextBox 15"/>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着色の見立て：重要な更新（6/17〜6/20）</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03999" y="1026000"/>
          <a:ext cx="11160000" cy="360000"/>
        </p:xfrm>
        <a:graphic>
          <a:graphicData uri="http://schemas.openxmlformats.org/drawingml/2006/table">
            <a:tbl>
              <a:tblPr firstRow="0" bandRow="0">
                <a:tableStyleId>{5C22544A-7EE6-4342-B048-85BDC9FD1C3A}</a:tableStyleId>
              </a:tblPr>
              <a:tblGrid>
                <a:gridCol w="2520000"/>
                <a:gridCol w="8640000"/>
              </a:tblGrid>
              <a:tr h="51428">
                <a:tc>
                  <a:txBody>
                    <a:bodyPr wrap="square"/>
                    <a:lstStyle/>
                    <a:p>
                      <a:pPr algn="ctr"/>
                      <a:r>
                        <a:rPr sz="1100" b="1">
                          <a:solidFill>
                            <a:srgbClr val="000000"/>
                          </a:solidFill>
                          <a:latin typeface="Meiryo"/>
                          <a:ea typeface="Meiryo"/>
                        </a:rPr>
                        <a:t>論点</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内容</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51428">
                <a:tc>
                  <a:txBody>
                    <a:bodyPr wrap="square"/>
                    <a:lstStyle/>
                    <a:p>
                      <a:pPr algn="l">
                        <a:lnSpc>
                          <a:spcPct val="105000"/>
                        </a:lnSpc>
                      </a:pPr>
                      <a:r>
                        <a:rPr sz="1050" b="1">
                          <a:solidFill>
                            <a:srgbClr val="000000"/>
                          </a:solidFill>
                          <a:latin typeface="Meiryo"/>
                          <a:ea typeface="Meiryo"/>
                        </a:rPr>
                        <a:t>リボイラー穴による水混入の訂正</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脱水塔下流のMEG塔リボイラーに穴があり水が混入していた。修理前は脱水塔トップ水分からボトム水分を逆算管理しており、リボイラーの水漏れを脱水塔の性能低下と取り違えていた可能性がある。修理後、脱水塔ボトム水分は50ppm台から10ppm台へ低下。水分の整理は、穴の前（10月以前の正常期）・穴あり期・修理後の3期に分けて見直す。</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51428">
                <a:tc>
                  <a:txBody>
                    <a:bodyPr wrap="square"/>
                    <a:lstStyle/>
                    <a:p>
                      <a:pPr algn="l">
                        <a:lnSpc>
                          <a:spcPct val="105000"/>
                        </a:lnSpc>
                      </a:pPr>
                      <a:r>
                        <a:rPr sz="1050" b="1">
                          <a:solidFill>
                            <a:srgbClr val="000000"/>
                          </a:solidFill>
                          <a:latin typeface="Meiryo"/>
                          <a:ea typeface="Meiryo"/>
                        </a:rPr>
                        <a:t>着色物質はポリエナールで実測確定</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基礎研GPCで分子量200〜800のブロードなピーク。予想したポリエナール（300前後）と整合し、推定から実測確定へ。</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51428">
                <a:tc>
                  <a:txBody>
                    <a:bodyPr wrap="square"/>
                    <a:lstStyle/>
                    <a:p>
                      <a:pPr algn="l">
                        <a:lnSpc>
                          <a:spcPct val="105000"/>
                        </a:lnSpc>
                      </a:pPr>
                      <a:r>
                        <a:rPr sz="1050" b="1">
                          <a:solidFill>
                            <a:srgbClr val="000000"/>
                          </a:solidFill>
                          <a:latin typeface="Meiryo"/>
                          <a:ea typeface="Meiryo"/>
                        </a:rPr>
                        <a:t>さびの役割は副次へ</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C-1503黒色付着物のDEG共存試験はピーク380nmで、実機の450nmとは別現象。さびは副次（固形異物と380nm寄与）に位置づけ。</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51428">
                <a:tc>
                  <a:txBody>
                    <a:bodyPr wrap="square"/>
                    <a:lstStyle/>
                    <a:p>
                      <a:pPr algn="l">
                        <a:lnSpc>
                          <a:spcPct val="105000"/>
                        </a:lnSpc>
                      </a:pPr>
                      <a:r>
                        <a:rPr sz="1050" b="1">
                          <a:solidFill>
                            <a:srgbClr val="000000"/>
                          </a:solidFill>
                          <a:latin typeface="Meiryo"/>
                          <a:ea typeface="Meiryo"/>
                        </a:rPr>
                        <a:t>着色が育つ場はタンク</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450nmの成長は塔内の短滞留でなく製品タンクの長期保管で進む。前駆体生成（工程内）とタンクでの鎖伸長を二段に分けて見る。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51428">
                <a:tc>
                  <a:txBody>
                    <a:bodyPr wrap="square"/>
                    <a:lstStyle/>
                    <a:p>
                      <a:pPr algn="l">
                        <a:lnSpc>
                          <a:spcPct val="105000"/>
                        </a:lnSpc>
                      </a:pPr>
                      <a:r>
                        <a:rPr sz="1050" b="1">
                          <a:solidFill>
                            <a:srgbClr val="000000"/>
                          </a:solidFill>
                          <a:latin typeface="Meiryo"/>
                          <a:ea typeface="Meiryo"/>
                        </a:rPr>
                        <a:t>リン酸の効き方を二段に</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DEG側はリンそのものより、リン酸とともに持ち込まれた水分が鎖伸長を抑えた可能性が高い。MEG側はG-ALDに対するリン酸そのものの効果が主。</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51432">
                <a:tc>
                  <a:txBody>
                    <a:bodyPr wrap="square"/>
                    <a:lstStyle/>
                    <a:p>
                      <a:pPr algn="l">
                        <a:lnSpc>
                          <a:spcPct val="105000"/>
                        </a:lnSpc>
                      </a:pPr>
                      <a:r>
                        <a:rPr sz="1050" b="1">
                          <a:solidFill>
                            <a:srgbClr val="000000"/>
                          </a:solidFill>
                          <a:latin typeface="Meiryo"/>
                          <a:ea typeface="Meiryo"/>
                        </a:rPr>
                        <a:t>温度操作の評価は揺れている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MEG温度を5℃下げてUVが下がった後にPEG色相悪化が再発しており、因果は確証なし。温度を下げると縮合が止まる代わりに前駆体が色相へ変わって出る見方もあり、温度を下げない対応が候補にある。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bl>
          </a:graphicData>
        </a:graphic>
      </p:graphicFrame>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対応：薬剤（NaOHとリン酸Na）の整理</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936000"/>
            <a:ext cx="11184121" cy="251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200" b="0">
                <a:solidFill>
                  <a:srgbClr val="404040"/>
                </a:solidFill>
                <a:latin typeface="Meiryo"/>
                <a:ea typeface="Meiryo"/>
              </a:rPr>
              <a:t>DEG色相に効いたのはリン酸Naのみ。継続投入が前提（止めると戻る）。</a:t>
            </a:r>
          </a:p>
        </p:txBody>
      </p:sp>
      <p:graphicFrame>
        <p:nvGraphicFramePr>
          <p:cNvPr id="5" name="Table 4"/>
          <p:cNvGraphicFramePr>
            <a:graphicFrameLocks noGrp="1"/>
          </p:cNvGraphicFramePr>
          <p:nvPr/>
        </p:nvGraphicFramePr>
        <p:xfrm>
          <a:off x="503999" y="1206000"/>
          <a:ext cx="11160000" cy="360000"/>
        </p:xfrm>
        <a:graphic>
          <a:graphicData uri="http://schemas.openxmlformats.org/drawingml/2006/table">
            <a:tbl>
              <a:tblPr firstRow="0" bandRow="0">
                <a:tableStyleId>{5C22544A-7EE6-4342-B048-85BDC9FD1C3A}</a:tableStyleId>
              </a:tblPr>
              <a:tblGrid>
                <a:gridCol w="1152000"/>
                <a:gridCol w="3060000"/>
                <a:gridCol w="3420000"/>
                <a:gridCol w="3528000"/>
              </a:tblGrid>
              <a:tr h="120000">
                <a:tc>
                  <a:txBody>
                    <a:bodyPr wrap="square"/>
                    <a:lstStyle/>
                    <a:p>
                      <a:pPr algn="ctr"/>
                      <a:r>
                        <a:rPr sz="1100" b="1">
                          <a:solidFill>
                            <a:srgbClr val="000000"/>
                          </a:solidFill>
                          <a:latin typeface="Meiryo"/>
                          <a:ea typeface="Meiryo"/>
                        </a:rPr>
                        <a:t>薬剤</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投入箇所</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効果</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機構</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120000">
                <a:tc>
                  <a:txBody>
                    <a:bodyPr wrap="square"/>
                    <a:lstStyle/>
                    <a:p>
                      <a:pPr algn="ctr">
                        <a:lnSpc>
                          <a:spcPct val="105000"/>
                        </a:lnSpc>
                      </a:pPr>
                      <a:r>
                        <a:rPr sz="1000" b="1">
                          <a:solidFill>
                            <a:srgbClr val="000000"/>
                          </a:solidFill>
                          <a:latin typeface="Meiryo"/>
                          <a:ea typeface="Meiryo"/>
                        </a:rPr>
                        <a:t>NaOH</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00" b="0">
                          <a:solidFill>
                            <a:srgbClr val="000000"/>
                          </a:solidFill>
                          <a:latin typeface="Meiryo"/>
                          <a:ea typeface="Meiryo"/>
                        </a:rPr>
                        <a:t>S-1401A（EG脱水塔C-1404フィードライン）。</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00" b="0">
                          <a:solidFill>
                            <a:srgbClr val="000000"/>
                          </a:solidFill>
                          <a:latin typeface="Meiryo"/>
                          <a:ea typeface="Meiryo"/>
                        </a:rPr>
                        <a:t>ギ酸は6〜7から2.6〜3.1ppmへ半減、pHは上昇。ただしHUV220・DEG色相の改善はなし。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00" b="0">
                          <a:solidFill>
                            <a:srgbClr val="000000"/>
                          </a:solidFill>
                          <a:latin typeface="Meiryo"/>
                          <a:ea typeface="Meiryo"/>
                        </a:rPr>
                        <a:t>有機酸を中和してpHを上げ腐食を抑える。一方で塩基がアルドール縮合を促し着色を後押しする面がある。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120000">
                <a:tc>
                  <a:txBody>
                    <a:bodyPr wrap="square"/>
                    <a:lstStyle/>
                    <a:p>
                      <a:pPr algn="ctr">
                        <a:lnSpc>
                          <a:spcPct val="105000"/>
                        </a:lnSpc>
                      </a:pPr>
                      <a:r>
                        <a:rPr sz="1000" b="1">
                          <a:solidFill>
                            <a:srgbClr val="000000"/>
                          </a:solidFill>
                          <a:latin typeface="Meiryo"/>
                          <a:ea typeface="Meiryo"/>
                        </a:rPr>
                        <a:t>リン酸Na</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00" b="0">
                          <a:solidFill>
                            <a:srgbClr val="000000"/>
                          </a:solidFill>
                          <a:latin typeface="Meiryo"/>
                          <a:ea typeface="Meiryo"/>
                        </a:rPr>
                        <a:t>MEG塔SIDE／TOP還流。 投入量 M50条件で0.8〜1.2L/h。</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00" b="0">
                          <a:solidFill>
                            <a:srgbClr val="000000"/>
                          </a:solidFill>
                          <a:latin typeface="Meiryo"/>
                          <a:ea typeface="Meiryo"/>
                        </a:rPr>
                        <a:t>G-ALDを20〜30ppm（6〜9%）低下。DEG色相の改善はリン酸添加のみで確認。</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00" b="0">
                          <a:solidFill>
                            <a:srgbClr val="000000"/>
                          </a:solidFill>
                          <a:latin typeface="Meiryo"/>
                          <a:ea typeface="Meiryo"/>
                        </a:rPr>
                        <a:t>DEG側：リンそのものより、ともに持ち込まれた水分が鎖伸長を抑えた可能性が高い。 MEG側：G-ALDに対するリン酸そのものの効果が主（金属の不活性化、アルドールの阻害）。</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bl>
          </a:graphicData>
        </a:graphic>
      </p:graphicFrame>
      <p:sp>
        <p:nvSpPr>
          <p:cNvPr id="6" name="TextBox 5"/>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対応：リン酸Na テスト履歴</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03999" y="1026000"/>
          <a:ext cx="11160000" cy="360000"/>
        </p:xfrm>
        <a:graphic>
          <a:graphicData uri="http://schemas.openxmlformats.org/drawingml/2006/table">
            <a:tbl>
              <a:tblPr firstRow="0" bandRow="0">
                <a:tableStyleId>{5C22544A-7EE6-4342-B048-85BDC9FD1C3A}</a:tableStyleId>
              </a:tblPr>
              <a:tblGrid>
                <a:gridCol w="720000"/>
                <a:gridCol w="1800000"/>
                <a:gridCol w="3600000"/>
                <a:gridCol w="5040000"/>
              </a:tblGrid>
              <a:tr h="90000">
                <a:tc>
                  <a:txBody>
                    <a:bodyPr wrap="square"/>
                    <a:lstStyle/>
                    <a:p>
                      <a:pPr algn="ctr"/>
                      <a:r>
                        <a:rPr sz="1100" b="1">
                          <a:solidFill>
                            <a:srgbClr val="000000"/>
                          </a:solidFill>
                          <a:latin typeface="Meiryo"/>
                          <a:ea typeface="Meiryo"/>
                        </a:rPr>
                        <a:t>回</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時期</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条件</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結果</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90000">
                <a:tc>
                  <a:txBody>
                    <a:bodyPr wrap="square"/>
                    <a:lstStyle/>
                    <a:p>
                      <a:pPr algn="ctr">
                        <a:lnSpc>
                          <a:spcPct val="105000"/>
                        </a:lnSpc>
                      </a:pPr>
                      <a:r>
                        <a:rPr sz="1050" b="0">
                          <a:solidFill>
                            <a:srgbClr val="000000"/>
                          </a:solidFill>
                          <a:latin typeface="Meiryo"/>
                          <a:ea typeface="Meiryo"/>
                        </a:rPr>
                        <a:t>①</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2025/11/26</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10wt% 1L/h×4h（MEG塔SIDE）</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T-ALD最大20ppm／G-ALD最大30ppm低下。全オンスペック。EG-HEにPは未検出（腐食箇所に吸着）。停止後は効果が続かない。</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90000">
                <a:tc>
                  <a:txBody>
                    <a:bodyPr wrap="square"/>
                    <a:lstStyle/>
                    <a:p>
                      <a:pPr algn="ctr">
                        <a:lnSpc>
                          <a:spcPct val="105000"/>
                        </a:lnSpc>
                      </a:pPr>
                      <a:r>
                        <a:rPr sz="1050" b="0">
                          <a:solidFill>
                            <a:srgbClr val="000000"/>
                          </a:solidFill>
                          <a:latin typeface="Meiryo"/>
                          <a:ea typeface="Meiryo"/>
                        </a:rPr>
                        <a:t>②</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2025/12/15〜17</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5wt% 1〜1.5L/h×48h（C-1404 FEED）</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Pの50〜60%がC-1404まわり、MEG塔BTMは5%未満で塔まで届かず。G-ALD減なし。ストレーナ閉塞が発生。</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90000">
                <a:tc>
                  <a:txBody>
                    <a:bodyPr wrap="square"/>
                    <a:lstStyle/>
                    <a:p>
                      <a:pPr algn="ctr">
                        <a:lnSpc>
                          <a:spcPct val="105000"/>
                        </a:lnSpc>
                      </a:pPr>
                      <a:r>
                        <a:rPr sz="1050" b="0">
                          <a:solidFill>
                            <a:srgbClr val="000000"/>
                          </a:solidFill>
                          <a:latin typeface="Meiryo"/>
                          <a:ea typeface="Meiryo"/>
                        </a:rPr>
                        <a:t>③</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2026/4/20〜継続</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5wt% 0.8〜1.2L/h（MEG塔SIDE連続）</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G-ALDが20〜30ppm（6〜9%）低下。停止すると戻り、継続投入が前提。DEG比率の高いタンクで450nmが低下傾向。</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bl>
          </a:graphicData>
        </a:graphic>
      </p:graphicFrame>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対応：方案（方案1〜7）</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03999" y="1026000"/>
          <a:ext cx="11160000" cy="360000"/>
        </p:xfrm>
        <a:graphic>
          <a:graphicData uri="http://schemas.openxmlformats.org/drawingml/2006/table">
            <a:tbl>
              <a:tblPr firstRow="0" bandRow="0">
                <a:tableStyleId>{5C22544A-7EE6-4342-B048-85BDC9FD1C3A}</a:tableStyleId>
              </a:tblPr>
              <a:tblGrid>
                <a:gridCol w="1080000"/>
                <a:gridCol w="3600000"/>
                <a:gridCol w="2160000"/>
                <a:gridCol w="4320000"/>
              </a:tblGrid>
              <a:tr h="45000">
                <a:tc>
                  <a:txBody>
                    <a:bodyPr wrap="square"/>
                    <a:lstStyle/>
                    <a:p>
                      <a:pPr algn="ctr"/>
                      <a:r>
                        <a:rPr sz="1100" b="1">
                          <a:solidFill>
                            <a:srgbClr val="000000"/>
                          </a:solidFill>
                          <a:latin typeface="Meiryo"/>
                          <a:ea typeface="Meiryo"/>
                        </a:rPr>
                        <a:t>方案</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内容</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戦略</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現状</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45000">
                <a:tc>
                  <a:txBody>
                    <a:bodyPr wrap="square"/>
                    <a:lstStyle/>
                    <a:p>
                      <a:pPr algn="ctr">
                        <a:lnSpc>
                          <a:spcPct val="105000"/>
                        </a:lnSpc>
                      </a:pPr>
                      <a:r>
                        <a:rPr sz="1050" b="1">
                          <a:solidFill>
                            <a:srgbClr val="000000"/>
                          </a:solidFill>
                          <a:latin typeface="Meiryo"/>
                          <a:ea typeface="Meiryo"/>
                        </a:rPr>
                        <a:t>方案1</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リン酸塩投入</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中段（補助）</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4/20〜継続中。継続投入が前提。</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45000">
                <a:tc>
                  <a:txBody>
                    <a:bodyPr wrap="square"/>
                    <a:lstStyle/>
                    <a:p>
                      <a:pPr algn="ctr">
                        <a:lnSpc>
                          <a:spcPct val="105000"/>
                        </a:lnSpc>
                      </a:pPr>
                      <a:r>
                        <a:rPr sz="1050" b="1">
                          <a:solidFill>
                            <a:srgbClr val="000000"/>
                          </a:solidFill>
                          <a:latin typeface="Meiryo"/>
                          <a:ea typeface="Meiryo"/>
                        </a:rPr>
                        <a:t>方案2</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NaOH投入</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中段（補助）</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色相・HUVには効かず。SU条件では投入なしをベースに検討。</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45000">
                <a:tc>
                  <a:txBody>
                    <a:bodyPr wrap="square"/>
                    <a:lstStyle/>
                    <a:p>
                      <a:pPr algn="ctr">
                        <a:lnSpc>
                          <a:spcPct val="105000"/>
                        </a:lnSpc>
                      </a:pPr>
                      <a:r>
                        <a:rPr sz="1050" b="1">
                          <a:solidFill>
                            <a:srgbClr val="000000"/>
                          </a:solidFill>
                          <a:latin typeface="Meiryo"/>
                          <a:ea typeface="Meiryo"/>
                        </a:rPr>
                        <a:t>方案3</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C-1501塔頂圧ダウン（27→23kPaA）</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中段</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HUV220に効果。設備能力を検証中。</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45000">
                <a:tc>
                  <a:txBody>
                    <a:bodyPr wrap="square"/>
                    <a:lstStyle/>
                    <a:p>
                      <a:pPr algn="ctr">
                        <a:lnSpc>
                          <a:spcPct val="105000"/>
                        </a:lnSpc>
                      </a:pPr>
                      <a:r>
                        <a:rPr sz="1050" b="1">
                          <a:solidFill>
                            <a:srgbClr val="000000"/>
                          </a:solidFill>
                          <a:latin typeface="Meiryo"/>
                          <a:ea typeface="Meiryo"/>
                        </a:rPr>
                        <a:t>方案4</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EO分割フィード</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入口</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過去にEOを15%まで上げた実績があり、不要と判断。</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45000">
                <a:tc>
                  <a:txBody>
                    <a:bodyPr wrap="square"/>
                    <a:lstStyle/>
                    <a:p>
                      <a:pPr algn="ctr">
                        <a:lnSpc>
                          <a:spcPct val="105000"/>
                        </a:lnSpc>
                      </a:pPr>
                      <a:r>
                        <a:rPr sz="1050" b="1">
                          <a:solidFill>
                            <a:srgbClr val="000000"/>
                          </a:solidFill>
                          <a:latin typeface="Meiryo"/>
                          <a:ea typeface="Meiryo"/>
                        </a:rPr>
                        <a:t>方案5</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C-1303 TOP回収先変更（F-ALDカット）</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入口</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RDで感度検証中。</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45000">
                <a:tc>
                  <a:txBody>
                    <a:bodyPr wrap="square"/>
                    <a:lstStyle/>
                    <a:p>
                      <a:pPr algn="ctr">
                        <a:lnSpc>
                          <a:spcPct val="105000"/>
                        </a:lnSpc>
                      </a:pPr>
                      <a:r>
                        <a:rPr sz="1050" b="1">
                          <a:solidFill>
                            <a:srgbClr val="000000"/>
                          </a:solidFill>
                          <a:latin typeface="Meiryo"/>
                          <a:ea typeface="Meiryo"/>
                        </a:rPr>
                        <a:t>方案6</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EG原料水パージ（A-ALD除去）</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ctr">
                        <a:lnSpc>
                          <a:spcPct val="105000"/>
                        </a:lnSpc>
                      </a:pPr>
                      <a:r>
                        <a:rPr sz="1050" b="0">
                          <a:solidFill>
                            <a:srgbClr val="000000"/>
                          </a:solidFill>
                          <a:latin typeface="Meiryo"/>
                          <a:ea typeface="Meiryo"/>
                        </a:rPr>
                        <a:t>入口</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050" b="0">
                          <a:solidFill>
                            <a:srgbClr val="000000"/>
                          </a:solidFill>
                          <a:latin typeface="Meiryo"/>
                          <a:ea typeface="Meiryo"/>
                        </a:rPr>
                        <a:t>RDで感度確認中。水和実験を実施中。</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45000">
                <a:tc>
                  <a:txBody>
                    <a:bodyPr wrap="square"/>
                    <a:lstStyle/>
                    <a:p>
                      <a:pPr algn="ctr">
                        <a:lnSpc>
                          <a:spcPct val="105000"/>
                        </a:lnSpc>
                      </a:pPr>
                      <a:r>
                        <a:rPr sz="1050" b="1">
                          <a:solidFill>
                            <a:srgbClr val="000000"/>
                          </a:solidFill>
                          <a:latin typeface="Meiryo"/>
                          <a:ea typeface="Meiryo"/>
                        </a:rPr>
                        <a:t>方案7</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製品DEG 不純物処理（IER）</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ctr">
                        <a:lnSpc>
                          <a:spcPct val="105000"/>
                        </a:lnSpc>
                      </a:pPr>
                      <a:r>
                        <a:rPr sz="1050" b="0">
                          <a:solidFill>
                            <a:srgbClr val="000000"/>
                          </a:solidFill>
                          <a:latin typeface="Meiryo"/>
                          <a:ea typeface="Meiryo"/>
                        </a:rPr>
                        <a:t>出口</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050" b="0">
                          <a:solidFill>
                            <a:srgbClr val="000000"/>
                          </a:solidFill>
                          <a:latin typeface="Meiryo"/>
                          <a:ea typeface="Meiryo"/>
                        </a:rPr>
                        <a:t>過去の起業化案を確認中。</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bl>
          </a:graphicData>
        </a:graphic>
      </p:graphicFrame>
      <p:sp>
        <p:nvSpPr>
          <p:cNvPr id="5" name="TextBox 4"/>
          <p:cNvSpPr txBox="1"/>
          <p:nvPr/>
        </p:nvSpPr>
        <p:spPr>
          <a:xfrm>
            <a:off x="503999" y="6246000"/>
            <a:ext cx="11184121" cy="324000"/>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000" b="1">
                <a:solidFill>
                  <a:srgbClr val="000000"/>
                </a:solidFill>
                <a:latin typeface="Meiryo"/>
                <a:ea typeface="Meiryo"/>
              </a:rPr>
              <a:t>方針：方針は、F-ALDが存在しない環境を作ったうえでA-ALDを下げること（方案5と6の組み合わせ）を軸に置く。</a:t>
            </a:r>
          </a:p>
        </p:txBody>
      </p:sp>
      <p:sp>
        <p:nvSpPr>
          <p:cNvPr id="6" name="TextBox 5"/>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対応：スタートアップ運転条件案</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936000"/>
            <a:ext cx="11184121" cy="251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200" b="0">
                <a:solidFill>
                  <a:srgbClr val="404040"/>
                </a:solidFill>
                <a:latin typeface="Meiryo"/>
                <a:ea typeface="Meiryo"/>
              </a:rPr>
              <a:t>6/19 DEG対策会議。6/25は承認の場、6/22〜24で根拠を付けて合意。</a:t>
            </a:r>
          </a:p>
        </p:txBody>
      </p:sp>
      <p:graphicFrame>
        <p:nvGraphicFramePr>
          <p:cNvPr id="5" name="Table 4"/>
          <p:cNvGraphicFramePr>
            <a:graphicFrameLocks noGrp="1"/>
          </p:cNvGraphicFramePr>
          <p:nvPr/>
        </p:nvGraphicFramePr>
        <p:xfrm>
          <a:off x="503999" y="1206000"/>
          <a:ext cx="11160000" cy="360000"/>
        </p:xfrm>
        <a:graphic>
          <a:graphicData uri="http://schemas.openxmlformats.org/drawingml/2006/table">
            <a:tbl>
              <a:tblPr firstRow="0" bandRow="0">
                <a:tableStyleId>{5C22544A-7EE6-4342-B048-85BDC9FD1C3A}</a:tableStyleId>
              </a:tblPr>
              <a:tblGrid>
                <a:gridCol w="2520000"/>
                <a:gridCol w="8640000"/>
              </a:tblGrid>
              <a:tr h="90000">
                <a:tc>
                  <a:txBody>
                    <a:bodyPr wrap="square"/>
                    <a:lstStyle/>
                    <a:p>
                      <a:pPr algn="ctr"/>
                      <a:r>
                        <a:rPr sz="1100" b="1">
                          <a:solidFill>
                            <a:srgbClr val="000000"/>
                          </a:solidFill>
                          <a:latin typeface="Meiryo"/>
                          <a:ea typeface="Meiryo"/>
                        </a:rPr>
                        <a:t>項目</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方針</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90000">
                <a:tc>
                  <a:txBody>
                    <a:bodyPr wrap="square"/>
                    <a:lstStyle/>
                    <a:p>
                      <a:pPr algn="l">
                        <a:lnSpc>
                          <a:spcPct val="105000"/>
                        </a:lnSpc>
                      </a:pPr>
                      <a:r>
                        <a:rPr sz="1200" b="1">
                          <a:solidFill>
                            <a:srgbClr val="000000"/>
                          </a:solidFill>
                          <a:latin typeface="Meiryo"/>
                          <a:ea typeface="Meiryo"/>
                        </a:rPr>
                        <a:t>苛性ソーダ投入</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200" b="0">
                          <a:solidFill>
                            <a:srgbClr val="000000"/>
                          </a:solidFill>
                          <a:latin typeface="Meiryo"/>
                          <a:ea typeface="Meiryo"/>
                        </a:rPr>
                        <a:t>現時点では投入しないをベース。投入する場合は機構に基づく根拠を付ける。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90000">
                <a:tc>
                  <a:txBody>
                    <a:bodyPr wrap="square"/>
                    <a:lstStyle/>
                    <a:p>
                      <a:pPr algn="l">
                        <a:lnSpc>
                          <a:spcPct val="105000"/>
                        </a:lnSpc>
                      </a:pPr>
                      <a:r>
                        <a:rPr sz="1200" b="1">
                          <a:solidFill>
                            <a:srgbClr val="000000"/>
                          </a:solidFill>
                          <a:latin typeface="Meiryo"/>
                          <a:ea typeface="Meiryo"/>
                        </a:rPr>
                        <a:t>リン酸投入</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200" b="0">
                          <a:solidFill>
                            <a:srgbClr val="000000"/>
                          </a:solidFill>
                          <a:latin typeface="Meiryo"/>
                          <a:ea typeface="Meiryo"/>
                        </a:rPr>
                        <a:t>投入要否を判断。G-ALD抑制とDEG色相の両面で必要性を見る。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90000">
                <a:tc>
                  <a:txBody>
                    <a:bodyPr wrap="square"/>
                    <a:lstStyle/>
                    <a:p>
                      <a:pPr algn="l">
                        <a:lnSpc>
                          <a:spcPct val="105000"/>
                        </a:lnSpc>
                      </a:pPr>
                      <a:r>
                        <a:rPr sz="1200" b="1">
                          <a:solidFill>
                            <a:srgbClr val="000000"/>
                          </a:solidFill>
                          <a:latin typeface="Meiryo"/>
                          <a:ea typeface="Meiryo"/>
                        </a:rPr>
                        <a:t>MEG塔温度設定</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200" b="0">
                          <a:solidFill>
                            <a:srgbClr val="000000"/>
                          </a:solidFill>
                          <a:latin typeface="Meiryo"/>
                          <a:ea typeface="Meiryo"/>
                        </a:rPr>
                        <a:t>HUV220と前駆体の行き先の両面を見て設定。温度を下げる対応は色相への効きが確証なし。</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bl>
          </a:graphicData>
        </a:graphic>
      </p:graphicFrame>
      <p:sp>
        <p:nvSpPr>
          <p:cNvPr id="6" name="TextBox 5"/>
          <p:cNvSpPr txBox="1"/>
          <p:nvPr/>
        </p:nvSpPr>
        <p:spPr>
          <a:xfrm>
            <a:off x="503999" y="6246000"/>
            <a:ext cx="11184121" cy="324000"/>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000" b="1">
                <a:solidFill>
                  <a:srgbClr val="000000"/>
                </a:solidFill>
                <a:latin typeface="Meiryo"/>
                <a:ea typeface="Meiryo"/>
              </a:rPr>
              <a:t>6/25のスタートアップ会議は承認の場とする。6/22〜24で対策会議メンバーが方針を固め、各項目に投入・非投入の根拠を付けて認識を合わせる。連日対策会議は6/22〜7/3、プラントスタートは7/5を予定。</a:t>
            </a:r>
          </a:p>
        </p:txBody>
      </p:sp>
      <p:sp>
        <p:nvSpPr>
          <p:cNvPr id="7" name="TextBox 6"/>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対応：早期色相判断・指標</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4" name="Table 3"/>
          <p:cNvGraphicFramePr>
            <a:graphicFrameLocks noGrp="1"/>
          </p:cNvGraphicFramePr>
          <p:nvPr/>
        </p:nvGraphicFramePr>
        <p:xfrm>
          <a:off x="503999" y="1026000"/>
          <a:ext cx="11160000" cy="360000"/>
        </p:xfrm>
        <a:graphic>
          <a:graphicData uri="http://schemas.openxmlformats.org/drawingml/2006/table">
            <a:tbl>
              <a:tblPr firstRow="0" bandRow="0">
                <a:tableStyleId>{5C22544A-7EE6-4342-B048-85BDC9FD1C3A}</a:tableStyleId>
              </a:tblPr>
              <a:tblGrid>
                <a:gridCol w="2160000"/>
                <a:gridCol w="9000000"/>
              </a:tblGrid>
              <a:tr h="90000">
                <a:tc>
                  <a:txBody>
                    <a:bodyPr wrap="square"/>
                    <a:lstStyle/>
                    <a:p>
                      <a:pPr algn="ctr"/>
                      <a:r>
                        <a:rPr sz="1100" b="1">
                          <a:solidFill>
                            <a:srgbClr val="000000"/>
                          </a:solidFill>
                          <a:latin typeface="Meiryo"/>
                          <a:ea typeface="Meiryo"/>
                        </a:rPr>
                        <a:t>指標</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c>
                  <a:txBody>
                    <a:bodyPr wrap="square"/>
                    <a:lstStyle/>
                    <a:p>
                      <a:pPr algn="ctr"/>
                      <a:r>
                        <a:rPr sz="1100" b="1">
                          <a:solidFill>
                            <a:srgbClr val="000000"/>
                          </a:solidFill>
                          <a:latin typeface="Meiryo"/>
                          <a:ea typeface="Meiryo"/>
                        </a:rPr>
                        <a:t>内容</a:t>
                      </a:r>
                    </a:p>
                  </a:txBody>
                  <a:tcPr anchor="ctr" marL="43200" marR="43200" marT="14400" marB="144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D9D9D9"/>
                    </a:solidFill>
                  </a:tcPr>
                </a:tc>
              </a:tr>
              <a:tr h="90000">
                <a:tc>
                  <a:txBody>
                    <a:bodyPr wrap="square"/>
                    <a:lstStyle/>
                    <a:p>
                      <a:pPr algn="l">
                        <a:lnSpc>
                          <a:spcPct val="105000"/>
                        </a:lnSpc>
                      </a:pPr>
                      <a:r>
                        <a:rPr sz="1200" b="1">
                          <a:solidFill>
                            <a:srgbClr val="000000"/>
                          </a:solidFill>
                          <a:latin typeface="Meiryo"/>
                          <a:ea typeface="Meiryo"/>
                        </a:rPr>
                        <a:t>UV450nm</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200" b="0">
                          <a:solidFill>
                            <a:srgbClr val="000000"/>
                          </a:solidFill>
                          <a:latin typeface="Meiryo"/>
                          <a:ea typeface="Meiryo"/>
                        </a:rPr>
                        <a:t>現状で最も感度が高い。悪化品は1日あたり約0.004上昇、正常品はベース0.002から動かない。1日後の上昇量で判定できる。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r h="90000">
                <a:tc>
                  <a:txBody>
                    <a:bodyPr wrap="square"/>
                    <a:lstStyle/>
                    <a:p>
                      <a:pPr algn="l">
                        <a:lnSpc>
                          <a:spcPct val="105000"/>
                        </a:lnSpc>
                      </a:pPr>
                      <a:r>
                        <a:rPr sz="1200" b="1">
                          <a:solidFill>
                            <a:srgbClr val="000000"/>
                          </a:solidFill>
                          <a:latin typeface="Meiryo"/>
                          <a:ea typeface="Meiryo"/>
                        </a:rPr>
                        <a:t>UV330nm</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c>
                  <a:txBody>
                    <a:bodyPr wrap="square"/>
                    <a:lstStyle/>
                    <a:p>
                      <a:pPr algn="l">
                        <a:lnSpc>
                          <a:spcPct val="105000"/>
                        </a:lnSpc>
                      </a:pPr>
                      <a:r>
                        <a:rPr sz="1200" b="0">
                          <a:solidFill>
                            <a:srgbClr val="000000"/>
                          </a:solidFill>
                          <a:latin typeface="Meiryo"/>
                          <a:ea typeface="Meiryo"/>
                        </a:rPr>
                        <a:t>Naを含まない領域。1週間待たずに初期色相を判断できる可能性。停止前のリン酸なしと5月のリン酸ありを比較して検証する。</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2F2F2"/>
                    </a:solidFill>
                  </a:tcPr>
                </a:tc>
              </a:tr>
              <a:tr h="90000">
                <a:tc>
                  <a:txBody>
                    <a:bodyPr wrap="square"/>
                    <a:lstStyle/>
                    <a:p>
                      <a:pPr algn="l">
                        <a:lnSpc>
                          <a:spcPct val="105000"/>
                        </a:lnSpc>
                      </a:pPr>
                      <a:r>
                        <a:rPr sz="1200" b="1">
                          <a:solidFill>
                            <a:srgbClr val="000000"/>
                          </a:solidFill>
                          <a:latin typeface="Meiryo"/>
                          <a:ea typeface="Meiryo"/>
                        </a:rPr>
                        <a:t>Total Aldehyde監視</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c>
                  <a:txBody>
                    <a:bodyPr wrap="square"/>
                    <a:lstStyle/>
                    <a:p>
                      <a:pPr algn="l">
                        <a:lnSpc>
                          <a:spcPct val="105000"/>
                        </a:lnSpc>
                      </a:pPr>
                      <a:r>
                        <a:rPr sz="1200" b="0">
                          <a:solidFill>
                            <a:srgbClr val="000000"/>
                          </a:solidFill>
                          <a:latin typeface="Meiryo"/>
                          <a:ea typeface="Meiryo"/>
                        </a:rPr>
                        <a:t>採用見送り。エノラートが伸びてもカルボニル数が変わらず検出原理として弱い。既存のエキクロ法以上の情報が得にくい。</a:t>
                      </a:r>
                    </a:p>
                  </a:txBody>
                  <a:tcPr anchor="ctr" marL="43200" marR="43200" marT="10800" marB="10800">
                    <a:lnL w="6350" cap="flat">
                      <a:solidFill>
                        <a:srgbClr val="808080"/>
                      </a:solidFill>
                    </a:lnL>
                    <a:lnR w="6350" cap="flat">
                      <a:solidFill>
                        <a:srgbClr val="808080"/>
                      </a:solidFill>
                    </a:lnR>
                    <a:lnT w="6350" cap="flat">
                      <a:solidFill>
                        <a:srgbClr val="808080"/>
                      </a:solidFill>
                    </a:lnT>
                    <a:lnB w="6350" cap="flat">
                      <a:solidFill>
                        <a:srgbClr val="808080"/>
                      </a:solidFill>
                    </a:lnB>
                    <a:solidFill>
                      <a:srgbClr val="FFFFFF"/>
                    </a:solidFill>
                  </a:tcPr>
                </a:tc>
              </a:tr>
            </a:tbl>
          </a:graphicData>
        </a:graphic>
      </p:graphicFrame>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対応：異物の確認と顧客への説明</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1026000"/>
            <a:ext cx="5448060" cy="360000"/>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400" b="1">
                <a:solidFill>
                  <a:srgbClr val="000000"/>
                </a:solidFill>
                <a:latin typeface="Meiryo"/>
                <a:ea typeface="Meiryo"/>
              </a:rPr>
              <a:t>異物・タンク・ライン処理</a:t>
            </a:r>
          </a:p>
        </p:txBody>
      </p:sp>
      <p:sp>
        <p:nvSpPr>
          <p:cNvPr id="5" name="TextBox 4"/>
          <p:cNvSpPr txBox="1"/>
          <p:nvPr/>
        </p:nvSpPr>
        <p:spPr>
          <a:xfrm>
            <a:off x="503999" y="1386000"/>
            <a:ext cx="5448060" cy="5040000"/>
          </a:xfrm>
          <a:prstGeom prst="rect">
            <a:avLst/>
          </a:prstGeom>
          <a:noFill/>
        </p:spPr>
        <p:txBody>
          <a:bodyPr wrap="square" anchor="t" lIns="36000" rIns="36000" tIns="18000" bIns="18000">
            <a:spAutoFit/>
          </a:bodyPr>
          <a:lstStyle/>
          <a:p>
            <a:pPr algn="l">
              <a:lnSpc>
                <a:spcPct val="118000"/>
              </a:lnSpc>
              <a:spcBef>
                <a:spcPts val="0"/>
              </a:spcBef>
              <a:spcAft>
                <a:spcPts val="800"/>
              </a:spcAft>
            </a:pPr>
            <a:r>
              <a:rPr sz="1200" b="0">
                <a:solidFill>
                  <a:srgbClr val="000000"/>
                </a:solidFill>
                <a:latin typeface="Meiryo"/>
                <a:ea typeface="Meiryo"/>
              </a:rPr>
              <a:t>・T-615異物：けい素が過半（砂）に鉄さび10〜12%が混じる混合物。鉄さび片も別に確認。色相悪化を促す触媒ではないとの見解。</a:t>
            </a:r>
          </a:p>
          <a:p>
            <a:pPr algn="l">
              <a:lnSpc>
                <a:spcPct val="118000"/>
              </a:lnSpc>
              <a:spcBef>
                <a:spcPts val="0"/>
              </a:spcBef>
              <a:spcAft>
                <a:spcPts val="800"/>
              </a:spcAft>
            </a:pPr>
            <a:r>
              <a:rPr sz="1200" b="0">
                <a:solidFill>
                  <a:srgbClr val="000000"/>
                </a:solidFill>
                <a:latin typeface="Meiryo"/>
                <a:ea typeface="Meiryo"/>
              </a:rPr>
              <a:t>・T-555異物：黒色異物少・比較的綺麗。黒異物は目視未満で色相悪化との関係は薄い。</a:t>
            </a:r>
          </a:p>
          <a:p>
            <a:pPr algn="l">
              <a:lnSpc>
                <a:spcPct val="118000"/>
              </a:lnSpc>
              <a:spcBef>
                <a:spcPts val="0"/>
              </a:spcBef>
              <a:spcAft>
                <a:spcPts val="800"/>
              </a:spcAft>
            </a:pPr>
            <a:r>
              <a:rPr sz="1200" b="0">
                <a:solidFill>
                  <a:srgbClr val="000000"/>
                </a:solidFill>
                <a:latin typeface="Meiryo"/>
                <a:ea typeface="Meiryo"/>
              </a:rPr>
              <a:t>・共配ライン処理：来週実施。水を使わず、向後側から窒素でEOプラント側へ押し、窒素パージで終える。</a:t>
            </a:r>
          </a:p>
          <a:p>
            <a:pPr algn="l">
              <a:lnSpc>
                <a:spcPct val="118000"/>
              </a:lnSpc>
              <a:spcBef>
                <a:spcPts val="0"/>
              </a:spcBef>
              <a:spcAft>
                <a:spcPts val="800"/>
              </a:spcAft>
            </a:pPr>
            <a:r>
              <a:rPr sz="1200" b="0">
                <a:solidFill>
                  <a:srgbClr val="000000"/>
                </a:solidFill>
                <a:latin typeface="Meiryo"/>
                <a:ea typeface="Meiryo"/>
              </a:rPr>
              <a:t>・ボンベサンプリング：色相悪化がプラント由来かタンク由来かを切り分けるため、窒素を残した状態で保管したサンプルを取得する。</a:t>
            </a:r>
          </a:p>
        </p:txBody>
      </p:sp>
      <p:sp>
        <p:nvSpPr>
          <p:cNvPr id="6" name="TextBox 5"/>
          <p:cNvSpPr txBox="1"/>
          <p:nvPr/>
        </p:nvSpPr>
        <p:spPr>
          <a:xfrm>
            <a:off x="6240059" y="1026000"/>
            <a:ext cx="5448060" cy="360000"/>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400" b="1">
                <a:solidFill>
                  <a:srgbClr val="000000"/>
                </a:solidFill>
                <a:latin typeface="Meiryo"/>
                <a:ea typeface="Meiryo"/>
              </a:rPr>
              <a:t>顧客（レゾナック）向け説明の骨子</a:t>
            </a:r>
          </a:p>
        </p:txBody>
      </p:sp>
      <p:sp>
        <p:nvSpPr>
          <p:cNvPr id="7" name="TextBox 6"/>
          <p:cNvSpPr txBox="1"/>
          <p:nvPr/>
        </p:nvSpPr>
        <p:spPr>
          <a:xfrm>
            <a:off x="6240059" y="1386000"/>
            <a:ext cx="5448060" cy="4896000"/>
          </a:xfrm>
          <a:prstGeom prst="rect">
            <a:avLst/>
          </a:prstGeom>
          <a:noFill/>
        </p:spPr>
        <p:txBody>
          <a:bodyPr wrap="square" anchor="t" lIns="36000" rIns="36000" tIns="18000" bIns="18000">
            <a:spAutoFit/>
          </a:bodyPr>
          <a:lstStyle/>
          <a:p>
            <a:pPr algn="l">
              <a:lnSpc>
                <a:spcPct val="118000"/>
              </a:lnSpc>
              <a:spcBef>
                <a:spcPts val="0"/>
              </a:spcBef>
              <a:spcAft>
                <a:spcPts val="800"/>
              </a:spcAft>
            </a:pPr>
            <a:r>
              <a:rPr sz="1200" b="0">
                <a:solidFill>
                  <a:srgbClr val="000000"/>
                </a:solidFill>
                <a:latin typeface="Meiryo"/>
                <a:ea typeface="Meiryo"/>
              </a:rPr>
              <a:t>・触媒失活による可能性が高い。</a:t>
            </a:r>
          </a:p>
          <a:p>
            <a:pPr algn="l">
              <a:lnSpc>
                <a:spcPct val="118000"/>
              </a:lnSpc>
              <a:spcBef>
                <a:spcPts val="0"/>
              </a:spcBef>
              <a:spcAft>
                <a:spcPts val="800"/>
              </a:spcAft>
            </a:pPr>
            <a:r>
              <a:rPr sz="1200" b="0">
                <a:solidFill>
                  <a:srgbClr val="000000"/>
                </a:solidFill>
                <a:latin typeface="Meiryo"/>
                <a:ea typeface="Meiryo"/>
              </a:rPr>
              <a:t>・アセトアルデヒド類の生成量が増加した。</a:t>
            </a:r>
          </a:p>
          <a:p>
            <a:pPr algn="l">
              <a:lnSpc>
                <a:spcPct val="118000"/>
              </a:lnSpc>
              <a:spcBef>
                <a:spcPts val="0"/>
              </a:spcBef>
              <a:spcAft>
                <a:spcPts val="800"/>
              </a:spcAft>
            </a:pPr>
            <a:r>
              <a:rPr sz="1200" b="0">
                <a:solidFill>
                  <a:srgbClr val="000000"/>
                </a:solidFill>
                <a:latin typeface="Meiryo"/>
                <a:ea typeface="Meiryo"/>
              </a:rPr>
              <a:t>・EGプラントでの重合で可視光を吸収する物質に変わった。</a:t>
            </a:r>
          </a:p>
          <a:p>
            <a:pPr algn="l">
              <a:lnSpc>
                <a:spcPct val="118000"/>
              </a:lnSpc>
              <a:spcBef>
                <a:spcPts val="0"/>
              </a:spcBef>
              <a:spcAft>
                <a:spcPts val="800"/>
              </a:spcAft>
            </a:pPr>
            <a:r>
              <a:rPr sz="1200" b="0">
                <a:solidFill>
                  <a:srgbClr val="000000"/>
                </a:solidFill>
                <a:latin typeface="Meiryo"/>
                <a:ea typeface="Meiryo"/>
              </a:rPr>
              <a:t>・定量的な把握が難しく、ごく微量（PPB未満の水準）である。</a:t>
            </a:r>
          </a:p>
          <a:p>
            <a:pPr algn="l">
              <a:lnSpc>
                <a:spcPct val="118000"/>
              </a:lnSpc>
              <a:spcBef>
                <a:spcPts val="0"/>
              </a:spcBef>
              <a:spcAft>
                <a:spcPts val="800"/>
              </a:spcAft>
            </a:pPr>
            <a:r>
              <a:rPr sz="1200" b="0">
                <a:solidFill>
                  <a:srgbClr val="000000"/>
                </a:solidFill>
                <a:latin typeface="Meiryo"/>
                <a:ea typeface="Meiryo"/>
              </a:rPr>
              <a:t>・色相・外観以外の品質規格には影響しない。</a:t>
            </a:r>
          </a:p>
        </p:txBody>
      </p:sp>
      <p:sp>
        <p:nvSpPr>
          <p:cNvPr id="8" name="TextBox 7"/>
          <p:cNvSpPr txBox="1"/>
          <p:nvPr/>
        </p:nvSpPr>
        <p:spPr>
          <a:xfrm>
            <a:off x="6240059" y="6246000"/>
            <a:ext cx="5448060" cy="324000"/>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1000" b="0">
                <a:solidFill>
                  <a:srgbClr val="404040"/>
                </a:solidFill>
                <a:latin typeface="Meiryo"/>
                <a:ea typeface="Meiryo"/>
              </a:rPr>
              <a:t>営業はまず口頭で説明する方針。「PPBレベル」は誤解を招くため「PPB未満の水準」と表現する。</a:t>
            </a:r>
          </a:p>
        </p:txBody>
      </p:sp>
      <p:sp>
        <p:nvSpPr>
          <p:cNvPr id="9" name="TextBox 8"/>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M50（モデルチェンジ）との接続</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1026000"/>
            <a:ext cx="11184121" cy="5400000"/>
          </a:xfrm>
          <a:prstGeom prst="rect">
            <a:avLst/>
          </a:prstGeom>
          <a:noFill/>
        </p:spPr>
        <p:txBody>
          <a:bodyPr wrap="square" anchor="t" lIns="36000" rIns="36000" tIns="18000" bIns="18000">
            <a:spAutoFit/>
          </a:bodyPr>
          <a:lstStyle/>
          <a:p>
            <a:pPr algn="l">
              <a:lnSpc>
                <a:spcPct val="120000"/>
              </a:lnSpc>
              <a:spcBef>
                <a:spcPts val="0"/>
              </a:spcBef>
              <a:spcAft>
                <a:spcPts val="1000"/>
              </a:spcAft>
            </a:pPr>
            <a:r>
              <a:rPr sz="1600" b="0">
                <a:solidFill>
                  <a:srgbClr val="000000"/>
                </a:solidFill>
                <a:latin typeface="Meiryo"/>
                <a:ea typeface="Meiryo"/>
              </a:rPr>
              <a:t>・アルデヒドバランスでは、M50で原料水を3分の1まで下げても入口濃度上昇の影響は残る。入口側の不純物が支配的。</a:t>
            </a:r>
          </a:p>
          <a:p>
            <a:pPr algn="l">
              <a:lnSpc>
                <a:spcPct val="120000"/>
              </a:lnSpc>
              <a:spcBef>
                <a:spcPts val="0"/>
              </a:spcBef>
              <a:spcAft>
                <a:spcPts val="1000"/>
              </a:spcAft>
            </a:pPr>
            <a:r>
              <a:rPr sz="1600" b="0">
                <a:solidFill>
                  <a:srgbClr val="000000"/>
                </a:solidFill>
                <a:latin typeface="Meiryo"/>
                <a:ea typeface="Meiryo"/>
              </a:rPr>
              <a:t>・原料水低減だけでは効果が足りない。現行の対策では将来的に現状の濃度水準を保つのは難しい見込み。</a:t>
            </a:r>
          </a:p>
          <a:p>
            <a:pPr algn="l">
              <a:lnSpc>
                <a:spcPct val="120000"/>
              </a:lnSpc>
              <a:spcBef>
                <a:spcPts val="0"/>
              </a:spcBef>
              <a:spcAft>
                <a:spcPts val="1000"/>
              </a:spcAft>
            </a:pPr>
            <a:r>
              <a:rPr sz="1600" b="0">
                <a:solidFill>
                  <a:srgbClr val="000000"/>
                </a:solidFill>
                <a:latin typeface="Meiryo"/>
                <a:ea typeface="Meiryo"/>
              </a:rPr>
              <a:t>・そのため、入口でアルデヒドを下げる方案5・6を軸に、リン酸の継続投入とSU運転条件の確定を合わせて進める。</a:t>
            </a:r>
          </a:p>
        </p:txBody>
      </p:sp>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3999" y="396000"/>
            <a:ext cx="11184121" cy="503999"/>
          </a:xfrm>
          <a:prstGeom prst="rect">
            <a:avLst/>
          </a:prstGeom>
          <a:noFill/>
        </p:spPr>
        <p:txBody>
          <a:bodyPr wrap="square" anchor="t" lIns="36000" rIns="36000" tIns="18000" bIns="18000">
            <a:spAutoFit/>
          </a:bodyPr>
          <a:lstStyle/>
          <a:p>
            <a:pPr algn="l">
              <a:lnSpc>
                <a:spcPct val="112000"/>
              </a:lnSpc>
              <a:spcBef>
                <a:spcPts val="0"/>
              </a:spcBef>
              <a:spcAft>
                <a:spcPts val="400"/>
              </a:spcAft>
            </a:pPr>
            <a:r>
              <a:rPr sz="2400" b="1">
                <a:solidFill>
                  <a:srgbClr val="000000"/>
                </a:solidFill>
                <a:latin typeface="Meiryo"/>
                <a:ea typeface="Meiryo"/>
              </a:rPr>
              <a:t>次アクション</a:t>
            </a:r>
          </a:p>
        </p:txBody>
      </p:sp>
      <p:cxnSp>
        <p:nvCxnSpPr>
          <p:cNvPr id="3" name="Connector 2"/>
          <p:cNvCxnSpPr/>
          <p:nvPr/>
        </p:nvCxnSpPr>
        <p:spPr>
          <a:xfrm>
            <a:off x="503999" y="918000"/>
            <a:ext cx="11184121" cy="0"/>
          </a:xfrm>
          <a:prstGeom prst="bentConnector3">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3999" y="1026000"/>
            <a:ext cx="11184121" cy="5400000"/>
          </a:xfrm>
          <a:prstGeom prst="rect">
            <a:avLst/>
          </a:prstGeom>
          <a:noFill/>
        </p:spPr>
        <p:txBody>
          <a:bodyPr wrap="square" anchor="t" lIns="36000" rIns="36000" tIns="18000" bIns="18000">
            <a:spAutoFit/>
          </a:bodyPr>
          <a:lstStyle/>
          <a:p>
            <a:pPr algn="l">
              <a:lnSpc>
                <a:spcPct val="120000"/>
              </a:lnSpc>
              <a:spcBef>
                <a:spcPts val="0"/>
              </a:spcBef>
              <a:spcAft>
                <a:spcPts val="1000"/>
              </a:spcAft>
            </a:pPr>
            <a:r>
              <a:rPr sz="1400" b="0">
                <a:solidFill>
                  <a:srgbClr val="000000"/>
                </a:solidFill>
                <a:latin typeface="Meiryo"/>
                <a:ea typeface="Meiryo"/>
              </a:rPr>
              <a:t>・水分の3期分け（10月以前・穴あり期・修理後）で、製品DEG・T-555・T-615の水分時系列を整理し直す。</a:t>
            </a:r>
          </a:p>
          <a:p>
            <a:pPr algn="l">
              <a:lnSpc>
                <a:spcPct val="120000"/>
              </a:lnSpc>
              <a:spcBef>
                <a:spcPts val="0"/>
              </a:spcBef>
              <a:spcAft>
                <a:spcPts val="1000"/>
              </a:spcAft>
            </a:pPr>
            <a:r>
              <a:rPr sz="1400" b="0">
                <a:solidFill>
                  <a:srgbClr val="000000"/>
                </a:solidFill>
                <a:latin typeface="Meiryo"/>
                <a:ea typeface="Meiryo"/>
              </a:rPr>
              <a:t>・C-1503ミドル充填部のリン酸到達を、壁面付着物のXRFで確認し、リン酸の効き方を切り分ける。</a:t>
            </a:r>
          </a:p>
          <a:p>
            <a:pPr algn="l">
              <a:lnSpc>
                <a:spcPct val="120000"/>
              </a:lnSpc>
              <a:spcBef>
                <a:spcPts val="0"/>
              </a:spcBef>
              <a:spcAft>
                <a:spcPts val="1000"/>
              </a:spcAft>
            </a:pPr>
            <a:r>
              <a:rPr sz="1400" b="0">
                <a:solidFill>
                  <a:srgbClr val="000000"/>
                </a:solidFill>
                <a:latin typeface="Meiryo"/>
                <a:ea typeface="Meiryo"/>
              </a:rPr>
              <a:t>・UV330nmの早期判断について、停止前のリン酸なしと5月のリン酸ありのデータで有効性を検証する。</a:t>
            </a:r>
          </a:p>
          <a:p>
            <a:pPr algn="l">
              <a:lnSpc>
                <a:spcPct val="120000"/>
              </a:lnSpc>
              <a:spcBef>
                <a:spcPts val="0"/>
              </a:spcBef>
              <a:spcAft>
                <a:spcPts val="1000"/>
              </a:spcAft>
            </a:pPr>
            <a:r>
              <a:rPr sz="1400" b="0">
                <a:solidFill>
                  <a:srgbClr val="000000"/>
                </a:solidFill>
                <a:latin typeface="Meiryo"/>
                <a:ea typeface="Meiryo"/>
              </a:rPr>
              <a:t>・スタートアップ後のリン酸テスト（5%を1.5L/h、10%を1L/hと1.5L/h）の段取りを決める。</a:t>
            </a:r>
          </a:p>
          <a:p>
            <a:pPr algn="l">
              <a:lnSpc>
                <a:spcPct val="120000"/>
              </a:lnSpc>
              <a:spcBef>
                <a:spcPts val="0"/>
              </a:spcBef>
              <a:spcAft>
                <a:spcPts val="1000"/>
              </a:spcAft>
            </a:pPr>
            <a:r>
              <a:rPr sz="1400" b="0">
                <a:solidFill>
                  <a:srgbClr val="000000"/>
                </a:solidFill>
                <a:latin typeface="Meiryo"/>
                <a:ea typeface="Meiryo"/>
              </a:rPr>
              <a:t>・NaOHの運用基準（触媒交換後にアルデヒド低下を確認してから投入する手順案）を関係者へ正式に起こす。</a:t>
            </a:r>
          </a:p>
          <a:p>
            <a:pPr algn="l">
              <a:lnSpc>
                <a:spcPct val="120000"/>
              </a:lnSpc>
              <a:spcBef>
                <a:spcPts val="0"/>
              </a:spcBef>
              <a:spcAft>
                <a:spcPts val="1000"/>
              </a:spcAft>
            </a:pPr>
            <a:r>
              <a:rPr sz="1400" b="0">
                <a:solidFill>
                  <a:srgbClr val="000000"/>
                </a:solidFill>
                <a:latin typeface="Meiryo"/>
                <a:ea typeface="Meiryo"/>
              </a:rPr>
              <a:t>・DEGラインへのIER導入案について、色相悪化DEGサンプルの樹脂通過テストの準備を進める。</a:t>
            </a:r>
          </a:p>
        </p:txBody>
      </p:sp>
      <p:sp>
        <p:nvSpPr>
          <p:cNvPr id="5" name="TextBox 4"/>
          <p:cNvSpPr txBox="1"/>
          <p:nvPr/>
        </p:nvSpPr>
        <p:spPr>
          <a:xfrm>
            <a:off x="503999" y="6534000"/>
            <a:ext cx="11184121" cy="216000"/>
          </a:xfrm>
          <a:prstGeom prst="rect">
            <a:avLst/>
          </a:prstGeom>
          <a:noFill/>
        </p:spPr>
        <p:txBody>
          <a:bodyPr wrap="square" anchor="t" lIns="36000" rIns="36000" tIns="18000" bIns="18000">
            <a:spAutoFit/>
          </a:bodyPr>
          <a:lstStyle/>
          <a:p>
            <a:pPr algn="r">
              <a:lnSpc>
                <a:spcPct val="112000"/>
              </a:lnSpc>
              <a:spcBef>
                <a:spcPts val="0"/>
              </a:spcBef>
              <a:spcAft>
                <a:spcPts val="400"/>
              </a:spcAft>
            </a:pPr>
            <a:r>
              <a:rPr sz="900" b="0">
                <a:solidFill>
                  <a:srgbClr val="404040"/>
                </a:solidFill>
                <a:latin typeface="Meiryo"/>
                <a:ea typeface="Meiryo"/>
              </a:rPr>
              <a:t>プロセス技術部　EOGモデルチェンジPJ　／　2026-06-20 時点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EG品質の現状とDEG色相悪化への対応</dc:title>
  <dc:subject/>
  <dc:creator>hirao kazuaki/0465811/平尾　一陽</dc:creator>
  <cp:keywords/>
  <dc:description>generated using python-pptx</dc:description>
  <cp:lastModifiedBy>hirao kazuaki/0465811/平尾　一陽</cp:lastModifiedBy>
  <cp:revision>1</cp:revision>
  <dcterms:created xsi:type="dcterms:W3CDTF">2013-01-27T09:14:16Z</dcterms:created>
  <dcterms:modified xsi:type="dcterms:W3CDTF">2013-01-27T09:15:58Z</dcterms:modified>
  <cp:category/>
</cp:coreProperties>
</file>