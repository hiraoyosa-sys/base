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286000"/>
            <a:ext cx="12191695" cy="2286000"/>
          </a:xfrm>
          <a:prstGeom prst="round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製品DEG色相悪化　対策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D9E1F2"/>
                </a:solidFill>
                <a:latin typeface="游ゴシック"/>
                <a:ea typeface="游ゴシック"/>
                <a:cs typeface="游ゴシック"/>
              </a:rPr>
              <a:t>事実の整理 → 推定メカニズム → 対応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D9E1F2"/>
                </a:solidFill>
                <a:latin typeface="游ゴシック"/>
                <a:ea typeface="游ゴシック"/>
                <a:cs typeface="游ゴシック"/>
              </a:rP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発生事象（事実）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・冬定修後の再稼働（3月）以降、製品DEGがタンク保管中に色相（APHA）を経時上昇。約1か月半で検査規格を超過（APHA&lt;5 → 25〜35）。</a:t>
            </a:r>
          </a:p>
          <a:p>
            <a:pPr>
              <a:spcAft>
                <a:spcPts val="8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Aft>
                <a:spcPts val="8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・同じ製品でも、ドラム充填品・SP転送品（大気接触）では色相上昇しない。共配ライン残液（27日保管）も悪化なし。</a:t>
            </a:r>
          </a:p>
          <a:p>
            <a:pPr>
              <a:spcAft>
                <a:spcPts val="8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・色相・外観以外の品質規格（純度・MEG/TEG・水分・金属・蒸留性状）は実測で正常品の範囲内。pHのみ通常より僅かに高め（+0.1〜0.2程度）。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着色物質と着色現象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11201400" cy="251460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73152"/>
          <a:lstStyle/>
          <a:p>
            <a:pPr algn="ctr"/>
            <a:r>
              <a:rPr sz="1300" b="1">
                <a:solidFill>
                  <a:srgbClr val="2E7D32"/>
                </a:solidFill>
                <a:latin typeface="游ゴシック"/>
                <a:ea typeface="游ゴシック"/>
                <a:cs typeface="游ゴシック"/>
              </a:rPr>
              <a:t>■ 確認した事実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・UVスペクトルで300nm付近と450nm付近に吸収。色相（APHA）上昇に伴い450nmが増大（450nmの補色＝黄、観測色と一致）。APHA30以上で550〜650nmにも吸収。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・450nm吸光度とAPHAが相関。GPCで分子量200〜800の分布。GCの複数検体が457nmを捕捉。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・T-555残液は5/18時点（APHA30）以降、APHAが上昇していない。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・アルデヒド類（A-ALD・F-ALD・アクロレイン）も検出されるが、アクロレイン濃度とAPHAは相関しない。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57600"/>
            <a:ext cx="11201400" cy="2514600"/>
          </a:xfrm>
          <a:prstGeom prst="roundRect">
            <a:avLst/>
          </a:prstGeom>
          <a:solidFill>
            <a:srgbClr val="EAEFF7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73152"/>
          <a:lstStyle/>
          <a:p>
            <a:pPr algn="ctr"/>
            <a:r>
              <a:rPr sz="13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■ ここから読める推定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・着色物質は共役ポリエン（CH=CHの連なり）を持つ化合物の混合物と推定。共役が伸びるほど吸収が長波長化し、十分に伸びると可視域450nm（黄）に達する。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・GPCの200〜800という幅は単一物質でなくオリゴマー混合物を示す（数平均の分子量はおよそ280〜300、上限側はオリゴマー化やグリコール付加で大きくなる）。</a:t>
            </a:r>
          </a:p>
          <a:p>
            <a:pPr>
              <a:spcAft>
                <a:spcPts val="200"/>
              </a:spcAft>
            </a:pPr>
            <a:r>
              <a:rPr sz="1200">
                <a:latin typeface="游ゴシック"/>
                <a:ea typeface="游ゴシック"/>
                <a:cs typeface="游ゴシック"/>
              </a:rPr>
              <a:t>・存在量はUV吸光度からの換算で数ppb〜10ppb程度（ppbオーダー、絶対定量は未確立）。共役系の吸光係数が極めて大きいため、この微量で色がつく。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推定メカニズム（現時点の最有力仮説・ベンチでは未再現）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仮説</a:t>
            </a:r>
          </a:p>
        </p:txBody>
      </p:sp>
      <p:pic>
        <p:nvPicPr>
          <p:cNvPr id="4" name="Picture 3" descr="mechanis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74552" cy="2787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06240"/>
            <a:ext cx="11201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一筋： 触媒劣化で増えたアルデヒドが、アルドール縮合で高沸点の前駆体になってDEG留分へ移り、窒素タンクの長期保管で前駆体どうしが縮合・脱水して共役が伸び、約10ppb（推定）で450nm＝黄色に着色する。前駆体を使い切るとAPHA30程度で頭打ちに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2356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※ 本メカニズムは現時点の最有力仮説で、RDベンチでは再現に至っていない（タンク長期保管・pH・前駆体濃度の同時再現が未達）。方向性（共役が伸びて黄色になる／酸素で抑制される）は観測と整合する。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なぜ今回だけ起きたか（条件の重なり）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仮説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過去にもアルデヒドが高い時期はあったが、今回は反応させてしまう条件がそろった。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【アルデヒドが多かった（必要条件）】 </a:t>
            </a:r>
            <a:r>
              <a:rPr sz="1350">
                <a:latin typeface="游ゴシック"/>
                <a:ea typeface="游ゴシック"/>
                <a:cs typeface="游ゴシック"/>
              </a:rPr>
              <a:t>触媒選択性低下でA-ALD・F-ALDが増加（A-ALD/EO=0.78kg/t、過去実績の上位）。種となるアルデヒドの絶対量が多かった。 </a:t>
            </a:r>
            <a:r>
              <a:rPr sz="1350" b="1">
                <a:solidFill>
                  <a:srgbClr val="2E7D32"/>
                </a:solidFill>
                <a:latin typeface="游ゴシック"/>
                <a:ea typeface="游ゴシック"/>
                <a:cs typeface="游ゴシック"/>
              </a:rPr>
              <a:t>→ 触媒交換で除去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【水分が少ない条件だった（促進）】 </a:t>
            </a:r>
            <a:r>
              <a:rPr sz="1350">
                <a:latin typeface="游ゴシック"/>
                <a:ea typeface="游ゴシック"/>
                <a:cs typeface="游ゴシック"/>
              </a:rPr>
              <a:t>脱水・縮合は水があると進みにくい平衡反応。脱水塔ボトムが低水分で縮合が進みやすかった。 </a:t>
            </a:r>
            <a:r>
              <a:rPr sz="1350" b="1">
                <a:solidFill>
                  <a:srgbClr val="2E7D32"/>
                </a:solidFill>
                <a:latin typeface="游ゴシック"/>
                <a:ea typeface="游ゴシック"/>
                <a:cs typeface="游ゴシック"/>
              </a:rPr>
              <a:t>→ 水分管理で確認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【塩基条件（苛性ソーダ）が後押し（促進）】 </a:t>
            </a:r>
            <a:r>
              <a:rPr sz="1350">
                <a:latin typeface="游ゴシック"/>
                <a:ea typeface="游ゴシック"/>
                <a:cs typeface="游ゴシック"/>
              </a:rPr>
              <a:t>NaOHの塩基がアルドール縮合を促進する側に働いた（NaOH→リン酸Na切替で330nm低下と整合）。 </a:t>
            </a:r>
            <a:r>
              <a:rPr sz="1350" b="1">
                <a:solidFill>
                  <a:srgbClr val="2E7D32"/>
                </a:solidFill>
                <a:latin typeface="游ゴシック"/>
                <a:ea typeface="游ゴシック"/>
                <a:cs typeface="游ゴシック"/>
              </a:rPr>
              <a:t>→ SU時はNaOH非投入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【DEG留分には樹脂（IER）が無い（DEG特有・除去機構の欠如）】 </a:t>
            </a:r>
            <a:r>
              <a:rPr sz="1350">
                <a:latin typeface="游ゴシック"/>
                <a:ea typeface="游ゴシック"/>
                <a:cs typeface="游ゴシック"/>
              </a:rPr>
              <a:t>MEG・TEGはイオン交換樹脂で前駆体を除去して製品を安定化できるが、DEG留分には樹脂が無く前駆体がそのまま製品に持ち込まれる。 </a:t>
            </a:r>
            <a:r>
              <a:rPr sz="1350" b="1">
                <a:solidFill>
                  <a:srgbClr val="2E7D32"/>
                </a:solidFill>
                <a:latin typeface="游ゴシック"/>
                <a:ea typeface="游ゴシック"/>
                <a:cs typeface="游ゴシック"/>
              </a:rPr>
              <a:t>→ 出口でDEGラインIERを検討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設備（鉄サビ）は色相の主因ではない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・C-1503トップに黒色付着物（XRFでほぼ鉄＝サビ）。水抽出からギ酸・グリコール酸を検出＝局所で有機酸が生じ腐食したものと整合。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・この付着物をDEGに共存させてもλmax380nmが出るのみで、実機の450nmは再現しない。蒸留DEGの短時間保管でも450nmは出ない。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・T-555タンク内の異物も鉄サビだが、残液は5/18時点のAPHA30から上昇していない。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2E7D32"/>
                </a:solidFill>
                <a:latin typeface="游ゴシック"/>
                <a:ea typeface="游ゴシック"/>
                <a:cs typeface="游ゴシック"/>
              </a:rPr>
              <a:t>・以上より、鉄サビ・付着物は色相（450nm）を進める触媒ではなく、寄与は局所の腐食・380nmにとどまる（主因ではない）。保管試験・残液分析という実測で判断している。金属が無くてもアルデヒドとpHだけで着色は説明できる。付着物は予防保全として洗浄す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開放・検査の整理（仮説駆動）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201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開放は『推定メカニズムに基づき、縮合反応が起こり得る脱水塔以降に絞って当該機器を確認し、結果を仮説に沿って解釈する』順序で行う。機器を開けた結果から逆に範囲を決めるのではなく、技術→推定メカニズム→該当機器の確認→補足、の順とす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09560"/>
              </a:tblGrid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機器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開放理由・結果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C-1503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ウォータージェットで付着物除去。付着物は450nmに寄与しないことを保管試験で確認。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C-1501トップ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開放しないと確認できないため清掃対応。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C-1501／C-1502／C-1504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インターナル・壁面とも過去と比べ問題なし。対応なし。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C-1501ボトムフィルター下流〜C-1502フィード配管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冬定修でSUS化済みのため錆込みなし。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リボイラー・コンデンサー等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塔本体が過去同様で問題なく、周辺は開放せず。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T-555／T-615（DEGタンク）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開放・洗浄。異物は鉄サビ（T-615右側サンプルは砂が過半＋鉄10〜12%）。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latin typeface="游ゴシック"/>
                          <a:ea typeface="游ゴシック"/>
                          <a:cs typeface="游ゴシック"/>
                        </a:rPr>
                        <a:t>肉厚測定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游ゴシック"/>
                          <a:ea typeface="游ゴシック"/>
                          <a:cs typeface="游ゴシック"/>
                        </a:rPr>
                        <a:t>定修前の運転中に各機器外側から測定。原肉に対し有意な減肉なし。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対応（再発防止・スタートアップ運転条件）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対応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【触媒交換（原因除去）】 </a:t>
            </a:r>
            <a:r>
              <a:rPr sz="1250">
                <a:latin typeface="游ゴシック"/>
                <a:ea typeface="游ゴシック"/>
                <a:cs typeface="游ゴシック"/>
              </a:rPr>
              <a:t>計画停止で触媒交換済。アルデヒド類の生成を抑える。 </a:t>
            </a:r>
            <a:r>
              <a:rPr sz="1200" b="1">
                <a:solidFill>
                  <a:srgbClr val="2E5BA8"/>
                </a:solidFill>
                <a:latin typeface="游ゴシック"/>
                <a:ea typeface="游ゴシック"/>
                <a:cs typeface="游ゴシック"/>
              </a:rPr>
              <a:t>（実施済）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【タンク・配管の洗浄】 </a:t>
            </a:r>
            <a:r>
              <a:rPr sz="1250">
                <a:latin typeface="游ゴシック"/>
                <a:ea typeface="游ゴシック"/>
                <a:cs typeface="游ゴシック"/>
              </a:rPr>
              <a:t>色相上昇を確認したタンク等を開放・洗浄し付着物を除去、保管設備を健全化。 </a:t>
            </a:r>
            <a:r>
              <a:rPr sz="1200" b="1">
                <a:solidFill>
                  <a:srgbClr val="2E5BA8"/>
                </a:solidFill>
                <a:latin typeface="游ゴシック"/>
                <a:ea typeface="游ゴシック"/>
                <a:cs typeface="游ゴシック"/>
              </a:rPr>
              <a:t>（実施済）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【苛性ソーダ（NaOH）】 </a:t>
            </a:r>
            <a:r>
              <a:rPr sz="1250">
                <a:latin typeface="游ゴシック"/>
                <a:ea typeface="游ゴシック"/>
                <a:cs typeface="游ゴシック"/>
              </a:rPr>
              <a:t>スタートアップ時は投入しないベース。アルデヒドが多い局面ではアルドール縮合を促進し得るため、触媒交換後にアルデヒド低下を確認してから要否判断。 </a:t>
            </a:r>
            <a:r>
              <a:rPr sz="1200" b="1">
                <a:solidFill>
                  <a:srgbClr val="2E5BA8"/>
                </a:solidFill>
                <a:latin typeface="游ゴシック"/>
                <a:ea typeface="游ゴシック"/>
                <a:cs typeface="游ゴシック"/>
              </a:rPr>
              <a:t>（方針）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【MEG塔温度】 </a:t>
            </a:r>
            <a:r>
              <a:rPr sz="1250">
                <a:latin typeface="游ゴシック"/>
                <a:ea typeface="游ゴシック"/>
                <a:cs typeface="游ゴシック"/>
              </a:rPr>
              <a:t>下げない方針。温度を下げるとアルデヒドが分解されず前駆体として下流に回り、かえって色相側に出る懸念があるため。 </a:t>
            </a:r>
            <a:r>
              <a:rPr sz="1200" b="1">
                <a:solidFill>
                  <a:srgbClr val="2E5BA8"/>
                </a:solidFill>
                <a:latin typeface="游ゴシック"/>
                <a:ea typeface="游ゴシック"/>
                <a:cs typeface="游ゴシック"/>
              </a:rPr>
              <a:t>（方針）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【リン酸ナトリウム（Na₃PO₄）】 </a:t>
            </a:r>
            <a:r>
              <a:rPr sz="1250">
                <a:latin typeface="游ゴシック"/>
                <a:ea typeface="游ゴシック"/>
                <a:cs typeface="游ゴシック"/>
              </a:rPr>
              <a:t>保管中反応の緩和策。pH低下で縮合を抑える／金属を不活性化する効きがある（効き方は要検証）。置換（払い出しを伴う入替）とセットで運用。 </a:t>
            </a:r>
            <a:r>
              <a:rPr sz="1200" b="1">
                <a:solidFill>
                  <a:srgbClr val="2E5BA8"/>
                </a:solidFill>
                <a:latin typeface="游ゴシック"/>
                <a:ea typeface="游ゴシック"/>
                <a:cs typeface="游ゴシック"/>
              </a:rPr>
              <a:t>（緩和・要検証）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【出口（DEGラインのIER）】 </a:t>
            </a:r>
            <a:r>
              <a:rPr sz="1250">
                <a:latin typeface="游ゴシック"/>
                <a:ea typeface="游ゴシック"/>
                <a:cs typeface="游ゴシック"/>
              </a:rPr>
              <a:t>前段で抑えきれない場合の出口戦略として、DEGラインへの樹脂設置を検討（実DEGの通液テストを予定）。 </a:t>
            </a:r>
            <a:r>
              <a:rPr sz="1200" b="1">
                <a:solidFill>
                  <a:srgbClr val="2E5BA8"/>
                </a:solidFill>
                <a:latin typeface="游ゴシック"/>
                <a:ea typeface="游ゴシック"/>
                <a:cs typeface="游ゴシック"/>
              </a:rPr>
              <a:t>（検討中）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出荷再開に向けた品質管理・早期判定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対応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・再稼働後の初期流動品は、APHAを含む社内規格全項目で規格内を確認。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・初期流動品はタンク保管中の色相・UVスペクトルの経時変化が無いことを確認してから出荷。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・早期判定はUV450nmを主指標とする（悪化品は約0.004/日上昇、正常品は0.002で不動）。UV330nm（Na非含有領域）を補助に用いる。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色相の律速は後段の縮合（UV450nm）であり、アルデヒド量は先行指標としての相関が弱い（アクロレインとAPHAも相関しない）。このためトータルアルデヒド監視は採用しない（現行のDNPH法以上の情報は得られない見込み）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・ストリーム／タンクの切り分けのため、製品ストリームを窒素雰囲気のボンベで採取し経時を確認する。</a:t>
            </a:r>
          </a:p>
          <a:p>
            <a:pPr>
              <a:spcAft>
                <a:spcPts val="900"/>
              </a:spcAft>
            </a:pPr>
            <a:r>
              <a:rPr sz="1450" b="0">
                <a:latin typeface="游ゴシック"/>
                <a:ea typeface="游ゴシック"/>
                <a:cs typeface="游ゴシック"/>
              </a:rPr>
              <a:t>・出荷再開の判定基準（オンスペック判定／タンク経時の観察期間／UV450nmの日次傾きの閾値／初期流動品の解除ロット数）は、本対策会議で具体値を確定する（決め事）。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残論点（要確認）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対応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【メカニズムのベンチ再現】 </a:t>
            </a:r>
            <a:r>
              <a:rPr sz="1350">
                <a:latin typeface="游ゴシック"/>
                <a:ea typeface="游ゴシック"/>
                <a:cs typeface="游ゴシック"/>
              </a:rPr>
              <a:t>アルデヒド添加だけではDEGの450nmが再現できていない。タンク長期保管・低水分・塩基などの条件併存を含め、再現性の確認が必要。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【リン酸の効き方】 </a:t>
            </a:r>
            <a:r>
              <a:rPr sz="1350">
                <a:latin typeface="游ゴシック"/>
                <a:ea typeface="游ゴシック"/>
                <a:cs typeface="游ゴシック"/>
              </a:rPr>
              <a:t>pH低下で縮合を抑えるのか、金属不活性化なのか。C-1503充填部のリン到達（壁面のリン分析）で切り分け。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【水分の寄与度】 </a:t>
            </a:r>
            <a:r>
              <a:rPr sz="1350">
                <a:latin typeface="游ゴシック"/>
                <a:ea typeface="游ゴシック"/>
                <a:cs typeface="游ゴシック"/>
              </a:rPr>
              <a:t>縮合への水分の効きは感度2〜3割の見立て。リボイラー穴の影響を除いた水分時系列（3期）で再評価する。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【着色物質のN分】 </a:t>
            </a:r>
            <a:r>
              <a:rPr sz="1350">
                <a:latin typeface="游ゴシック"/>
                <a:ea typeface="游ゴシック"/>
                <a:cs typeface="游ゴシック"/>
              </a:rPr>
              <a:t>GPC/GC-MSでN分含有の示唆。過去のアミン由来とは分子量が異なるが、N種の関与有無は要確認。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【前駆体の定量】 </a:t>
            </a:r>
            <a:r>
              <a:rPr sz="1350">
                <a:latin typeface="游ゴシック"/>
                <a:ea typeface="游ゴシック"/>
                <a:cs typeface="游ゴシック"/>
              </a:rPr>
              <a:t>前駆体・着色物質はppbオーダーで定量が困難。早期判定はUV系に絞る。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2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出荷再開の判断（ご承認のお願い）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24160" y="201168"/>
            <a:ext cx="1554480" cy="438912"/>
          </a:xfrm>
          <a:prstGeom prst="roundRect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対応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01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触媒交換（原因除去）・設備洗浄・スタートアップ運転条件（NaOH非投入ベース／温度を下げない／リン酸で緩和）により、色相悪化の再発を抑える。</a:t>
            </a:r>
          </a:p>
          <a:p>
            <a:pPr>
              <a:spcAft>
                <a:spcPts val="12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再稼働後の初期流動品は、全項目規格内かつタンク保管中の色相・UVの経時変化が無いことを確認したうえで出荷する。</a:t>
            </a:r>
          </a:p>
          <a:p>
            <a:pPr>
              <a:spcAft>
                <a:spcPts val="1200"/>
              </a:spcAft>
            </a:pPr>
            <a:r>
              <a:rPr sz="1550" b="0">
                <a:latin typeface="游ゴシック"/>
                <a:ea typeface="游ゴシック"/>
                <a:cs typeface="游ゴシック"/>
              </a:rPr>
              <a:t>早期判定はUV450nm（最も感度が高い）を主指標とし、UV330nmを補助に用いる。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29200"/>
            <a:ext cx="1120140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上記の前提で、製品DEGの出荷再開についてご承認をお願いします。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製品DEG色相悪化 対策会議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