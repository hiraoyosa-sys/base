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0" r:id="rId4"/>
    <p:sldMasterId id="2147483987" r:id="rId5"/>
  </p:sldMasterIdLst>
  <p:notesMasterIdLst>
    <p:notesMasterId r:id="rId28"/>
  </p:notesMasterIdLst>
  <p:handoutMasterIdLst>
    <p:handoutMasterId r:id="rId29"/>
  </p:handoutMasterIdLst>
  <p:sldIdLst>
    <p:sldId id="257" r:id="rId6"/>
    <p:sldId id="2147483574" r:id="rId7"/>
    <p:sldId id="2147483567" r:id="rId8"/>
    <p:sldId id="256" r:id="rId34"/>
    <p:sldId id="2147483573" r:id="rId9"/>
    <p:sldId id="2147483577" r:id="rId10"/>
    <p:sldId id="2147483576" r:id="rId11"/>
    <p:sldId id="2147483559" r:id="rId12"/>
    <p:sldId id="2147483560" r:id="rId13"/>
    <p:sldId id="2147483563" r:id="rId14"/>
    <p:sldId id="2147483561" r:id="rId15"/>
    <p:sldId id="2147483647" r:id="rId16"/>
    <p:sldId id="2147483562" r:id="rId17"/>
    <p:sldId id="2147483568" r:id="rId18"/>
    <p:sldId id="291" r:id="rId19"/>
    <p:sldId id="2147483569" r:id="rId20"/>
    <p:sldId id="2147483570" r:id="rId21"/>
    <p:sldId id="2147483564" r:id="rId22"/>
    <p:sldId id="2147483565" r:id="rId23"/>
    <p:sldId id="2147483085" r:id="rId24"/>
    <p:sldId id="2147483646" r:id="rId25"/>
    <p:sldId id="273" r:id="rId26"/>
    <p:sldId id="315" r:id="rId27"/>
    <p:sldId id="258" r:id="rId35"/>
    <p:sldId id="259" r:id="rId3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題" id="{B3FEFFA8-0125-4B10-B1BB-383480E17AF0}">
          <p14:sldIdLst>
            <p14:sldId id="257"/>
            <p14:sldId id="2147483574"/>
            <p14:sldId id="2147483567"/>
            <p14:sldId id="2147483573"/>
            <p14:sldId id="2147483577"/>
            <p14:sldId id="2147483576"/>
            <p14:sldId id="2147483559"/>
            <p14:sldId id="2147483560"/>
            <p14:sldId id="2147483563"/>
            <p14:sldId id="2147483561"/>
            <p14:sldId id="2147483647"/>
            <p14:sldId id="2147483562"/>
            <p14:sldId id="2147483568"/>
            <p14:sldId id="291"/>
            <p14:sldId id="2147483569"/>
            <p14:sldId id="2147483570"/>
            <p14:sldId id="2147483564"/>
            <p14:sldId id="2147483565"/>
            <p14:sldId id="2147483085"/>
            <p14:sldId id="2147483646"/>
            <p14:sldId id="273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CCFFCC"/>
    <a:srgbClr val="B2B2B2"/>
    <a:srgbClr val="0000FF"/>
    <a:srgbClr val="996633"/>
    <a:srgbClr val="669900"/>
    <a:srgbClr val="0066FF"/>
    <a:srgbClr val="2980FF"/>
    <a:srgbClr val="1574FF"/>
    <a:srgbClr val="0D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2707A5F-A7D6-C641-8208-3E6DFDB2F4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554B22-9586-484A-A766-0C4435114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2A3B7-46B2-E94A-9EF8-D8D874E780F7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85D71E-D7E7-1E4D-A100-20172004F5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F7FD02-B9AC-5040-9426-86C1B469DF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C1043-B07B-A34C-A6AD-E266C03B38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209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F1F98-6922-D549-90B4-4FEE2DCA453F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B8F7-F11D-7247-854D-760B01224C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86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145FA22-8B15-8165-6374-D653E8B173C9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10925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プレゼンテーション</a:t>
            </a:r>
            <a:r>
              <a:rPr kumimoji="1" lang="en-US" altLang="ja-JP"/>
              <a:t> </a:t>
            </a:r>
            <a:r>
              <a:rPr kumimoji="1" lang="ja-JP" altLang="en-US"/>
              <a:t>タイトル</a:t>
            </a:r>
            <a:br>
              <a:rPr kumimoji="1" lang="en-US" altLang="ja-JP"/>
            </a:br>
            <a:r>
              <a:rPr kumimoji="1" lang="ja-JP" altLang="en-US"/>
              <a:t>游ゴシック</a:t>
            </a:r>
            <a:r>
              <a:rPr kumimoji="1" lang="en-US" altLang="ja-JP"/>
              <a:t> 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10925374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10925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317733-1BDA-7840-87EC-1AB6D30D915E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3" name="図 2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64AB173A-EA3B-7645-9D0D-8E3868B405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7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section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1BC9BC-7E85-1F07-EBFA-39A9BB38A2B7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10925374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10925374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</a:t>
            </a:r>
            <a:r>
              <a:rPr lang="en-US" altLang="ja-JP" sz="4000"/>
              <a:t> 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0E25D7-0B34-F677-C09E-4185823DAB85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9FEB064-9E10-7E77-2F7C-DF29C7A3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0405299-6541-E74D-957B-653534824101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</a:t>
            </a:r>
            <a:r>
              <a:rPr kumimoji="1" lang="en-US" altLang="ja-JP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/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br>
              <a:rPr kumimoji="1" lang="en-US" altLang="ja-JP"/>
            </a:br>
            <a:r>
              <a:rPr kumimoji="1" lang="ja-JP" altLang="en-US"/>
              <a:t>テーマカラー：</a:t>
            </a:r>
            <a:r>
              <a:rPr kumimoji="1" lang="en-US" altLang="ja-JP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3107EA-7CFE-7617-A3C2-BAD9B5937B09}"/>
              </a:ext>
            </a:extLst>
          </p:cNvPr>
          <p:cNvSpPr txBox="1"/>
          <p:nvPr userDrawn="1"/>
        </p:nvSpPr>
        <p:spPr>
          <a:xfrm>
            <a:off x="10905066" y="6490836"/>
            <a:ext cx="1051053" cy="211203"/>
          </a:xfrm>
          <a:prstGeom prst="rect">
            <a:avLst/>
          </a:prstGeom>
          <a:noFill/>
          <a:ln>
            <a:solidFill>
              <a:srgbClr val="323232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00" b="0" i="0">
                <a:solidFill>
                  <a:srgbClr val="323232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00" b="0" i="0">
              <a:solidFill>
                <a:srgbClr val="323232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3" name="図 2" descr="アイコン&#10;&#10;低い精度で自動的に生成された説明">
            <a:extLst>
              <a:ext uri="{FF2B5EF4-FFF2-40B4-BE49-F238E27FC236}">
                <a16:creationId xmlns:a16="http://schemas.microsoft.com/office/drawing/2014/main" id="{CE14A7BB-2994-99E1-3721-81C07CB69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3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_circular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145FA22-8B15-8165-6374-D653E8B173C9}"/>
              </a:ext>
            </a:extLst>
          </p:cNvPr>
          <p:cNvSpPr/>
          <p:nvPr userDrawn="1"/>
        </p:nvSpPr>
        <p:spPr>
          <a:xfrm>
            <a:off x="1" y="0"/>
            <a:ext cx="9390184" cy="6858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6361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br>
              <a:rPr kumimoji="1" lang="en-US" altLang="ja-JP"/>
            </a:br>
            <a:r>
              <a:rPr kumimoji="1" lang="ja-JP" altLang="en-US"/>
              <a:t>游ゴシック </a:t>
            </a:r>
            <a:r>
              <a:rPr kumimoji="1" lang="en-US" altLang="ja-JP"/>
              <a:t>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6361374" cy="8599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6361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04B06F-2D60-B985-8CB3-2D483601C4E1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9" name="図 8" descr="図形, 円&#10;&#10;自動的に生成された説明">
            <a:extLst>
              <a:ext uri="{FF2B5EF4-FFF2-40B4-BE49-F238E27FC236}">
                <a16:creationId xmlns:a16="http://schemas.microsoft.com/office/drawing/2014/main" id="{85967991-37E0-5319-6989-F2B24BB19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5001" y="2545321"/>
            <a:ext cx="5207000" cy="4318000"/>
          </a:xfrm>
          <a:prstGeom prst="rect">
            <a:avLst/>
          </a:prstGeom>
        </p:spPr>
      </p:pic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8A86725F-A0D9-D467-03BC-7BD39E7BE0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_circular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0C2DCC8-5345-2D48-AE06-2CFCAED3F5BB}"/>
              </a:ext>
            </a:extLst>
          </p:cNvPr>
          <p:cNvSpPr/>
          <p:nvPr userDrawn="1"/>
        </p:nvSpPr>
        <p:spPr>
          <a:xfrm>
            <a:off x="1" y="0"/>
            <a:ext cx="9390184" cy="6858000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7119051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7119051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 </a:t>
            </a:r>
            <a:r>
              <a:rPr lang="en-US" altLang="ja-JP" sz="4000"/>
              <a:t>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2FE3DE-4073-143D-7B94-825F75F4A513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8" name="図 7" descr="図形, 円&#10;&#10;自動的に生成された説明">
            <a:extLst>
              <a:ext uri="{FF2B5EF4-FFF2-40B4-BE49-F238E27FC236}">
                <a16:creationId xmlns:a16="http://schemas.microsoft.com/office/drawing/2014/main" id="{BAAA99CE-7539-35DC-129B-3103813D27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4999" y="0"/>
            <a:ext cx="5207000" cy="4318000"/>
          </a:xfrm>
          <a:prstGeom prst="rect">
            <a:avLst/>
          </a:prstGeom>
        </p:spPr>
      </p:pic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F45C960-2865-9B70-11B9-987BD91727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44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_circula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0405299-6541-E74D-957B-653534824101}"/>
              </a:ext>
            </a:extLst>
          </p:cNvPr>
          <p:cNvSpPr/>
          <p:nvPr userDrawn="1"/>
        </p:nvSpPr>
        <p:spPr>
          <a:xfrm>
            <a:off x="0" y="6414976"/>
            <a:ext cx="12191999" cy="443024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</a:t>
            </a:r>
            <a:r>
              <a:rPr kumimoji="1" lang="en-US" altLang="ja-JP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br>
              <a:rPr kumimoji="1" lang="en-US" altLang="ja-JP"/>
            </a:br>
            <a:r>
              <a:rPr kumimoji="1" lang="ja-JP" altLang="en-US"/>
              <a:t>テーマカラー：</a:t>
            </a:r>
            <a:r>
              <a:rPr kumimoji="1" lang="en-US" altLang="ja-JP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747CB9-187E-E6FA-CC5F-92DC06F1982B}"/>
              </a:ext>
            </a:extLst>
          </p:cNvPr>
          <p:cNvSpPr txBox="1"/>
          <p:nvPr userDrawn="1"/>
        </p:nvSpPr>
        <p:spPr>
          <a:xfrm>
            <a:off x="10905066" y="6490836"/>
            <a:ext cx="1051053" cy="211203"/>
          </a:xfrm>
          <a:prstGeom prst="rect">
            <a:avLst/>
          </a:prstGeom>
          <a:noFill/>
          <a:ln>
            <a:solidFill>
              <a:srgbClr val="323232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00" b="0" i="0">
                <a:solidFill>
                  <a:srgbClr val="323232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00" b="0" i="0">
              <a:solidFill>
                <a:srgbClr val="323232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10" name="図 9" descr="図形&#10;&#10;低い精度で自動的に生成された説明">
            <a:extLst>
              <a:ext uri="{FF2B5EF4-FFF2-40B4-BE49-F238E27FC236}">
                <a16:creationId xmlns:a16="http://schemas.microsoft.com/office/drawing/2014/main" id="{F458B451-556C-0A77-5C7B-A5094204D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17000" y="4064000"/>
            <a:ext cx="3175000" cy="2794000"/>
          </a:xfrm>
          <a:prstGeom prst="rect">
            <a:avLst/>
          </a:prstGeom>
        </p:spPr>
      </p:pic>
      <p:pic>
        <p:nvPicPr>
          <p:cNvPr id="2" name="図 1" descr="アイコン&#10;&#10;低い精度で自動的に生成された説明">
            <a:extLst>
              <a:ext uri="{FF2B5EF4-FFF2-40B4-BE49-F238E27FC236}">
                <a16:creationId xmlns:a16="http://schemas.microsoft.com/office/drawing/2014/main" id="{22166060-8B4F-1920-1513-4363D0A7B1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2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_circular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6361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br>
              <a:rPr kumimoji="1" lang="en-US" altLang="ja-JP"/>
            </a:br>
            <a:r>
              <a:rPr kumimoji="1" lang="ja-JP" altLang="en-US"/>
              <a:t>游ゴシック </a:t>
            </a:r>
            <a:r>
              <a:rPr kumimoji="1" lang="en-US" altLang="ja-JP"/>
              <a:t>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6361374" cy="8599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6361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D2AD1D-2D74-0BB5-DAB1-9346C04FBA6F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8" name="図 7" descr="ランプ, 光 が含まれている画像&#10;&#10;自動的に生成された説明">
            <a:extLst>
              <a:ext uri="{FF2B5EF4-FFF2-40B4-BE49-F238E27FC236}">
                <a16:creationId xmlns:a16="http://schemas.microsoft.com/office/drawing/2014/main" id="{A9C384B3-0095-28B9-FF8B-EEA7915A51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5000" y="2540000"/>
            <a:ext cx="5207000" cy="4318000"/>
          </a:xfrm>
          <a:prstGeom prst="rect">
            <a:avLst/>
          </a:prstGeom>
        </p:spPr>
      </p:pic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D694D317-7B15-CC02-568D-38931AF913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6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_circular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6667703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7" y="2867723"/>
            <a:ext cx="6667702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</a:t>
            </a:r>
            <a:r>
              <a:rPr lang="en-US" altLang="ja-JP" sz="4000"/>
              <a:t>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E43A41-1D75-BD23-DC7E-612BD213B64B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8" name="図 7" descr="図形, 円&#10;&#10;自動的に生成された説明">
            <a:extLst>
              <a:ext uri="{FF2B5EF4-FFF2-40B4-BE49-F238E27FC236}">
                <a16:creationId xmlns:a16="http://schemas.microsoft.com/office/drawing/2014/main" id="{0B353F5B-4C3E-D949-FFA1-11F959F66C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5000" y="0"/>
            <a:ext cx="5207000" cy="4318000"/>
          </a:xfrm>
          <a:prstGeom prst="rect">
            <a:avLst/>
          </a:prstGeom>
        </p:spPr>
      </p:pic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931474FF-EACA-45E7-2043-CE82C24343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0034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0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_circula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</a:t>
            </a:r>
            <a:r>
              <a:rPr kumimoji="1" lang="en-US" altLang="ja-JP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/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br>
              <a:rPr kumimoji="1" lang="en-US" altLang="ja-JP"/>
            </a:br>
            <a:r>
              <a:rPr kumimoji="1" lang="ja-JP" altLang="en-US"/>
              <a:t>テーマカラー：</a:t>
            </a:r>
            <a:r>
              <a:rPr kumimoji="1" lang="en-US" altLang="ja-JP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A51262-EBF5-A9EF-5DE2-9D7414762723}"/>
              </a:ext>
            </a:extLst>
          </p:cNvPr>
          <p:cNvSpPr txBox="1"/>
          <p:nvPr userDrawn="1"/>
        </p:nvSpPr>
        <p:spPr>
          <a:xfrm>
            <a:off x="10905066" y="6490836"/>
            <a:ext cx="1051053" cy="211203"/>
          </a:xfrm>
          <a:prstGeom prst="rect">
            <a:avLst/>
          </a:prstGeom>
          <a:noFill/>
          <a:ln>
            <a:solidFill>
              <a:srgbClr val="323232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00" b="0" i="0">
                <a:solidFill>
                  <a:srgbClr val="323232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00" b="0" i="0">
              <a:solidFill>
                <a:srgbClr val="323232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10" name="図 9" descr="図形&#10;&#10;中程度の精度で自動的に生成された説明">
            <a:extLst>
              <a:ext uri="{FF2B5EF4-FFF2-40B4-BE49-F238E27FC236}">
                <a16:creationId xmlns:a16="http://schemas.microsoft.com/office/drawing/2014/main" id="{C69D6576-8772-E9C9-93AC-25EDDE921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17000" y="4064000"/>
            <a:ext cx="3175000" cy="2794000"/>
          </a:xfrm>
          <a:prstGeom prst="rect">
            <a:avLst/>
          </a:prstGeom>
        </p:spPr>
      </p:pic>
      <p:pic>
        <p:nvPicPr>
          <p:cNvPr id="2" name="図 1" descr="アイコン&#10;&#10;低い精度で自動的に生成された説明">
            <a:extLst>
              <a:ext uri="{FF2B5EF4-FFF2-40B4-BE49-F238E27FC236}">
                <a16:creationId xmlns:a16="http://schemas.microsoft.com/office/drawing/2014/main" id="{E582623D-2B9B-AA38-0360-06A55B2F70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blue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DF27D8A-CF93-1DE1-A1E0-579A53D5F3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6361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br>
              <a:rPr kumimoji="1" lang="en-US" altLang="ja-JP"/>
            </a:br>
            <a:r>
              <a:rPr kumimoji="1" lang="ja-JP" altLang="en-US"/>
              <a:t>游ゴシック </a:t>
            </a:r>
            <a:r>
              <a:rPr kumimoji="1" lang="en-US" altLang="ja-JP"/>
              <a:t>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6361374" cy="8599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6361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0FAC23-4C92-4DE0-F083-427560DDC99A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7" name="図 6" descr="図形, 円&#10;&#10;自動的に生成された説明">
            <a:extLst>
              <a:ext uri="{FF2B5EF4-FFF2-40B4-BE49-F238E27FC236}">
                <a16:creationId xmlns:a16="http://schemas.microsoft.com/office/drawing/2014/main" id="{2C0B660F-651E-2CBA-22A2-45839C456B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5000" y="2545321"/>
            <a:ext cx="5207000" cy="4318000"/>
          </a:xfrm>
          <a:prstGeom prst="rect">
            <a:avLst/>
          </a:prstGeom>
        </p:spPr>
      </p:pic>
      <p:pic>
        <p:nvPicPr>
          <p:cNvPr id="4" name="図 3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F9035B74-094B-209B-142E-2F4575B9D4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5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blue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0ECA10C-38C8-BAA4-70D5-31A2424404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7119051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7119051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</a:t>
            </a:r>
            <a:r>
              <a:rPr lang="en-US" altLang="ja-JP" sz="4000"/>
              <a:t>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527DCC5-4C04-E99F-2F99-C0F7F6AD0B94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5" name="図 4" descr="図形, 円&#10;&#10;自動的に生成された説明">
            <a:extLst>
              <a:ext uri="{FF2B5EF4-FFF2-40B4-BE49-F238E27FC236}">
                <a16:creationId xmlns:a16="http://schemas.microsoft.com/office/drawing/2014/main" id="{C8AE480A-D33F-F3D0-EB6D-229546ABF6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5000" y="0"/>
            <a:ext cx="5207000" cy="4318000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E1C7F703-B8C7-70F6-B82F-D0F3E51C58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5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green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B637127-8D27-2A9A-ED77-8C55395E8C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6361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br>
              <a:rPr kumimoji="1" lang="en-US" altLang="ja-JP"/>
            </a:br>
            <a:r>
              <a:rPr kumimoji="1" lang="ja-JP" altLang="en-US"/>
              <a:t>游ゴシック </a:t>
            </a:r>
            <a:r>
              <a:rPr kumimoji="1" lang="en-US" altLang="ja-JP"/>
              <a:t>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6361374" cy="8599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6361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AEDEE3-8A5C-AB38-D1A5-E130459EE35E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6" name="図 5" descr="ランプ, 光 が含まれている画像&#10;&#10;自動的に生成された説明">
            <a:extLst>
              <a:ext uri="{FF2B5EF4-FFF2-40B4-BE49-F238E27FC236}">
                <a16:creationId xmlns:a16="http://schemas.microsoft.com/office/drawing/2014/main" id="{7FE87EA2-0A02-84F3-CEDE-36468E0242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4999" y="2540000"/>
            <a:ext cx="5207000" cy="4318000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FA01F46E-13A7-9E58-7675-153447B1BC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73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green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3AFD4A4-F749-31F6-0CF6-C2D7E621B4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7119051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7119051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</a:t>
            </a:r>
            <a:r>
              <a:rPr lang="en-US" altLang="ja-JP" sz="4000"/>
              <a:t>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1AE076-D993-65D0-E8B8-91BD78009CDB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6" name="図 5" descr="図形, 円&#10;&#10;自動的に生成された説明">
            <a:extLst>
              <a:ext uri="{FF2B5EF4-FFF2-40B4-BE49-F238E27FC236}">
                <a16:creationId xmlns:a16="http://schemas.microsoft.com/office/drawing/2014/main" id="{12A89BD8-D3A6-7B79-431B-CE770CB21B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4999" y="0"/>
            <a:ext cx="5207000" cy="4318000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7AEFF0B8-9A84-F80B-92CD-AD1344C6E7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1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yellow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0EC2D82-930D-41B6-187D-C2F274A8DD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750626" y="2520666"/>
            <a:ext cx="6361374" cy="18420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br>
              <a:rPr kumimoji="1" lang="en-US" altLang="ja-JP"/>
            </a:br>
            <a:r>
              <a:rPr kumimoji="1" lang="ja-JP" altLang="en-US"/>
              <a:t>游ゴシック </a:t>
            </a:r>
            <a:r>
              <a:rPr kumimoji="1" lang="en-US" altLang="ja-JP"/>
              <a:t>Bold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704321"/>
            <a:ext cx="6361374" cy="8599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750627" y="1653463"/>
            <a:ext cx="6361373" cy="369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24pt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33DDFF-0A76-1642-661D-FC398C3F2AD5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6" name="図 5" descr="ランプ, ポール, 座る, 男 が含まれている画像&#10;&#10;自動的に生成された説明">
            <a:extLst>
              <a:ext uri="{FF2B5EF4-FFF2-40B4-BE49-F238E27FC236}">
                <a16:creationId xmlns:a16="http://schemas.microsoft.com/office/drawing/2014/main" id="{69B991B3-A4EE-4E2F-A072-61D5B5DFE9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4999" y="2540000"/>
            <a:ext cx="5207000" cy="4318000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889672A9-3F3D-4BBC-648C-70C5A75DED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07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_yellow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9097306-CA26-F0EE-D450-5D81EE9CC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-17"/>
          <a:stretch/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626" y="4235913"/>
            <a:ext cx="7119051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+mj-lt"/>
                <a:ea typeface="+mj-ea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626" y="2867723"/>
            <a:ext cx="7119051" cy="123110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4000"/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ja-JP" altLang="en-US" sz="4000"/>
              <a:t>游ゴシック</a:t>
            </a:r>
            <a:r>
              <a:rPr lang="en-US" altLang="ja-JP" sz="4000"/>
              <a:t>Bold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B8C749-7366-4048-9166-4A62872F8A82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4B040E-3965-1B9C-AB97-144C8B641E19}"/>
              </a:ext>
            </a:extLst>
          </p:cNvPr>
          <p:cNvSpPr txBox="1"/>
          <p:nvPr userDrawn="1"/>
        </p:nvSpPr>
        <p:spPr>
          <a:xfrm>
            <a:off x="10768120" y="6397228"/>
            <a:ext cx="1188000" cy="2419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10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10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6" name="図 5" descr="ケーブル, コネクタ, 結び目, ネックレス が含まれている画像&#10;&#10;自動的に生成された説明">
            <a:extLst>
              <a:ext uri="{FF2B5EF4-FFF2-40B4-BE49-F238E27FC236}">
                <a16:creationId xmlns:a16="http://schemas.microsoft.com/office/drawing/2014/main" id="{740EFBEE-C6CF-F51A-AA85-BA53F5EAB4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85000" y="-9071"/>
            <a:ext cx="5207000" cy="4318000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915A59F2-15A2-E96E-F771-46EC3B4B10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16" y="66263"/>
            <a:ext cx="2182024" cy="6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72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54A9AD2-A44F-6C4C-90A5-7E0F6615A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6" y="255264"/>
            <a:ext cx="9327072" cy="369332"/>
          </a:xfrm>
        </p:spPr>
        <p:txBody>
          <a:bodyPr/>
          <a:lstStyle/>
          <a:p>
            <a:r>
              <a:rPr kumimoji="1" lang="ja-JP" altLang="en-US"/>
              <a:t>タイトル</a:t>
            </a:r>
            <a:r>
              <a:rPr kumimoji="1" lang="en-US" altLang="ja-JP"/>
              <a:t> </a:t>
            </a:r>
            <a:r>
              <a:rPr kumimoji="1" lang="ja-JP" altLang="en-US"/>
              <a:t>游ゴシック</a:t>
            </a:r>
            <a:r>
              <a:rPr kumimoji="1" lang="en-US" altLang="ja-JP"/>
              <a:t>Bold 24pt</a:t>
            </a:r>
            <a:endParaRPr kumimoji="1" lang="ja-JP" altLang="en-US"/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F51E5A19-FBB7-6442-9D4F-1E3DFA3936D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14338" y="1187355"/>
            <a:ext cx="11550650" cy="5049933"/>
          </a:xfrm>
        </p:spPr>
        <p:txBody>
          <a:bodyPr/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</a:t>
            </a:r>
            <a:r>
              <a:rPr kumimoji="1" lang="ja-JP" altLang="en-US"/>
              <a:t>游ゴシック </a:t>
            </a:r>
            <a:r>
              <a:rPr kumimoji="1" lang="en-US" altLang="ja-JP"/>
              <a:t>Medium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br>
              <a:rPr kumimoji="1" lang="en-US" altLang="ja-JP"/>
            </a:br>
            <a:r>
              <a:rPr kumimoji="1" lang="ja-JP" altLang="en-US"/>
              <a:t>テーマカラー：</a:t>
            </a:r>
            <a:r>
              <a:rPr kumimoji="1" lang="en-US" altLang="ja-JP"/>
              <a:t>Blue and Cool gray 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8411784-F115-E34D-82CF-2B9A4DC7E26D}"/>
              </a:ext>
            </a:extLst>
          </p:cNvPr>
          <p:cNvCxnSpPr>
            <a:cxnSpLocks/>
          </p:cNvCxnSpPr>
          <p:nvPr userDrawn="1"/>
        </p:nvCxnSpPr>
        <p:spPr>
          <a:xfrm>
            <a:off x="550714" y="6497492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A51262-EBF5-A9EF-5DE2-9D7414762723}"/>
              </a:ext>
            </a:extLst>
          </p:cNvPr>
          <p:cNvSpPr txBox="1"/>
          <p:nvPr userDrawn="1"/>
        </p:nvSpPr>
        <p:spPr>
          <a:xfrm>
            <a:off x="10905066" y="6490836"/>
            <a:ext cx="1051053" cy="211203"/>
          </a:xfrm>
          <a:prstGeom prst="rect">
            <a:avLst/>
          </a:prstGeom>
          <a:noFill/>
          <a:ln>
            <a:solidFill>
              <a:srgbClr val="323232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00" b="0" i="0">
                <a:solidFill>
                  <a:srgbClr val="323232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00" b="0" i="0">
              <a:solidFill>
                <a:srgbClr val="323232"/>
              </a:solidFill>
              <a:latin typeface="+mj-lt"/>
              <a:ea typeface="MS Gothic" panose="020B0609070205080204" pitchFamily="49" charset="-128"/>
            </a:endParaRPr>
          </a:p>
        </p:txBody>
      </p:sp>
      <p:pic>
        <p:nvPicPr>
          <p:cNvPr id="2" name="図 1" descr="アイコン&#10;&#10;低い精度で自動的に生成された説明">
            <a:extLst>
              <a:ext uri="{FF2B5EF4-FFF2-40B4-BE49-F238E27FC236}">
                <a16:creationId xmlns:a16="http://schemas.microsoft.com/office/drawing/2014/main" id="{9B9AA250-E65A-1ABE-DB2D-08E89766EE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8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5EC098-5471-91AF-2B48-D0A39E19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24E84D-B242-905C-53ED-99967B2A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8F3E0A-CF90-02A9-2E96-2005479A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A118-4F28-4A3C-BAEE-B55A339139BE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E471B1-2C07-6CA5-A344-424F264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A57275-F31B-9EC3-41D8-519F8747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27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E3E1CD6-5D8D-268E-42EC-A8EC858EBB44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26BE28-3A0E-DBF8-86C1-201ADE114D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7E08365-6A34-7C6F-FC0A-1F2887B50CE6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27DF148C-7643-3E48-57EE-E10AAF0E4F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88" y="1197288"/>
            <a:ext cx="11736000" cy="5040000"/>
          </a:xfrm>
        </p:spPr>
        <p:txBody>
          <a:bodyPr lIns="180000" tIns="72000" rIns="180000">
            <a:normAutofit/>
          </a:bodyPr>
          <a:lstStyle>
            <a:lvl1pPr marL="0" indent="0">
              <a:spcBef>
                <a:spcPts val="100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endParaRPr kumimoji="1" lang="ja-JP" altLang="en-US"/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1972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145FA22-8B15-8165-6374-D653E8B173C9}"/>
              </a:ext>
            </a:extLst>
          </p:cNvPr>
          <p:cNvSpPr/>
          <p:nvPr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タイトル 66"/>
          <p:cNvSpPr>
            <a:spLocks noGrp="1"/>
          </p:cNvSpPr>
          <p:nvPr>
            <p:ph type="title" hasCustomPrompt="1"/>
          </p:nvPr>
        </p:nvSpPr>
        <p:spPr>
          <a:xfrm>
            <a:off x="516000" y="2288650"/>
            <a:ext cx="11160000" cy="2340000"/>
          </a:xfrm>
          <a:noFill/>
        </p:spPr>
        <p:txBody>
          <a:bodyPr wrap="none" lIns="234000" tIns="234000" rIns="234000" bIns="125999" anchor="t">
            <a:noAutofit/>
          </a:bodyPr>
          <a:lstStyle>
            <a:lvl1pPr>
              <a:lnSpc>
                <a:spcPct val="95000"/>
              </a:lnSpc>
              <a:defRPr sz="4200" b="1" spc="-10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プレゼンテーション</a:t>
            </a:r>
            <a:r>
              <a:rPr kumimoji="1" lang="en-US" altLang="ja-JP"/>
              <a:t> </a:t>
            </a:r>
            <a:r>
              <a:rPr kumimoji="1" lang="ja-JP" altLang="en-US"/>
              <a:t>タイトル</a:t>
            </a:r>
            <a:br>
              <a:rPr kumimoji="1" lang="en-US" altLang="ja-JP"/>
            </a:br>
            <a:r>
              <a:rPr kumimoji="1" lang="en-US" altLang="ja-JP"/>
              <a:t>MSP</a:t>
            </a:r>
            <a:r>
              <a:rPr kumimoji="1" lang="ja-JP" altLang="en-US"/>
              <a:t>ゴシック</a:t>
            </a:r>
            <a:r>
              <a:rPr kumimoji="1" lang="en-US" altLang="ja-JP"/>
              <a:t> 42pt </a:t>
            </a:r>
            <a:br>
              <a:rPr kumimoji="1" lang="en-US" altLang="ja-JP"/>
            </a:br>
            <a:r>
              <a:rPr kumimoji="1" lang="ja-JP" altLang="en-US"/>
              <a:t>行間</a:t>
            </a:r>
            <a:r>
              <a:rPr kumimoji="1" lang="en-US" altLang="ja-JP"/>
              <a:t>0.95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16" name="テキスト プレースホルダー 28"/>
          <p:cNvSpPr>
            <a:spLocks noGrp="1"/>
          </p:cNvSpPr>
          <p:nvPr>
            <p:ph type="body" sz="quarter" idx="11" hasCustomPrompt="1"/>
          </p:nvPr>
        </p:nvSpPr>
        <p:spPr>
          <a:xfrm>
            <a:off x="516000" y="4649729"/>
            <a:ext cx="11160000" cy="720000"/>
          </a:xfrm>
          <a:prstGeom prst="rect">
            <a:avLst/>
          </a:prstGeom>
          <a:noFill/>
        </p:spPr>
        <p:txBody>
          <a:bodyPr wrap="square" lIns="270000" tIns="54000" rIns="234000" bIns="144000" anchor="t" anchorCtr="0">
            <a:noAutofit/>
          </a:bodyPr>
          <a:lstStyle>
            <a:lvl1pPr marL="0" indent="0" defTabSz="158400">
              <a:lnSpc>
                <a:spcPct val="100000"/>
              </a:lnSpc>
              <a:spcBef>
                <a:spcPts val="0"/>
              </a:spcBef>
              <a:buNone/>
              <a:defRPr sz="1800" b="0" spc="-3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br>
              <a:rPr kumimoji="1" lang="en-US" altLang="ja-JP"/>
            </a:br>
            <a:r>
              <a:rPr kumimoji="1" lang="ja-JP" altLang="en-US"/>
              <a:t>日付　　＊社外向け資料には、サブタイトル内に自社名を必ず記入してください。</a:t>
            </a:r>
            <a:endParaRPr kumimoji="1" lang="en-US" altLang="ja-JP"/>
          </a:p>
        </p:txBody>
      </p:sp>
      <p:sp>
        <p:nvSpPr>
          <p:cNvPr id="14" name="テキスト プレースホルダー 4"/>
          <p:cNvSpPr>
            <a:spLocks noGrp="1"/>
          </p:cNvSpPr>
          <p:nvPr>
            <p:ph type="body" sz="quarter" idx="17" hasCustomPrompt="1"/>
          </p:nvPr>
        </p:nvSpPr>
        <p:spPr>
          <a:xfrm>
            <a:off x="516000" y="1297537"/>
            <a:ext cx="11160000" cy="972000"/>
          </a:xfrm>
        </p:spPr>
        <p:txBody>
          <a:bodyPr lIns="234000" anchor="ctr">
            <a:normAutofit/>
          </a:bodyPr>
          <a:lstStyle>
            <a:lvl1pPr marL="0" indent="0">
              <a:spcBef>
                <a:spcPts val="0"/>
              </a:spcBef>
              <a:buNone/>
              <a:defRPr sz="2400" b="0" spc="-30" baseline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9969A3-63BB-75EC-A8BD-A4E4CE3AA613}"/>
              </a:ext>
            </a:extLst>
          </p:cNvPr>
          <p:cNvSpPr txBox="1"/>
          <p:nvPr/>
        </p:nvSpPr>
        <p:spPr>
          <a:xfrm>
            <a:off x="227013" y="271039"/>
            <a:ext cx="1188000" cy="251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5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5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742096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1BC9BC-7E85-1F07-EBFA-39A9BB38A2B7}"/>
              </a:ext>
            </a:extLst>
          </p:cNvPr>
          <p:cNvSpPr/>
          <p:nvPr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AA5ACE5D-BCC4-7FAF-258F-580CB021B5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000" y="4188145"/>
            <a:ext cx="11160000" cy="476933"/>
          </a:xfrm>
          <a:prstGeom prst="rect">
            <a:avLst/>
          </a:prstGeom>
          <a:noFill/>
        </p:spPr>
        <p:txBody>
          <a:bodyPr wrap="square" lIns="270000" tIns="54000" rIns="234000" bIns="144000" anchor="t" anchorCtr="0">
            <a:spAutoFit/>
          </a:bodyPr>
          <a:lstStyle>
            <a:lvl1pPr marL="0" indent="0" defTabSz="158400">
              <a:lnSpc>
                <a:spcPct val="100000"/>
              </a:lnSpc>
              <a:spcBef>
                <a:spcPts val="500"/>
              </a:spcBef>
              <a:buNone/>
              <a:defRPr sz="1800" b="0" spc="-3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0" indent="0" defTabSz="158400">
              <a:buNone/>
              <a:defRPr sz="1400" b="1"/>
            </a:lvl2pPr>
            <a:lvl3pPr marL="0" indent="0" defTabSz="158400">
              <a:buNone/>
              <a:defRPr b="1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18pt</a:t>
            </a:r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A40C814-17D5-4A7E-7A78-30BC828E82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0" y="2682555"/>
            <a:ext cx="11160000" cy="1492258"/>
          </a:xfrm>
        </p:spPr>
        <p:txBody>
          <a:bodyPr lIns="234000" tIns="234000" rIns="234000" bIns="125999" anchor="ctr"/>
          <a:lstStyle>
            <a:lvl1pPr>
              <a:defRPr sz="4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 sz="4000"/>
              <a:t>セクションタイトル</a:t>
            </a:r>
            <a:br>
              <a:rPr lang="en-US" altLang="ja-JP" sz="4000"/>
            </a:br>
            <a:r>
              <a:rPr lang="en-US" altLang="ja-JP" sz="4000"/>
              <a:t>MSP</a:t>
            </a:r>
            <a:r>
              <a:rPr lang="ja-JP" altLang="en-US" sz="4000"/>
              <a:t>ゴシック</a:t>
            </a:r>
            <a:r>
              <a:rPr lang="en-US" altLang="ja-JP" sz="4000"/>
              <a:t> 40pt / </a:t>
            </a:r>
            <a:r>
              <a:rPr lang="ja-JP" altLang="en-US" sz="4000"/>
              <a:t>行間</a:t>
            </a:r>
            <a:r>
              <a:rPr lang="en-US" altLang="ja-JP" sz="4000"/>
              <a:t>1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5D10DD9-2B3B-4B00-5F26-E421D0081912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DE1F0C62-7BF4-1436-B1EA-28526CF3C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0F3A2D-801E-BF03-A7BE-2A5BDC41CABC}"/>
              </a:ext>
            </a:extLst>
          </p:cNvPr>
          <p:cNvSpPr txBox="1"/>
          <p:nvPr/>
        </p:nvSpPr>
        <p:spPr>
          <a:xfrm>
            <a:off x="227013" y="271039"/>
            <a:ext cx="1188000" cy="251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5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5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2133237-772B-F3B9-F68E-FACF5B26B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999D002-4354-4367-B65C-82A746EB8408}"/>
              </a:ext>
            </a:extLst>
          </p:cNvPr>
          <p:cNvSpPr/>
          <p:nvPr userDrawn="1"/>
        </p:nvSpPr>
        <p:spPr>
          <a:xfrm>
            <a:off x="119063" y="728663"/>
            <a:ext cx="11953875" cy="6012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637E74E-059F-4BE4-9A58-FD3375B55B28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16F8014-E6AE-4C65-B543-2A044266B9ED}"/>
              </a:ext>
            </a:extLst>
          </p:cNvPr>
          <p:cNvSpPr txBox="1"/>
          <p:nvPr userDrawn="1"/>
        </p:nvSpPr>
        <p:spPr>
          <a:xfrm>
            <a:off x="227013" y="271039"/>
            <a:ext cx="1188000" cy="251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1050" b="0" i="0">
                <a:solidFill>
                  <a:srgbClr val="FF0000"/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1050" b="0" i="0">
              <a:solidFill>
                <a:srgbClr val="FF0000"/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7279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E3E1CD6-5D8D-268E-42EC-A8EC858EBB44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26BE28-3A0E-DBF8-86C1-201ADE114D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7E08365-6A34-7C6F-FC0A-1F2887B50CE6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9154874E-585B-8A05-2CDC-1474B6AEE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27DF148C-7643-3E48-57EE-E10AAF0E4F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8988" y="1197288"/>
            <a:ext cx="11736000" cy="5040000"/>
          </a:xfrm>
        </p:spPr>
        <p:txBody>
          <a:bodyPr lIns="180000" tIns="72000" rIns="180000">
            <a:normAutofit/>
          </a:bodyPr>
          <a:lstStyle>
            <a:lvl1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540000" indent="-180000">
              <a:buFont typeface="メイリオ" panose="020B0604030504040204" pitchFamily="50" charset="-128"/>
              <a:buChar char="‒"/>
              <a:defRPr/>
            </a:lvl2pPr>
            <a:lvl4pPr marL="1260000" indent="-180000">
              <a:buFont typeface="メイリオ" panose="020B0604030504040204" pitchFamily="50" charset="-128"/>
              <a:buChar char="‒"/>
              <a:defRPr/>
            </a:lvl4pPr>
            <a:lvl5pPr marL="1620000" indent="-180000">
              <a:buFont typeface="メイリオ" panose="020B0604030504040204" pitchFamily="50" charset="-128"/>
              <a:buChar char="»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D8D9BA0-1D0D-6E5C-D092-6155E4939C24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BF1224ED-0F96-677B-6766-A667DE634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9C528B-342A-45DF-B559-23185E27DDD3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2121445-9EB1-49EE-A29A-4E63DF5AA910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5360A9-77A6-4FB4-BFF4-544405B53709}"/>
              </a:ext>
            </a:extLst>
          </p:cNvPr>
          <p:cNvSpPr txBox="1"/>
          <p:nvPr userDrawn="1"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4564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13">
            <a:extLst>
              <a:ext uri="{FF2B5EF4-FFF2-40B4-BE49-F238E27FC236}">
                <a16:creationId xmlns:a16="http://schemas.microsoft.com/office/drawing/2014/main" id="{00F0339F-31B1-E853-007B-4316C81C0E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88" y="1197288"/>
            <a:ext cx="5760000" cy="5040000"/>
          </a:xfrm>
        </p:spPr>
        <p:txBody>
          <a:bodyPr lIns="180000" tIns="72000" rIns="180000">
            <a:normAutofit/>
          </a:bodyPr>
          <a:lstStyle>
            <a:lvl1pPr marL="0" indent="0">
              <a:spcBef>
                <a:spcPts val="10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endParaRPr kumimoji="1" lang="ja-JP" altLang="en-US"/>
          </a:p>
        </p:txBody>
      </p:sp>
      <p:sp>
        <p:nvSpPr>
          <p:cNvPr id="20" name="テキスト プレースホルダー 13">
            <a:extLst>
              <a:ext uri="{FF2B5EF4-FFF2-40B4-BE49-F238E27FC236}">
                <a16:creationId xmlns:a16="http://schemas.microsoft.com/office/drawing/2014/main" id="{8B8C0042-761E-BFFD-163D-6ADF21538D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4988" y="1197288"/>
            <a:ext cx="5760000" cy="5040000"/>
          </a:xfrm>
        </p:spPr>
        <p:txBody>
          <a:bodyPr lIns="180000" tIns="72000" rIns="180000">
            <a:normAutofit/>
          </a:bodyPr>
          <a:lstStyle>
            <a:lvl1pPr marL="0" indent="0">
              <a:spcBef>
                <a:spcPts val="100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kumimoji="1" lang="ja-JP" altLang="en-US"/>
              <a:t>本文テキスト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16pt / </a:t>
            </a:r>
            <a:r>
              <a:rPr kumimoji="1" lang="ja-JP" altLang="en-US"/>
              <a:t>行間</a:t>
            </a:r>
            <a:r>
              <a:rPr kumimoji="1" lang="en-US" altLang="ja-JP"/>
              <a:t>1.5</a:t>
            </a:r>
            <a:endParaRPr kumimoji="1" lang="ja-JP" altLang="en-US"/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991BEEDA-5042-D78E-C736-CCA64FF8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7DB059A-993A-AA54-0335-384E00B89AAC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871354C-6BF6-FA2E-3C77-84B364ABC070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スライド番号プレースホルダー 3">
            <a:extLst>
              <a:ext uri="{FF2B5EF4-FFF2-40B4-BE49-F238E27FC236}">
                <a16:creationId xmlns:a16="http://schemas.microsoft.com/office/drawing/2014/main" id="{BD9A1FA5-B487-E837-4D52-49908F72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C099CE2-37BA-BBA4-6D99-3A23AC91B8C5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10" name="フッター プレースホルダー 2">
            <a:extLst>
              <a:ext uri="{FF2B5EF4-FFF2-40B4-BE49-F238E27FC236}">
                <a16:creationId xmlns:a16="http://schemas.microsoft.com/office/drawing/2014/main" id="{99CFE8A3-7C2C-9F8F-5D9B-F03ACBD67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5CE456-F16B-4DAD-B71A-F84EB2B2CF4F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0DB6B1F-BAB1-406B-B0DF-E52CBC44389B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29AD20-F9CE-4118-8700-6B9426214CA3}"/>
              </a:ext>
            </a:extLst>
          </p:cNvPr>
          <p:cNvSpPr txBox="1"/>
          <p:nvPr userDrawn="1"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9662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3">
            <a:extLst>
              <a:ext uri="{FF2B5EF4-FFF2-40B4-BE49-F238E27FC236}">
                <a16:creationId xmlns:a16="http://schemas.microsoft.com/office/drawing/2014/main" id="{25496A93-1D62-25AF-574D-09D81F48E3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28988" y="1197288"/>
            <a:ext cx="11736000" cy="5040000"/>
          </a:xfrm>
        </p:spPr>
        <p:txBody>
          <a:bodyPr lIns="180000" tIns="72000" rIns="18000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kumimoji="1" lang="en-US" altLang="ja-JP"/>
              <a:t> </a:t>
            </a:r>
            <a:r>
              <a:rPr kumimoji="1" lang="ja-JP" altLang="en-US"/>
              <a:t>図形や写真をここに配置してください</a:t>
            </a: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8A9C86D2-FB33-30B7-DBCD-D48C205B6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A18FD81-88FA-8D10-93A4-CA0238D592BD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EA4F11D-ADDD-D51A-E30D-BAE8D43EB1FA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スライド番号プレースホルダー 3">
            <a:extLst>
              <a:ext uri="{FF2B5EF4-FFF2-40B4-BE49-F238E27FC236}">
                <a16:creationId xmlns:a16="http://schemas.microsoft.com/office/drawing/2014/main" id="{5A7337B3-8626-D6AB-2DD1-FE9C59C99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2ACC9CA-328D-1DE0-5047-D2A3A7B5F101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9" name="フッター プレースホルダー 2">
            <a:extLst>
              <a:ext uri="{FF2B5EF4-FFF2-40B4-BE49-F238E27FC236}">
                <a16:creationId xmlns:a16="http://schemas.microsoft.com/office/drawing/2014/main" id="{DE83409D-7921-0DDF-2CE0-42FF2BF70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AC223C7-C1D5-451E-8C36-D517889F041E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6373C03-8873-4C03-A3D2-CBA817FB5F8A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344371-E22E-4554-BB1E-202CA756CC48}"/>
              </a:ext>
            </a:extLst>
          </p:cNvPr>
          <p:cNvSpPr txBox="1"/>
          <p:nvPr userDrawn="1"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7216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プレースホルダー 13">
            <a:extLst>
              <a:ext uri="{FF2B5EF4-FFF2-40B4-BE49-F238E27FC236}">
                <a16:creationId xmlns:a16="http://schemas.microsoft.com/office/drawing/2014/main" id="{127C7B05-3C0F-B20D-2360-54A754ACA7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04988" y="1203105"/>
            <a:ext cx="9360000" cy="432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en-US" altLang="ja-JP"/>
              <a:t>1. </a:t>
            </a:r>
            <a:r>
              <a:rPr kumimoji="1" lang="ja-JP" altLang="en-US"/>
              <a:t>トピックタイトル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18pt</a:t>
            </a:r>
          </a:p>
        </p:txBody>
      </p:sp>
      <p:sp>
        <p:nvSpPr>
          <p:cNvPr id="16" name="テキスト プレースホルダー 13">
            <a:extLst>
              <a:ext uri="{FF2B5EF4-FFF2-40B4-BE49-F238E27FC236}">
                <a16:creationId xmlns:a16="http://schemas.microsoft.com/office/drawing/2014/main" id="{08E509E5-6002-968F-9689-949702FAAA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4988" y="1656914"/>
            <a:ext cx="8640000" cy="396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ja-JP" altLang="en-US"/>
              <a:t>トピック補足テキスト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16pt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A4C5561-56F1-2BE3-183C-F2F6B7D263C1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9B74494-99C6-7456-B8EB-CA07D45A6FE5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スライド番号プレースホルダー 3">
            <a:extLst>
              <a:ext uri="{FF2B5EF4-FFF2-40B4-BE49-F238E27FC236}">
                <a16:creationId xmlns:a16="http://schemas.microsoft.com/office/drawing/2014/main" id="{4E8E9449-5E24-597D-2466-BC4A4D331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4" name="タイトル 1">
            <a:extLst>
              <a:ext uri="{FF2B5EF4-FFF2-40B4-BE49-F238E27FC236}">
                <a16:creationId xmlns:a16="http://schemas.microsoft.com/office/drawing/2014/main" id="{66BFCDF4-6469-27EF-8B87-DB88B89E3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36" name="テキスト プレースホルダー 13">
            <a:extLst>
              <a:ext uri="{FF2B5EF4-FFF2-40B4-BE49-F238E27FC236}">
                <a16:creationId xmlns:a16="http://schemas.microsoft.com/office/drawing/2014/main" id="{862BB816-54BD-4205-E9D3-A4AB25995A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4988" y="2254032"/>
            <a:ext cx="9360000" cy="432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en-US" altLang="ja-JP"/>
              <a:t>2. </a:t>
            </a: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37" name="テキスト プレースホルダー 13">
            <a:extLst>
              <a:ext uri="{FF2B5EF4-FFF2-40B4-BE49-F238E27FC236}">
                <a16:creationId xmlns:a16="http://schemas.microsoft.com/office/drawing/2014/main" id="{9BB17FC1-42EC-2674-0BCD-AF1B06257F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988" y="2707841"/>
            <a:ext cx="8640000" cy="396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ja-JP" altLang="en-US"/>
              <a:t>補足テキスト</a:t>
            </a:r>
            <a:endParaRPr kumimoji="1" lang="en-US" altLang="ja-JP"/>
          </a:p>
        </p:txBody>
      </p:sp>
      <p:sp>
        <p:nvSpPr>
          <p:cNvPr id="40" name="テキスト プレースホルダー 13">
            <a:extLst>
              <a:ext uri="{FF2B5EF4-FFF2-40B4-BE49-F238E27FC236}">
                <a16:creationId xmlns:a16="http://schemas.microsoft.com/office/drawing/2014/main" id="{C262D9F1-170C-FEE2-2472-3FF004C93A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04988" y="3304959"/>
            <a:ext cx="9360000" cy="432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en-US" altLang="ja-JP"/>
              <a:t>3. </a:t>
            </a: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41" name="テキスト プレースホルダー 13">
            <a:extLst>
              <a:ext uri="{FF2B5EF4-FFF2-40B4-BE49-F238E27FC236}">
                <a16:creationId xmlns:a16="http://schemas.microsoft.com/office/drawing/2014/main" id="{D36E4D91-1BF9-091F-E926-8382E7EDEE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4988" y="3758768"/>
            <a:ext cx="8640000" cy="396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ja-JP" altLang="en-US"/>
              <a:t>補足テキスト</a:t>
            </a:r>
            <a:endParaRPr kumimoji="1" lang="en-US" altLang="ja-JP"/>
          </a:p>
        </p:txBody>
      </p:sp>
      <p:sp>
        <p:nvSpPr>
          <p:cNvPr id="42" name="テキスト プレースホルダー 13">
            <a:extLst>
              <a:ext uri="{FF2B5EF4-FFF2-40B4-BE49-F238E27FC236}">
                <a16:creationId xmlns:a16="http://schemas.microsoft.com/office/drawing/2014/main" id="{5E539ABA-F91D-8A2F-E544-DB3EBFAC91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4988" y="4355885"/>
            <a:ext cx="9360000" cy="432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en-US" altLang="ja-JP"/>
              <a:t>4. </a:t>
            </a: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43" name="テキスト プレースホルダー 13">
            <a:extLst>
              <a:ext uri="{FF2B5EF4-FFF2-40B4-BE49-F238E27FC236}">
                <a16:creationId xmlns:a16="http://schemas.microsoft.com/office/drawing/2014/main" id="{F67B5B7A-896A-DE29-E75A-80E790F361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24988" y="4809694"/>
            <a:ext cx="8640000" cy="396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ja-JP" altLang="en-US"/>
              <a:t>補足テキスト</a:t>
            </a:r>
            <a:endParaRPr kumimoji="1" lang="en-US" altLang="ja-JP"/>
          </a:p>
        </p:txBody>
      </p:sp>
      <p:sp>
        <p:nvSpPr>
          <p:cNvPr id="44" name="テキスト プレースホルダー 13">
            <a:extLst>
              <a:ext uri="{FF2B5EF4-FFF2-40B4-BE49-F238E27FC236}">
                <a16:creationId xmlns:a16="http://schemas.microsoft.com/office/drawing/2014/main" id="{433031D6-DD50-5095-0CC8-23D614EBC9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04988" y="5406811"/>
            <a:ext cx="9360000" cy="432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en-US" altLang="ja-JP"/>
              <a:t>5. </a:t>
            </a: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45" name="テキスト プレースホルダー 13">
            <a:extLst>
              <a:ext uri="{FF2B5EF4-FFF2-40B4-BE49-F238E27FC236}">
                <a16:creationId xmlns:a16="http://schemas.microsoft.com/office/drawing/2014/main" id="{6345B59D-EA5D-4847-AC94-092E01E40D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988" y="5860620"/>
            <a:ext cx="8640000" cy="396000"/>
          </a:xfrm>
        </p:spPr>
        <p:txBody>
          <a:bodyPr lIns="180000" tIns="72000" rIns="180000" anchor="t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4pPr marL="1080000" indent="0">
              <a:lnSpc>
                <a:spcPct val="100000"/>
              </a:lnSpc>
              <a:spcBef>
                <a:spcPts val="400"/>
              </a:spcBef>
              <a:buNone/>
              <a:defRPr sz="1400"/>
            </a:lvl4pPr>
          </a:lstStyle>
          <a:p>
            <a:pPr lvl="0"/>
            <a:r>
              <a:rPr kumimoji="1" lang="ja-JP" altLang="en-US"/>
              <a:t>補足テキスト</a:t>
            </a:r>
            <a:endParaRPr kumimoji="1" lang="en-US" altLang="ja-JP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9E132C20-8123-1012-8F31-644C815BC48B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18" name="フッター プレースホルダー 2">
            <a:extLst>
              <a:ext uri="{FF2B5EF4-FFF2-40B4-BE49-F238E27FC236}">
                <a16:creationId xmlns:a16="http://schemas.microsoft.com/office/drawing/2014/main" id="{8C54F341-AE34-F552-2D9E-21DD0C65F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40949F-DE6F-42C7-938C-647037EFDAC3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D049C27-527D-4DAA-B422-9EE504424655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770CE58-926D-4CD6-AFFC-668151530C57}"/>
              </a:ext>
            </a:extLst>
          </p:cNvPr>
          <p:cNvSpPr txBox="1"/>
          <p:nvPr userDrawn="1"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7165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プレースホルダー 13">
            <a:extLst>
              <a:ext uri="{FF2B5EF4-FFF2-40B4-BE49-F238E27FC236}">
                <a16:creationId xmlns:a16="http://schemas.microsoft.com/office/drawing/2014/main" id="{68D846FA-517A-1BDC-FC39-E177F82B1D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013" y="1202636"/>
            <a:ext cx="2232000" cy="1620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1.</a:t>
            </a:r>
            <a:br>
              <a:rPr kumimoji="1" lang="en-US" altLang="ja-JP"/>
            </a:br>
            <a:r>
              <a:rPr kumimoji="1" lang="ja-JP" altLang="en-US"/>
              <a:t>トピックタイトル</a:t>
            </a:r>
            <a:br>
              <a:rPr kumimoji="1" lang="en-US" altLang="ja-JP"/>
            </a:br>
            <a:r>
              <a:rPr kumimoji="1" lang="en-US" altLang="ja-JP"/>
              <a:t>MSP</a:t>
            </a:r>
            <a:r>
              <a:rPr kumimoji="1" lang="ja-JP" altLang="en-US"/>
              <a:t>ゴシック</a:t>
            </a:r>
            <a:br>
              <a:rPr kumimoji="1" lang="en-US" altLang="ja-JP"/>
            </a:br>
            <a:r>
              <a:rPr kumimoji="1" lang="en-US" altLang="ja-JP"/>
              <a:t>18pt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</a:p>
        </p:txBody>
      </p:sp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2E896B08-519F-1B49-CAEA-B43D1178AF6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7013" y="2853288"/>
            <a:ext cx="2232000" cy="3384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トピック補足テキスト</a:t>
            </a:r>
            <a:br>
              <a:rPr kumimoji="1" lang="en-US" altLang="ja-JP"/>
            </a:br>
            <a:r>
              <a:rPr kumimoji="1" lang="en-US" altLang="ja-JP"/>
              <a:t>MSP</a:t>
            </a:r>
            <a:r>
              <a:rPr kumimoji="1" lang="ja-JP" altLang="en-US"/>
              <a:t>ゴシック</a:t>
            </a:r>
            <a:br>
              <a:rPr kumimoji="1" lang="en-US" altLang="ja-JP"/>
            </a:br>
            <a:r>
              <a:rPr kumimoji="1" lang="en-US" altLang="ja-JP"/>
              <a:t>16pt / </a:t>
            </a:r>
            <a:r>
              <a:rPr kumimoji="1" lang="ja-JP" altLang="en-US"/>
              <a:t>行間</a:t>
            </a:r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B82DFB4-8892-789E-B2CD-7983B9B4CF0D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A81A413-E438-061D-7C90-F5C58FADD165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スライド番号プレースホルダー 3">
            <a:extLst>
              <a:ext uri="{FF2B5EF4-FFF2-40B4-BE49-F238E27FC236}">
                <a16:creationId xmlns:a16="http://schemas.microsoft.com/office/drawing/2014/main" id="{6109E172-85B5-D6BA-35E2-71BC0EBAE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B9A141CF-F022-534F-2B0D-5484A16D3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88" y="188913"/>
            <a:ext cx="9000000" cy="540000"/>
          </a:xfrm>
        </p:spPr>
        <p:txBody>
          <a:bodyPr lIns="180000" tIns="72000" rIns="180000"/>
          <a:lstStyle>
            <a:lvl1pPr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31" name="テキスト プレースホルダー 13">
            <a:extLst>
              <a:ext uri="{FF2B5EF4-FFF2-40B4-BE49-F238E27FC236}">
                <a16:creationId xmlns:a16="http://schemas.microsoft.com/office/drawing/2014/main" id="{091E2DBB-7DB9-2686-95D3-4E80875ED0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29232" y="1202636"/>
            <a:ext cx="2232000" cy="1620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5.</a:t>
            </a:r>
            <a:br>
              <a:rPr kumimoji="1" lang="en-US" altLang="ja-JP"/>
            </a:b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32" name="テキスト プレースホルダー 13">
            <a:extLst>
              <a:ext uri="{FF2B5EF4-FFF2-40B4-BE49-F238E27FC236}">
                <a16:creationId xmlns:a16="http://schemas.microsoft.com/office/drawing/2014/main" id="{078B0A2C-258F-D3A0-16EC-3E1972B716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29232" y="2853288"/>
            <a:ext cx="2232000" cy="3384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補足テキスト</a:t>
            </a:r>
          </a:p>
        </p:txBody>
      </p:sp>
      <p:sp>
        <p:nvSpPr>
          <p:cNvPr id="33" name="テキスト プレースホルダー 13">
            <a:extLst>
              <a:ext uri="{FF2B5EF4-FFF2-40B4-BE49-F238E27FC236}">
                <a16:creationId xmlns:a16="http://schemas.microsoft.com/office/drawing/2014/main" id="{D8A912AB-567C-A54D-4F1D-3027E27F63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980000" y="1202636"/>
            <a:ext cx="2232000" cy="1620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3.</a:t>
            </a:r>
            <a:br>
              <a:rPr kumimoji="1" lang="en-US" altLang="ja-JP"/>
            </a:b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34" name="テキスト プレースホルダー 13">
            <a:extLst>
              <a:ext uri="{FF2B5EF4-FFF2-40B4-BE49-F238E27FC236}">
                <a16:creationId xmlns:a16="http://schemas.microsoft.com/office/drawing/2014/main" id="{A1CC399C-A256-16A8-5421-852FF5919F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000" y="2853288"/>
            <a:ext cx="2232000" cy="3384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補足テキスト</a:t>
            </a:r>
          </a:p>
        </p:txBody>
      </p:sp>
      <p:sp>
        <p:nvSpPr>
          <p:cNvPr id="35" name="テキスト プレースホルダー 13">
            <a:extLst>
              <a:ext uri="{FF2B5EF4-FFF2-40B4-BE49-F238E27FC236}">
                <a16:creationId xmlns:a16="http://schemas.microsoft.com/office/drawing/2014/main" id="{F59B86E8-736F-B28D-D00E-E953A7F41FB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01629" y="1202636"/>
            <a:ext cx="2232000" cy="1620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2.</a:t>
            </a:r>
            <a:br>
              <a:rPr kumimoji="1" lang="en-US" altLang="ja-JP"/>
            </a:b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36" name="テキスト プレースホルダー 13">
            <a:extLst>
              <a:ext uri="{FF2B5EF4-FFF2-40B4-BE49-F238E27FC236}">
                <a16:creationId xmlns:a16="http://schemas.microsoft.com/office/drawing/2014/main" id="{147CC392-487E-2E0C-B50A-061957F777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01629" y="2853288"/>
            <a:ext cx="2232000" cy="3384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補足テキスト</a:t>
            </a:r>
          </a:p>
        </p:txBody>
      </p:sp>
      <p:sp>
        <p:nvSpPr>
          <p:cNvPr id="37" name="テキスト プレースホルダー 13">
            <a:extLst>
              <a:ext uri="{FF2B5EF4-FFF2-40B4-BE49-F238E27FC236}">
                <a16:creationId xmlns:a16="http://schemas.microsoft.com/office/drawing/2014/main" id="{7BEA0843-78F0-59BF-C130-00A11B0158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50861" y="1202636"/>
            <a:ext cx="2232000" cy="1620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4.</a:t>
            </a:r>
            <a:br>
              <a:rPr kumimoji="1" lang="en-US" altLang="ja-JP"/>
            </a:br>
            <a:r>
              <a:rPr kumimoji="1" lang="ja-JP" altLang="en-US"/>
              <a:t>トピックタイトル</a:t>
            </a:r>
            <a:endParaRPr kumimoji="1" lang="en-US" altLang="ja-JP"/>
          </a:p>
        </p:txBody>
      </p:sp>
      <p:sp>
        <p:nvSpPr>
          <p:cNvPr id="38" name="テキスト プレースホルダー 13">
            <a:extLst>
              <a:ext uri="{FF2B5EF4-FFF2-40B4-BE49-F238E27FC236}">
                <a16:creationId xmlns:a16="http://schemas.microsoft.com/office/drawing/2014/main" id="{A4EC413B-D1FB-83CD-AFD7-13B9F7201C4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50861" y="2853288"/>
            <a:ext cx="2232000" cy="3384000"/>
          </a:xfrm>
        </p:spPr>
        <p:txBody>
          <a:bodyPr lIns="180000" tIns="72000" rIns="180000"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補足テキスト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528192A-F077-FEE2-59A7-9B8112A6FFB7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sp>
        <p:nvSpPr>
          <p:cNvPr id="18" name="フッター プレースホルダー 2">
            <a:extLst>
              <a:ext uri="{FF2B5EF4-FFF2-40B4-BE49-F238E27FC236}">
                <a16:creationId xmlns:a16="http://schemas.microsoft.com/office/drawing/2014/main" id="{8B7B2490-5B69-9356-577C-5A2BF46F6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三菱ケミカル□□□株式会社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4F1DFEB-89E7-4E93-8F93-D7C095311E96}"/>
              </a:ext>
            </a:extLst>
          </p:cNvPr>
          <p:cNvSpPr/>
          <p:nvPr userDrawn="1"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B170C04-AF08-47E4-B742-193C7C0877D5}"/>
              </a:ext>
            </a:extLst>
          </p:cNvPr>
          <p:cNvCxnSpPr>
            <a:cxnSpLocks/>
          </p:cNvCxnSpPr>
          <p:nvPr userDrawn="1"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6D5C4C8-66B9-4DDB-981E-55A0A5F3E896}"/>
              </a:ext>
            </a:extLst>
          </p:cNvPr>
          <p:cNvSpPr txBox="1"/>
          <p:nvPr userDrawn="1"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1269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2pPr>
            <a:lvl3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3pPr>
            <a:lvl4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4pPr>
            <a:lvl5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>
                <a:solidFill>
                  <a:prstClr val="black">
                    <a:tint val="75000"/>
                  </a:prstClr>
                </a:solidFill>
              </a:rPr>
              <a:t>三菱ケミカル株式会社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76EA-301C-46AF-8EE1-E964137727D1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5255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theme" Target="../theme/theme2.xml"/><Relationship Id="rId10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フッター プレースホルダー 2">
            <a:extLst>
              <a:ext uri="{FF2B5EF4-FFF2-40B4-BE49-F238E27FC236}">
                <a16:creationId xmlns:a16="http://schemas.microsoft.com/office/drawing/2014/main" id="{793D33C9-6286-93AD-F690-DD106EE41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三菱ケミカル株式会社</a:t>
            </a:r>
          </a:p>
        </p:txBody>
      </p:sp>
      <p:sp>
        <p:nvSpPr>
          <p:cNvPr id="39" name="スライド番号プレースホルダー 3">
            <a:extLst>
              <a:ext uri="{FF2B5EF4-FFF2-40B4-BE49-F238E27FC236}">
                <a16:creationId xmlns:a16="http://schemas.microsoft.com/office/drawing/2014/main" id="{1E9F7E52-3585-A248-DCF9-10FD61D02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30">
                <a:solidFill>
                  <a:schemeClr val="tx1"/>
                </a:solidFill>
                <a:latin typeface="+mj-lt"/>
              </a:defRPr>
            </a:lvl1pPr>
          </a:lstStyle>
          <a:p>
            <a:fld id="{48394356-8693-4048-8EAF-2BF05B04AA8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タイトル プレースホルダー 4">
            <a:extLst>
              <a:ext uri="{FF2B5EF4-FFF2-40B4-BE49-F238E27FC236}">
                <a16:creationId xmlns:a16="http://schemas.microsoft.com/office/drawing/2014/main" id="{20757BDD-7C5A-9847-972C-E62918DA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6" y="255264"/>
            <a:ext cx="9548530" cy="3693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AEC7C21-0104-334A-9DA4-A2175358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187354"/>
            <a:ext cx="11556999" cy="50499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9639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58" r:id="rId2"/>
    <p:sldLayoutId id="2147483864" r:id="rId3"/>
    <p:sldLayoutId id="2147483862" r:id="rId4"/>
    <p:sldLayoutId id="2147483863" r:id="rId5"/>
    <p:sldLayoutId id="2147483859" r:id="rId6"/>
    <p:sldLayoutId id="2147483874" r:id="rId7"/>
    <p:sldLayoutId id="2147483875" r:id="rId8"/>
    <p:sldLayoutId id="2147483876" r:id="rId9"/>
    <p:sldLayoutId id="2147483880" r:id="rId10"/>
    <p:sldLayoutId id="2147483881" r:id="rId11"/>
    <p:sldLayoutId id="2147483888" r:id="rId12"/>
    <p:sldLayoutId id="2147483890" r:id="rId13"/>
    <p:sldLayoutId id="2147483885" r:id="rId14"/>
    <p:sldLayoutId id="2147483886" r:id="rId15"/>
    <p:sldLayoutId id="2147483891" r:id="rId16"/>
    <p:sldLayoutId id="2147483996" r:id="rId17"/>
    <p:sldLayoutId id="2147483997" r:id="rId1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i="0" kern="1200" spc="-50" baseline="0">
          <a:solidFill>
            <a:schemeClr val="tx1"/>
          </a:solidFill>
          <a:latin typeface="+mj-lt"/>
          <a:ea typeface="+mj-ea"/>
          <a:cs typeface="Meiryo" charset="-128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00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7537" userDrawn="1">
          <p15:clr>
            <a:srgbClr val="F26B43"/>
          </p15:clr>
        </p15:guide>
        <p15:guide id="5" pos="25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CDCF539-2533-44B3-A5FE-169A800A8363}"/>
              </a:ext>
            </a:extLst>
          </p:cNvPr>
          <p:cNvSpPr/>
          <p:nvPr/>
        </p:nvSpPr>
        <p:spPr>
          <a:xfrm>
            <a:off x="119063" y="6452663"/>
            <a:ext cx="11953875" cy="288000"/>
          </a:xfrm>
          <a:prstGeom prst="rect">
            <a:avLst/>
          </a:prstGeom>
          <a:solidFill>
            <a:srgbClr val="ECF1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プレースホルダー 9"/>
          <p:cNvSpPr>
            <a:spLocks noGrp="1"/>
          </p:cNvSpPr>
          <p:nvPr>
            <p:ph type="title"/>
          </p:nvPr>
        </p:nvSpPr>
        <p:spPr>
          <a:xfrm>
            <a:off x="242502" y="198450"/>
            <a:ext cx="9000000" cy="540000"/>
          </a:xfrm>
          <a:prstGeom prst="rect">
            <a:avLst/>
          </a:prstGeom>
        </p:spPr>
        <p:txBody>
          <a:bodyPr vert="horz" wrap="none" lIns="180000" tIns="72000" rIns="180000" bIns="0" rtlCol="0" anchor="ctr">
            <a:noAutofit/>
          </a:bodyPr>
          <a:lstStyle/>
          <a:p>
            <a:r>
              <a:rPr kumimoji="1" lang="ja-JP" altLang="en-US"/>
              <a:t>タイトル</a:t>
            </a:r>
            <a:r>
              <a:rPr kumimoji="1" lang="en-US" altLang="ja-JP"/>
              <a:t> MSP</a:t>
            </a:r>
            <a:r>
              <a:rPr kumimoji="1" lang="ja-JP" altLang="en-US"/>
              <a:t>ゴシック</a:t>
            </a:r>
            <a:r>
              <a:rPr kumimoji="1" lang="en-US" altLang="ja-JP"/>
              <a:t> 24pt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38814" y="1184732"/>
            <a:ext cx="11736000" cy="5040000"/>
          </a:xfrm>
          <a:prstGeom prst="rect">
            <a:avLst/>
          </a:prstGeom>
        </p:spPr>
        <p:txBody>
          <a:bodyPr vert="horz" lIns="180000" tIns="72000" rIns="18000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  <a:p>
            <a:pPr lvl="0"/>
            <a:endParaRPr kumimoji="1" lang="ja-JP" altLang="en-US"/>
          </a:p>
        </p:txBody>
      </p:sp>
      <p:sp>
        <p:nvSpPr>
          <p:cNvPr id="39" name="スライド番号プレースホルダー 3">
            <a:extLst>
              <a:ext uri="{FF2B5EF4-FFF2-40B4-BE49-F238E27FC236}">
                <a16:creationId xmlns:a16="http://schemas.microsoft.com/office/drawing/2014/main" id="{1E9F7E52-3585-A248-DCF9-10FD61D02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49A76EA-301C-46AF-8EE1-E964137727D1}" type="slidenum">
              <a:rPr lang="ja-JP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ＭＳ Ｐゴシック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Calibri"/>
              <a:ea typeface="ＭＳ Ｐゴシック"/>
            </a:endParaRPr>
          </a:p>
        </p:txBody>
      </p:sp>
      <p:pic>
        <p:nvPicPr>
          <p:cNvPr id="13" name="図 12" descr="アイコン&#10;&#10;低い精度で自動的に生成された説明">
            <a:extLst>
              <a:ext uri="{FF2B5EF4-FFF2-40B4-BE49-F238E27FC236}">
                <a16:creationId xmlns:a16="http://schemas.microsoft.com/office/drawing/2014/main" id="{8379A01F-8105-4DFA-DC55-B0DA44C858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31" y="66162"/>
            <a:ext cx="1441424" cy="662901"/>
          </a:xfrm>
          <a:prstGeom prst="rect">
            <a:avLst/>
          </a:prstGeom>
        </p:spPr>
      </p:pic>
      <p:sp>
        <p:nvSpPr>
          <p:cNvPr id="11" name="フッター プレースホルダー 2">
            <a:extLst>
              <a:ext uri="{FF2B5EF4-FFF2-40B4-BE49-F238E27FC236}">
                <a16:creationId xmlns:a16="http://schemas.microsoft.com/office/drawing/2014/main" id="{C13510D1-AC76-68D5-73DF-F042E714D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ja-JP" altLang="en-US">
                <a:solidFill>
                  <a:prstClr val="black">
                    <a:tint val="75000"/>
                  </a:prstClr>
                </a:solidFill>
                <a:latin typeface="Calibri"/>
                <a:ea typeface="ＭＳ Ｐゴシック"/>
              </a:rPr>
              <a:t>三菱ケミカル株式会社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486B22-793D-4127-9434-7D2C566CA628}"/>
              </a:ext>
            </a:extLst>
          </p:cNvPr>
          <p:cNvSpPr txBox="1"/>
          <p:nvPr/>
        </p:nvSpPr>
        <p:spPr>
          <a:xfrm>
            <a:off x="10884988" y="6482599"/>
            <a:ext cx="1080000" cy="22351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8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MS Gothic" panose="020B0609070205080204" pitchFamily="49" charset="-128"/>
              </a:rPr>
              <a:t>CONFIDENTIAL</a:t>
            </a:r>
            <a:endParaRPr kumimoji="1" lang="ja-JP" altLang="en-US" sz="980" b="0" i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MS Gothic" panose="020B0609070205080204" pitchFamily="49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D308650-E3E1-452C-8427-1CC5240704A0}"/>
              </a:ext>
            </a:extLst>
          </p:cNvPr>
          <p:cNvCxnSpPr>
            <a:cxnSpLocks/>
          </p:cNvCxnSpPr>
          <p:nvPr/>
        </p:nvCxnSpPr>
        <p:spPr>
          <a:xfrm>
            <a:off x="550714" y="6504987"/>
            <a:ext cx="0" cy="19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66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i="0" kern="1200" spc="-50" baseline="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285750" indent="-285750" algn="l" defTabSz="914400" rtl="0" eaLnBrk="1" latinLnBrk="0" hangingPunct="1">
        <a:lnSpc>
          <a:spcPct val="150000"/>
        </a:lnSpc>
        <a:spcBef>
          <a:spcPts val="1000"/>
        </a:spcBef>
        <a:buFont typeface="メイリオ" panose="020B0604030504040204" pitchFamily="50" charset="-128"/>
        <a:buChar char="•"/>
        <a:defRPr kumimoji="1" sz="1800" kern="1200" baseline="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40000" indent="-180000" algn="l" defTabSz="914400" rtl="0" eaLnBrk="1" latinLnBrk="0" hangingPunct="1">
        <a:lnSpc>
          <a:spcPct val="100000"/>
        </a:lnSpc>
        <a:spcBef>
          <a:spcPts val="1000"/>
        </a:spcBef>
        <a:buFont typeface="メイリオ" panose="020B0604030504040204" pitchFamily="50" charset="-128"/>
        <a:buChar char="‒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1000"/>
        </a:spcBef>
        <a:buFont typeface="メイリオ" panose="020B0604030504040204" pitchFamily="50" charset="-128"/>
        <a:buChar char="‒"/>
        <a:defRPr kumimoji="1" sz="1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1000"/>
        </a:spcBef>
        <a:buFont typeface="メイリオ" panose="020B0604030504040204" pitchFamily="50" charset="-128"/>
        <a:buChar char="»"/>
        <a:defRPr kumimoji="1" sz="105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198000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9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orient="horz" pos="119">
          <p15:clr>
            <a:srgbClr val="F26B43"/>
          </p15:clr>
        </p15:guide>
        <p15:guide id="5" pos="7537">
          <p15:clr>
            <a:srgbClr val="F26B43"/>
          </p15:clr>
        </p15:guide>
        <p15:guide id="6" pos="143">
          <p15:clr>
            <a:srgbClr val="F26B43"/>
          </p15:clr>
        </p15:guide>
        <p15:guide id="7" orient="horz" pos="3929">
          <p15:clr>
            <a:srgbClr val="F26B43"/>
          </p15:clr>
        </p15:guide>
        <p15:guide id="8" orient="horz" pos="459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3.e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4.e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15.e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16.emf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17.emf"/><Relationship Id="rId12" Type="http://schemas.openxmlformats.org/officeDocument/2006/relationships/oleObject" Target="../embeddings/oleObject6.bin"/><Relationship Id="rId13" Type="http://schemas.openxmlformats.org/officeDocument/2006/relationships/image" Target="../media/image18.emf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19.emf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20.emf"/><Relationship Id="rId18" Type="http://schemas.openxmlformats.org/officeDocument/2006/relationships/oleObject" Target="../embeddings/oleObject9.bin"/><Relationship Id="rId19" Type="http://schemas.openxmlformats.org/officeDocument/2006/relationships/image" Target="../media/image21.emf"/><Relationship Id="rId20" Type="http://schemas.openxmlformats.org/officeDocument/2006/relationships/oleObject" Target="../embeddings/oleObject10.bin"/><Relationship Id="rId21" Type="http://schemas.openxmlformats.org/officeDocument/2006/relationships/image" Target="../media/image22.emf"/><Relationship Id="rId22" Type="http://schemas.openxmlformats.org/officeDocument/2006/relationships/oleObject" Target="../embeddings/oleObject11.bin"/><Relationship Id="rId23" Type="http://schemas.openxmlformats.org/officeDocument/2006/relationships/image" Target="../media/image23.emf"/><Relationship Id="rId24" Type="http://schemas.openxmlformats.org/officeDocument/2006/relationships/hyperlink" Target="https://mchcgr.sharepoint.com/sites/MCG-Site-E/Shared%20Documents/DEG&#33394;&#30456;&#24746;&#21270;&#23550;&#24540;/&#22522;&#30990;&#30740;/2026.06.18%20DEG%20&#23550;&#24540;_&#33576;&#38283;B.ppt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hyperlink" Target="https://mchcgr.sharepoint.com/sites/MCG-Site-E/Shared%20Documents/DEG%E8%89%B2%E7%9B%B8%E6%82%AA%E5%8C%96%E5%AF%BE%E5%BF%9C/EO%E8%AA%B2/20260616_C-1501%E2%86%92C-1502%E8%A1%8C%E3%81%8D%E9%85%8D%E7%AE%A1%E5%86%85%E9%83%A8%E6%A4%9C%E6%9F%BB.pptx?web=1" TargetMode="External"/><Relationship Id="rId5" Type="http://schemas.openxmlformats.org/officeDocument/2006/relationships/hyperlink" Target="https://mchcgr.sharepoint.com/sites/MCG-Site-E/Shared%20Documents/DEG%E8%89%B2%E7%9B%B8%E6%82%AA%E5%8C%96%E5%AF%BE%E5%BF%9C/EO%E8%AA%B2/20260611_C-1501.pptx?web=1" TargetMode="External"/><Relationship Id="rId6" Type="http://schemas.openxmlformats.org/officeDocument/2006/relationships/hyperlink" Target="https://mchcgr.sharepoint.com/sites/MCG-Site-E/Shared%20Documents/DEG%E8%89%B2%E7%9B%B8%E6%82%AA%E5%8C%96%E5%AF%BE%E5%BF%9C/EO%E8%AA%B2/C-1503%E6%A4%9C%E6%9F%BB%E7%B5%90%E6%9E%9C.pptx?web=1" TargetMode="External"/><Relationship Id="rId7" Type="http://schemas.openxmlformats.org/officeDocument/2006/relationships/hyperlink" Target="https://mchcgr.sharepoint.com/sites/MCG-Site-E/Shared%20Documents/DEG%E8%89%B2%E7%9B%B8%E6%82%AA%E5%8C%96%E5%AF%BE%E5%BF%9C/EO%E8%AA%B2/20260612_C-1502.pptx?web=1" TargetMode="External"/><Relationship Id="rId8" Type="http://schemas.openxmlformats.org/officeDocument/2006/relationships/hyperlink" Target="https://mchcgr.sharepoint.com/sites/MCG-Site-E/Shared%20Documents/DEG%E8%89%B2%E7%9B%B8%E6%82%AA%E5%8C%96%E5%AF%BE%E5%BF%9C/EO%E8%AA%B2/C-1504%E6%A4%9C%E6%9F%BB%E7%B5%90%E6%9E%9C.pptx?web=1" TargetMode="External"/><Relationship Id="rId9" Type="http://schemas.openxmlformats.org/officeDocument/2006/relationships/hyperlink" Target="https://mchcgr.sharepoint.com/sites/MCG-Site-E/Shared%20Documents/DEG%E8%89%B2%E7%9B%B8%E6%82%AA%E5%8C%96%E5%AF%BE%E5%BF%9C/EO%E8%AA%B2/%E8%A3%BD%E5%93%81DEG%E8%89%B2%E7%9B%B8%E6%82%AA%E5%8C%96%E8%B3%87%E6%96%99%EF%BC%88EO%E8%AA%B2%EF%BC%89.pptx?web=1" TargetMode="External"/><Relationship Id="rId10" Type="http://schemas.openxmlformats.org/officeDocument/2006/relationships/hyperlink" Target="https://mchcgr.sharepoint.com/sites/MCG-Site-E/Shared%20Documents/DEG%E8%89%B2%E7%9B%B8%E6%82%AA%E5%8C%96%E5%AF%BE%E5%BF%9C/EO%E8%AA%B2/T-615%E9%96%8B%E6%94%BE%E5%BE%8C.pptx?web=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chcgr.sharepoint.com/sites/MCG-Site-E/Shared%20Documents/DEG%E8%89%B2%E7%9B%B8%E6%82%AA%E5%8C%96%E5%AF%BE%E5%BF%9C/EO%E8%AA%B2/20260611_C-1501.pptx?web=1" TargetMode="External"/><Relationship Id="rId3" Type="http://schemas.openxmlformats.org/officeDocument/2006/relationships/hyperlink" Target="https://mchcgr.sharepoint.com/sites/MCG-Site-E/Shared%20Documents/DEG%E8%89%B2%E7%9B%B8%E6%82%AA%E5%8C%96%E5%AF%BE%E5%BF%9C/EO%E8%AA%B2/20260612_C-1502.pptx?web=1" TargetMode="External"/><Relationship Id="rId4" Type="http://schemas.openxmlformats.org/officeDocument/2006/relationships/hyperlink" Target="https://mchcgr.sharepoint.com/sites/MCG-Site-E/Shared%20Documents/DEG%E8%89%B2%E7%9B%B8%E6%82%AA%E5%8C%96%E5%AF%BE%E5%BF%9C/EO%E8%AA%B2/C-1503%E6%A4%9C%E6%9F%BB%E7%B5%90%E6%9E%9C.pptx?web=1" TargetMode="External"/><Relationship Id="rId5" Type="http://schemas.openxmlformats.org/officeDocument/2006/relationships/hyperlink" Target="https://mchcgr.sharepoint.com/sites/MCG-Site-E/Shared%20Documents/DEG%E8%89%B2%E7%9B%B8%E6%82%AA%E5%8C%96%E5%AF%BE%E5%BF%9C/EO%E8%AA%B2/C-1504%E6%A4%9C%E6%9F%BB%E7%B5%90%E6%9E%9C.pptx?web=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chcgr.sharepoint.com/sites/MCG-Site-E/Shared%20Documents/DEG%E8%89%B2%E7%9B%B8%E6%82%AA%E5%8C%96%E5%AF%BE%E5%BF%9C/EO%E8%AA%B2/20260616_C-1501%E2%86%92C-1502%E8%A1%8C%E3%81%8D%E9%85%8D%E7%AE%A1%E5%86%85%E9%83%A8%E6%A4%9C%E6%9F%BB.pptx?web=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chcgr.sharepoint.com/sites/MCG-Site-E/Shared%20Documents/DEG%E8%89%B2%E7%9B%B8%E6%82%AA%E5%8C%96%E5%AF%BE%E5%BF%9C/EO%E8%AA%B2/%E8%A3%BD%E5%93%81DEG%E8%89%B2%E7%9B%B8%E6%82%AA%E5%8C%96%E8%B3%87%E6%96%99%EF%BC%88EO%E8%AA%B2%EF%BC%89.pptx?web=1" TargetMode="External"/><Relationship Id="rId3" Type="http://schemas.openxmlformats.org/officeDocument/2006/relationships/hyperlink" Target="https://mchcgr.sharepoint.com/sites/MCG-Site-E/Shared%20Documents/DEG%E8%89%B2%E7%9B%B8%E6%82%AA%E5%8C%96%E5%AF%BE%E5%BF%9C/EO%E8%AA%B2/T-615%E9%96%8B%E6%94%BE%E5%BE%8C.pptx?web=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mchcgr.sharepoint.com/sites/MCG-Site-E/Shared%20Documents/DEG%E8%89%B2%E7%9B%B8%E6%82%AA%E5%8C%96%E5%AF%BE%E5%BF%9C/%E5%9F%BA%E7%A4%8E%E7%A0%94/2026.6.16%20DEG%E5%AF%BE%E7%AD%96%E4%BC%9A%E8%AD%B0.pptx?web=1" TargetMode="External"/><Relationship Id="rId3" Type="http://schemas.openxmlformats.org/officeDocument/2006/relationships/hyperlink" Target="https://mchcgr.sharepoint.com/sites/MCG-Site-E/Shared%20Documents/DEG%E8%89%B2%E7%9B%B8%E6%82%AA%E5%8C%96%E5%AF%BE%E5%BF%9C/EO%E8%AA%B2/2026.06.08_DEG%E8%89%B2%E7%9B%B8%E4%B8%8A%E6%98%87%E5%AF%BE%E5%BF%9C%EF%BC%89T-555%E5%8F%97%E5%85%A5%E3%83%A9%E3%82%A4%E3%83%B3%E4%B8%AD%E3%81%AE%E3%83%89%E3%83%AC%E3%83%B3%E7%8A%B6%E6%B3%81%E7%A2%BA%E8%AA%8D.pptx?web=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mchcgr.sharepoint.com/sites/MCG-Site-E/Shared%20Documents/DEG%E8%89%B2%E7%9B%B8%E6%82%AA%E5%8C%96%E5%AF%BE%E5%BF%9C/%E5%9F%BA%E7%A4%8E%E7%A0%94/DEG%20%E5%AF%BE%E5%BF%9C_%E5%88%86%E6%9E%90%E5%AF%BE%E5%BF%9C%E7%8A%B6%E6%B3%81(GCMS%E3%80%81GPC%E3%80%81LC%E7%B5%90%E6%9E%9C)_2026.06.11.pptx?web=1" TargetMode="External"/><Relationship Id="rId3" Type="http://schemas.openxmlformats.org/officeDocument/2006/relationships/hyperlink" Target="https://mchcgr.sharepoint.com/sites/MCG-Site-E/Shared%20Documents/DEG%E8%89%B2%E7%9B%B8%E6%82%AA%E5%8C%96%E5%AF%BE%E5%BF%9C/%E7%A4%BE%E5%86%85%E5%A0%B1%E5%91%8A/20260611_%E6%89%80%E9%95%B7%E5%A0%B1%E5%91%8A/2026.06.11%20DEG%20%E5%AF%BE%E5%BF%9C_%E8%8C%A8%E9%96%8BB.pptx?web=1" TargetMode="External"/><Relationship Id="rId4" Type="http://schemas.openxmlformats.org/officeDocument/2006/relationships/hyperlink" Target="https://mchcgr.sharepoint.com/sites/MCG-Site-E/Shared%20Documents/DEG&#33394;&#30456;&#24746;&#21270;&#23550;&#24540;/EO&#35506;/DEG&#33394;&#30456;&#24746;&#21270;&#23550;&#24540;_&#36939;&#36578;&#23455;&#32318;&#25972;&#29702;.pptx?web=1" TargetMode="External"/><Relationship Id="rId5" Type="http://schemas.openxmlformats.org/officeDocument/2006/relationships/hyperlink" Target="https://mchcgr.sharepoint.com/sites/MCG-Site-E/Shared%20Documents/DEG%E8%89%B2%E7%9B%B8%E6%82%AA%E5%8C%96%E5%AF%BE%E5%BF%9C/%E7%A4%BE%E5%86%85%E5%A0%B1%E5%91%8A/20260615_%E8%AA%BF%E6%9F%BB%E5%A0%B1%E5%91%8A%E6%9B%B8/%E8%A3%BD%E5%93%81DEG%E8%89%B2%E7%9B%B8%E6%A4%9C%E6%9F%BB%E8%A6%8F%E6%A0%BC%E8%B6%85%E9%81%8E%E3%81%AB%E9%96%A2%E3%81%99%E3%82%8B%E8%AA%BF%E6%9F%BB%E7%B5%90%E6%9E%9C.docx?web=1" TargetMode="External"/><Relationship Id="rId6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mchcgr.sharepoint.com/sites/MCG-Site-E/Shared%20Documents/DEG%E8%89%B2%E7%9B%B8%E6%82%AA%E5%8C%96%E5%AF%BE%E5%BF%9C/EO%E8%AA%B2/%E8%A3%BD%E5%93%81DEG%E9%80%81%E5%87%BA%E3%83%9D%E3%83%B3%E3%83%97(P-1507AB)%E5%90%B8%E5%85%A5%E3%82%B9%E3%83%88%E3%83%AC%E3%83%BC%E3%83%8A%E3%83%BC%E5%A4%89%E6%9B%B4/P-1507AB%E5%90%B8%E5%85%A5%E3%82%B9%E3%83%88%E3%83%AC%E3%83%BC%E3%83%8A%E3%83%BC%E3%83%A1%E3%83%83%E3%82%B7%E3%83%A5%E5%A4%89%E6%9B%B4.pptx?web=1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7.jpeg"/><Relationship Id="rId3" Type="http://schemas.openxmlformats.org/officeDocument/2006/relationships/image" Target="../media/image28.png"/><Relationship Id="rId4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5AAF5-F5DE-ABF4-7A3D-AF6972B42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DEG</a:t>
            </a:r>
            <a:r>
              <a:rPr kumimoji="1" lang="ja-JP" altLang="en-US"/>
              <a:t>色相対応 </a:t>
            </a:r>
            <a:r>
              <a:rPr kumimoji="1" lang="en-US" altLang="ja-JP"/>
              <a:t>S/U</a:t>
            </a:r>
            <a:r>
              <a:rPr kumimoji="1" lang="ja-JP" altLang="en-US"/>
              <a:t>前会議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066D5F-6A0F-D567-90FB-5D8D9CB37E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/>
              <a:t>2026/6/25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45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C297-8E3A-0A7A-1E2C-B4CD45DF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C179116-2E00-89FF-3B8E-16EC55087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5E6500-AB77-8677-FE68-33BCD9875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三菱ケミカル株式会社</a:t>
            </a: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86E5CA28-761E-3F7F-3D1F-3DF4A9D4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8" y="255588"/>
            <a:ext cx="9326562" cy="368300"/>
          </a:xfrm>
        </p:spPr>
        <p:txBody>
          <a:bodyPr/>
          <a:lstStyle/>
          <a:p>
            <a:r>
              <a:rPr lang="en-US" altLang="ja-JP">
                <a:solidFill>
                  <a:srgbClr val="000000"/>
                </a:solidFill>
                <a:latin typeface="游ゴシック"/>
                <a:cs typeface="游ゴシック"/>
              </a:rPr>
              <a:t>DEG</a:t>
            </a:r>
            <a:r>
              <a:rPr lang="ja-JP" altLang="en-US">
                <a:solidFill>
                  <a:srgbClr val="000000"/>
                </a:solidFill>
                <a:latin typeface="游ゴシック"/>
                <a:cs typeface="游ゴシック"/>
              </a:rPr>
              <a:t>色相悪化 発生事象</a:t>
            </a:r>
            <a:endParaRPr kumimoji="1" lang="ja-JP" altLang="en-US"/>
          </a:p>
        </p:txBody>
      </p:sp>
      <p:sp>
        <p:nvSpPr>
          <p:cNvPr id="4" name="TextBox 2"/>
          <p:cNvSpPr txBox="1"/>
          <p:nvPr/>
        </p:nvSpPr>
        <p:spPr>
          <a:xfrm>
            <a:off x="367446" y="956865"/>
            <a:ext cx="11457108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・冬定修後の再稼働（3月）以降、製品DEGがタンク保管中に色相（APHA）を経時上昇。</a:t>
            </a:r>
            <a:endParaRPr lang="en-US" sz="1500" b="0">
              <a:solidFill>
                <a:srgbClr val="222222"/>
              </a:solidFill>
              <a:latin typeface="游ゴシック"/>
              <a:ea typeface="游ゴシック"/>
              <a:cs typeface="游ゴシック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ja-JP" altLang="en-US" sz="150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</a:t>
            </a:r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約1か月半で検査規格を超過（APHA&lt;5 → 25〜35）。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・プラント出口（ストリーム品）は常に規格内（APHA&lt;5）。タンク（窒素封入）で保管中にのみ上昇する。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・大気接触（ドラム充填・SP転送）では色相が進まず、悪化したものも大気に触れると進行が止まる。</a:t>
            </a:r>
            <a:endParaRPr lang="en-US" sz="1500" b="0">
              <a:solidFill>
                <a:srgbClr val="222222"/>
              </a:solidFill>
              <a:latin typeface="游ゴシック"/>
              <a:ea typeface="游ゴシック"/>
              <a:cs typeface="游ゴシック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・色相・外観以外の品質規格（純度・MEG/TEG・水分・金属・蒸留性状）は実測で正常品の範囲内。</a:t>
            </a:r>
            <a:endParaRPr lang="ja-JP" altLang="en-US" sz="1500" b="0">
              <a:solidFill>
                <a:srgbClr val="222222"/>
              </a:solidFill>
              <a:latin typeface="游ゴシック"/>
              <a:ea typeface="游ゴシック"/>
              <a:cs typeface="游ゴシック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ja-JP" altLang="en-US" sz="150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</a:t>
            </a:r>
            <a:r>
              <a:rPr lang="en-US" altLang="ja-JP"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pH</a:t>
            </a:r>
            <a:r>
              <a:rPr lang="ja-JP" altLang="en-US"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のみ通常より僅かに高め（</a:t>
            </a:r>
            <a:r>
              <a:rPr lang="en-US" altLang="ja-JP"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+0.1〜0.2</a:t>
            </a:r>
            <a:r>
              <a:rPr lang="ja-JP" altLang="en-US"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程度）。</a:t>
            </a:r>
          </a:p>
        </p:txBody>
      </p:sp>
    </p:spTree>
    <p:extLst>
      <p:ext uri="{BB962C8B-B14F-4D97-AF65-F5344CB8AC3E}">
        <p14:creationId xmlns:p14="http://schemas.microsoft.com/office/powerpoint/2010/main" val="261903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3EE39A-2AC5-083F-CB9C-F228465C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APHA </a:t>
            </a:r>
            <a:r>
              <a:rPr lang="ja-JP" altLang="en-US"/>
              <a:t>（</a:t>
            </a:r>
            <a:r>
              <a:rPr lang="en-US" altLang="ja-JP"/>
              <a:t>450 nm</a:t>
            </a:r>
            <a:r>
              <a:rPr lang="ja-JP" altLang="en-US"/>
              <a:t>）上昇推定メカニズム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1321B6-DC97-1E52-46F8-2452E029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6" name="テキスト ボックス 4">
            <a:extLst>
              <a:ext uri="{FF2B5EF4-FFF2-40B4-BE49-F238E27FC236}">
                <a16:creationId xmlns:a16="http://schemas.microsoft.com/office/drawing/2014/main" id="{9AF5A57B-CB8D-CBD4-AEB3-45F4A839A790}"/>
              </a:ext>
            </a:extLst>
          </p:cNvPr>
          <p:cNvSpPr txBox="1"/>
          <p:nvPr/>
        </p:nvSpPr>
        <p:spPr>
          <a:xfrm>
            <a:off x="845204" y="5370584"/>
            <a:ext cx="8040984" cy="1477328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酸化エチレン反応器選択制低下による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アルデヒド、有機酸の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上昇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その後の反応・精製工程によるアルデヒドによる縮合反応が進行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アルデヒドの縮合反応によりポリエナールが副生（この時点で分子量 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150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程度）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保管中にさらに共役伸長反応が進行し分子量が 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300 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前後まで上昇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UV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が長波長側にシフトし可視光領域の 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APHA 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も上昇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4BECF57E-523C-691C-329E-0555D4839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792107"/>
              </p:ext>
            </p:extLst>
          </p:nvPr>
        </p:nvGraphicFramePr>
        <p:xfrm>
          <a:off x="546137" y="2762083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4BECF57E-523C-691C-329E-0555D48390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6137" y="2762083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43EE0A61-8DC6-2F9F-5BC4-B2C7484BD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11926"/>
              </p:ext>
            </p:extLst>
          </p:nvPr>
        </p:nvGraphicFramePr>
        <p:xfrm>
          <a:off x="1155781" y="2947298"/>
          <a:ext cx="373063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4" imgW="372922" imgH="108298" progId="ChemDraw_x64.Document.6.0">
                  <p:embed/>
                </p:oleObj>
              </mc:Choice>
              <mc:Fallback>
                <p:oleObj name="CS ChemDraw 64-bit Drawing" r:id="rId4" imgW="372922" imgH="108298" progId="ChemDraw_x64.Document.6.0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43EE0A61-8DC6-2F9F-5BC4-B2C7484BD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5781" y="2947298"/>
                        <a:ext cx="373063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07513378-8166-14AC-D898-CA3862824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631198"/>
              </p:ext>
            </p:extLst>
          </p:nvPr>
        </p:nvGraphicFramePr>
        <p:xfrm>
          <a:off x="1739210" y="2762082"/>
          <a:ext cx="7254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725381" imgH="426550" progId="ChemDraw_x64.Document.6.0">
                  <p:embed/>
                </p:oleObj>
              </mc:Choice>
              <mc:Fallback>
                <p:oleObj name="CS ChemDraw 64-bit Drawing" r:id="rId6" imgW="725381" imgH="426550" progId="ChemDraw_x64.Document.6.0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07513378-8166-14AC-D898-CA3862824B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39210" y="2762082"/>
                        <a:ext cx="7254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46FA5918-D49B-7798-EAD3-949F2AF5E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385967"/>
              </p:ext>
            </p:extLst>
          </p:nvPr>
        </p:nvGraphicFramePr>
        <p:xfrm>
          <a:off x="1142673" y="2439866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46FA5918-D49B-7798-EAD3-949F2AF5E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2673" y="2439866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7B61A12F-3DC4-24BF-43AF-1661A4F9AB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091381"/>
              </p:ext>
            </p:extLst>
          </p:nvPr>
        </p:nvGraphicFramePr>
        <p:xfrm>
          <a:off x="2675063" y="2947298"/>
          <a:ext cx="373063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4" imgW="372922" imgH="108298" progId="ChemDraw_x64.Document.6.0">
                  <p:embed/>
                </p:oleObj>
              </mc:Choice>
              <mc:Fallback>
                <p:oleObj name="CS ChemDraw 64-bit Drawing" r:id="rId4" imgW="372922" imgH="108298" progId="ChemDraw_x64.Document.6.0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7B61A12F-3DC4-24BF-43AF-1661A4F9AB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5063" y="2947298"/>
                        <a:ext cx="373063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オブジェクト 11">
            <a:extLst>
              <a:ext uri="{FF2B5EF4-FFF2-40B4-BE49-F238E27FC236}">
                <a16:creationId xmlns:a16="http://schemas.microsoft.com/office/drawing/2014/main" id="{78E067F6-098C-7830-C6C2-9601AD9E4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698106"/>
              </p:ext>
            </p:extLst>
          </p:nvPr>
        </p:nvGraphicFramePr>
        <p:xfrm>
          <a:off x="2675063" y="2666832"/>
          <a:ext cx="330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8" imgW="330974" imgH="190543" progId="ChemDraw_x64.Document.6.0">
                  <p:embed/>
                </p:oleObj>
              </mc:Choice>
              <mc:Fallback>
                <p:oleObj name="CS ChemDraw 64-bit Drawing" r:id="rId8" imgW="330974" imgH="190543" progId="ChemDraw_x64.Document.6.0">
                  <p:embed/>
                  <p:pic>
                    <p:nvPicPr>
                      <p:cNvPr id="12" name="オブジェクト 11">
                        <a:extLst>
                          <a:ext uri="{FF2B5EF4-FFF2-40B4-BE49-F238E27FC236}">
                            <a16:creationId xmlns:a16="http://schemas.microsoft.com/office/drawing/2014/main" id="{78E067F6-098C-7830-C6C2-9601AD9E4A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5063" y="2666832"/>
                        <a:ext cx="330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80AFEB50-DAEF-DCD4-4ABE-3115A6006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972713"/>
              </p:ext>
            </p:extLst>
          </p:nvPr>
        </p:nvGraphicFramePr>
        <p:xfrm>
          <a:off x="3258492" y="2733779"/>
          <a:ext cx="7254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0" imgW="725381" imgH="426550" progId="ChemDraw_x64.Document.6.0">
                  <p:embed/>
                </p:oleObj>
              </mc:Choice>
              <mc:Fallback>
                <p:oleObj name="CS ChemDraw 64-bit Drawing" r:id="rId10" imgW="725381" imgH="426550" progId="ChemDraw_x64.Document.6.0">
                  <p:embed/>
                  <p:pic>
                    <p:nvPicPr>
                      <p:cNvPr id="13" name="オブジェクト 12">
                        <a:extLst>
                          <a:ext uri="{FF2B5EF4-FFF2-40B4-BE49-F238E27FC236}">
                            <a16:creationId xmlns:a16="http://schemas.microsoft.com/office/drawing/2014/main" id="{80AFEB50-DAEF-DCD4-4ABE-3115A60063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58492" y="2733779"/>
                        <a:ext cx="7254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>
            <a:extLst>
              <a:ext uri="{FF2B5EF4-FFF2-40B4-BE49-F238E27FC236}">
                <a16:creationId xmlns:a16="http://schemas.microsoft.com/office/drawing/2014/main" id="{67828879-ED7D-D945-D84C-372267278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106089"/>
              </p:ext>
            </p:extLst>
          </p:nvPr>
        </p:nvGraphicFramePr>
        <p:xfrm>
          <a:off x="4194345" y="2866903"/>
          <a:ext cx="325437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2" imgW="325859" imgH="85310" progId="ChemDraw_x64.Document.6.0">
                  <p:embed/>
                </p:oleObj>
              </mc:Choice>
              <mc:Fallback>
                <p:oleObj name="CS ChemDraw 64-bit Drawing" r:id="rId12" imgW="325859" imgH="85310" progId="ChemDraw_x64.Document.6.0">
                  <p:embed/>
                  <p:pic>
                    <p:nvPicPr>
                      <p:cNvPr id="14" name="オブジェクト 13">
                        <a:extLst>
                          <a:ext uri="{FF2B5EF4-FFF2-40B4-BE49-F238E27FC236}">
                            <a16:creationId xmlns:a16="http://schemas.microsoft.com/office/drawing/2014/main" id="{67828879-ED7D-D945-D84C-3722672785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94345" y="2866903"/>
                        <a:ext cx="325437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オブジェクト 14">
            <a:extLst>
              <a:ext uri="{FF2B5EF4-FFF2-40B4-BE49-F238E27FC236}">
                <a16:creationId xmlns:a16="http://schemas.microsoft.com/office/drawing/2014/main" id="{F5DCF27E-F6A8-E619-C446-462B6F9CF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241747"/>
              </p:ext>
            </p:extLst>
          </p:nvPr>
        </p:nvGraphicFramePr>
        <p:xfrm>
          <a:off x="4194345" y="2952628"/>
          <a:ext cx="460375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4" imgW="459886" imgH="85310" progId="ChemDraw_x64.Document.6.0">
                  <p:embed/>
                </p:oleObj>
              </mc:Choice>
              <mc:Fallback>
                <p:oleObj name="CS ChemDraw 64-bit Drawing" r:id="rId14" imgW="459886" imgH="85310" progId="ChemDraw_x64.Document.6.0">
                  <p:embed/>
                  <p:pic>
                    <p:nvPicPr>
                      <p:cNvPr id="15" name="オブジェクト 14">
                        <a:extLst>
                          <a:ext uri="{FF2B5EF4-FFF2-40B4-BE49-F238E27FC236}">
                            <a16:creationId xmlns:a16="http://schemas.microsoft.com/office/drawing/2014/main" id="{F5DCF27E-F6A8-E619-C446-462B6F9CF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94345" y="2952628"/>
                        <a:ext cx="460375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オブジェクト 15">
            <a:extLst>
              <a:ext uri="{FF2B5EF4-FFF2-40B4-BE49-F238E27FC236}">
                <a16:creationId xmlns:a16="http://schemas.microsoft.com/office/drawing/2014/main" id="{C990AAC1-DA4C-7042-CB7A-095EBA25F8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8841"/>
              </p:ext>
            </p:extLst>
          </p:nvPr>
        </p:nvGraphicFramePr>
        <p:xfrm>
          <a:off x="4194345" y="3038353"/>
          <a:ext cx="571500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6" imgW="571404" imgH="85310" progId="ChemDraw_x64.Document.6.0">
                  <p:embed/>
                </p:oleObj>
              </mc:Choice>
              <mc:Fallback>
                <p:oleObj name="CS ChemDraw 64-bit Drawing" r:id="rId16" imgW="571404" imgH="85310" progId="ChemDraw_x64.Document.6.0">
                  <p:embed/>
                  <p:pic>
                    <p:nvPicPr>
                      <p:cNvPr id="16" name="オブジェクト 15">
                        <a:extLst>
                          <a:ext uri="{FF2B5EF4-FFF2-40B4-BE49-F238E27FC236}">
                            <a16:creationId xmlns:a16="http://schemas.microsoft.com/office/drawing/2014/main" id="{C990AAC1-DA4C-7042-CB7A-095EBA25F8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194345" y="3038353"/>
                        <a:ext cx="571500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オブジェクト 16">
            <a:extLst>
              <a:ext uri="{FF2B5EF4-FFF2-40B4-BE49-F238E27FC236}">
                <a16:creationId xmlns:a16="http://schemas.microsoft.com/office/drawing/2014/main" id="{696EA96A-BA85-DB4D-04AD-C5A82D7D0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661286"/>
              </p:ext>
            </p:extLst>
          </p:nvPr>
        </p:nvGraphicFramePr>
        <p:xfrm>
          <a:off x="4194345" y="2439866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17" name="オブジェクト 16">
                        <a:extLst>
                          <a:ext uri="{FF2B5EF4-FFF2-40B4-BE49-F238E27FC236}">
                            <a16:creationId xmlns:a16="http://schemas.microsoft.com/office/drawing/2014/main" id="{696EA96A-BA85-DB4D-04AD-C5A82D7D03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4345" y="2439866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オブジェクト 17">
            <a:extLst>
              <a:ext uri="{FF2B5EF4-FFF2-40B4-BE49-F238E27FC236}">
                <a16:creationId xmlns:a16="http://schemas.microsoft.com/office/drawing/2014/main" id="{A9AC8815-591D-85F6-30EB-6B6BAD418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012073"/>
              </p:ext>
            </p:extLst>
          </p:nvPr>
        </p:nvGraphicFramePr>
        <p:xfrm>
          <a:off x="5108382" y="2680631"/>
          <a:ext cx="8937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8" imgW="893171" imgH="451070" progId="ChemDraw_x64.Document.6.0">
                  <p:embed/>
                </p:oleObj>
              </mc:Choice>
              <mc:Fallback>
                <p:oleObj name="CS ChemDraw 64-bit Drawing" r:id="rId18" imgW="893171" imgH="451070" progId="ChemDraw_x64.Document.6.0">
                  <p:embed/>
                  <p:pic>
                    <p:nvPicPr>
                      <p:cNvPr id="18" name="オブジェクト 17">
                        <a:extLst>
                          <a:ext uri="{FF2B5EF4-FFF2-40B4-BE49-F238E27FC236}">
                            <a16:creationId xmlns:a16="http://schemas.microsoft.com/office/drawing/2014/main" id="{A9AC8815-591D-85F6-30EB-6B6BAD418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08382" y="2680631"/>
                        <a:ext cx="893763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オブジェクト 18">
            <a:extLst>
              <a:ext uri="{FF2B5EF4-FFF2-40B4-BE49-F238E27FC236}">
                <a16:creationId xmlns:a16="http://schemas.microsoft.com/office/drawing/2014/main" id="{466C908A-F0B0-3654-5C5A-47E86080B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769268"/>
              </p:ext>
            </p:extLst>
          </p:nvPr>
        </p:nvGraphicFramePr>
        <p:xfrm>
          <a:off x="544550" y="1789599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19" name="オブジェクト 18">
                        <a:extLst>
                          <a:ext uri="{FF2B5EF4-FFF2-40B4-BE49-F238E27FC236}">
                            <a16:creationId xmlns:a16="http://schemas.microsoft.com/office/drawing/2014/main" id="{466C908A-F0B0-3654-5C5A-47E86080B4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4550" y="1789599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オブジェクト 19">
            <a:extLst>
              <a:ext uri="{FF2B5EF4-FFF2-40B4-BE49-F238E27FC236}">
                <a16:creationId xmlns:a16="http://schemas.microsoft.com/office/drawing/2014/main" id="{1E8DE5FE-36E3-C0C4-7E2A-1DB17B993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345692"/>
              </p:ext>
            </p:extLst>
          </p:nvPr>
        </p:nvGraphicFramePr>
        <p:xfrm>
          <a:off x="1154194" y="1974814"/>
          <a:ext cx="373063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4" imgW="372922" imgH="108298" progId="ChemDraw_x64.Document.6.0">
                  <p:embed/>
                </p:oleObj>
              </mc:Choice>
              <mc:Fallback>
                <p:oleObj name="CS ChemDraw 64-bit Drawing" r:id="rId4" imgW="372922" imgH="108298" progId="ChemDraw_x64.Document.6.0">
                  <p:embed/>
                  <p:pic>
                    <p:nvPicPr>
                      <p:cNvPr id="20" name="オブジェクト 19">
                        <a:extLst>
                          <a:ext uri="{FF2B5EF4-FFF2-40B4-BE49-F238E27FC236}">
                            <a16:creationId xmlns:a16="http://schemas.microsoft.com/office/drawing/2014/main" id="{1E8DE5FE-36E3-C0C4-7E2A-1DB17B993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4194" y="1974814"/>
                        <a:ext cx="373063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オブジェクト 20">
            <a:extLst>
              <a:ext uri="{FF2B5EF4-FFF2-40B4-BE49-F238E27FC236}">
                <a16:creationId xmlns:a16="http://schemas.microsoft.com/office/drawing/2014/main" id="{DCEB7C37-6516-E937-2D1E-3563358F0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583017"/>
              </p:ext>
            </p:extLst>
          </p:nvPr>
        </p:nvGraphicFramePr>
        <p:xfrm>
          <a:off x="1737623" y="1789598"/>
          <a:ext cx="7254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725381" imgH="426550" progId="ChemDraw_x64.Document.6.0">
                  <p:embed/>
                </p:oleObj>
              </mc:Choice>
              <mc:Fallback>
                <p:oleObj name="CS ChemDraw 64-bit Drawing" r:id="rId6" imgW="725381" imgH="426550" progId="ChemDraw_x64.Document.6.0">
                  <p:embed/>
                  <p:pic>
                    <p:nvPicPr>
                      <p:cNvPr id="21" name="オブジェクト 20">
                        <a:extLst>
                          <a:ext uri="{FF2B5EF4-FFF2-40B4-BE49-F238E27FC236}">
                            <a16:creationId xmlns:a16="http://schemas.microsoft.com/office/drawing/2014/main" id="{DCEB7C37-6516-E937-2D1E-3563358F08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37623" y="1789598"/>
                        <a:ext cx="7254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オブジェクト 21">
            <a:extLst>
              <a:ext uri="{FF2B5EF4-FFF2-40B4-BE49-F238E27FC236}">
                <a16:creationId xmlns:a16="http://schemas.microsoft.com/office/drawing/2014/main" id="{EAF2BF83-956B-301D-F882-F7E439DB0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9839"/>
              </p:ext>
            </p:extLst>
          </p:nvPr>
        </p:nvGraphicFramePr>
        <p:xfrm>
          <a:off x="1141086" y="1467382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22" name="オブジェクト 21">
                        <a:extLst>
                          <a:ext uri="{FF2B5EF4-FFF2-40B4-BE49-F238E27FC236}">
                            <a16:creationId xmlns:a16="http://schemas.microsoft.com/office/drawing/2014/main" id="{EAF2BF83-956B-301D-F882-F7E439DB0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1086" y="1467382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オブジェクト 22">
            <a:extLst>
              <a:ext uri="{FF2B5EF4-FFF2-40B4-BE49-F238E27FC236}">
                <a16:creationId xmlns:a16="http://schemas.microsoft.com/office/drawing/2014/main" id="{BBD4F50B-F02C-8090-6EB0-C2A9AFB02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235544"/>
              </p:ext>
            </p:extLst>
          </p:nvPr>
        </p:nvGraphicFramePr>
        <p:xfrm>
          <a:off x="3411710" y="1749389"/>
          <a:ext cx="8937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0" imgW="893171" imgH="451070" progId="ChemDraw_x64.Document.6.0">
                  <p:embed/>
                </p:oleObj>
              </mc:Choice>
              <mc:Fallback>
                <p:oleObj name="CS ChemDraw 64-bit Drawing" r:id="rId20" imgW="893171" imgH="451070" progId="ChemDraw_x64.Document.6.0">
                  <p:embed/>
                  <p:pic>
                    <p:nvPicPr>
                      <p:cNvPr id="23" name="オブジェクト 22">
                        <a:extLst>
                          <a:ext uri="{FF2B5EF4-FFF2-40B4-BE49-F238E27FC236}">
                            <a16:creationId xmlns:a16="http://schemas.microsoft.com/office/drawing/2014/main" id="{BBD4F50B-F02C-8090-6EB0-C2A9AFB024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11710" y="1749389"/>
                        <a:ext cx="893763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オブジェクト 23">
            <a:extLst>
              <a:ext uri="{FF2B5EF4-FFF2-40B4-BE49-F238E27FC236}">
                <a16:creationId xmlns:a16="http://schemas.microsoft.com/office/drawing/2014/main" id="{E7803DEE-B2D0-AAF2-D5AF-8A97846DA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742511"/>
              </p:ext>
            </p:extLst>
          </p:nvPr>
        </p:nvGraphicFramePr>
        <p:xfrm>
          <a:off x="2651660" y="1887478"/>
          <a:ext cx="325437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2" imgW="325859" imgH="85310" progId="ChemDraw_x64.Document.6.0">
                  <p:embed/>
                </p:oleObj>
              </mc:Choice>
              <mc:Fallback>
                <p:oleObj name="CS ChemDraw 64-bit Drawing" r:id="rId12" imgW="325859" imgH="85310" progId="ChemDraw_x64.Document.6.0">
                  <p:embed/>
                  <p:pic>
                    <p:nvPicPr>
                      <p:cNvPr id="24" name="オブジェクト 23">
                        <a:extLst>
                          <a:ext uri="{FF2B5EF4-FFF2-40B4-BE49-F238E27FC236}">
                            <a16:creationId xmlns:a16="http://schemas.microsoft.com/office/drawing/2014/main" id="{E7803DEE-B2D0-AAF2-D5AF-8A97846DA3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51660" y="1887478"/>
                        <a:ext cx="325437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74217F29-83EB-CFF8-C7D6-B4F07BE1F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968255"/>
              </p:ext>
            </p:extLst>
          </p:nvPr>
        </p:nvGraphicFramePr>
        <p:xfrm>
          <a:off x="2651660" y="1973203"/>
          <a:ext cx="460375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4" imgW="459886" imgH="85310" progId="ChemDraw_x64.Document.6.0">
                  <p:embed/>
                </p:oleObj>
              </mc:Choice>
              <mc:Fallback>
                <p:oleObj name="CS ChemDraw 64-bit Drawing" r:id="rId14" imgW="459886" imgH="85310" progId="ChemDraw_x64.Document.6.0">
                  <p:embed/>
                  <p:pic>
                    <p:nvPicPr>
                      <p:cNvPr id="25" name="オブジェクト 24">
                        <a:extLst>
                          <a:ext uri="{FF2B5EF4-FFF2-40B4-BE49-F238E27FC236}">
                            <a16:creationId xmlns:a16="http://schemas.microsoft.com/office/drawing/2014/main" id="{74217F29-83EB-CFF8-C7D6-B4F07BE1F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51660" y="1973203"/>
                        <a:ext cx="460375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オブジェクト 25">
            <a:extLst>
              <a:ext uri="{FF2B5EF4-FFF2-40B4-BE49-F238E27FC236}">
                <a16:creationId xmlns:a16="http://schemas.microsoft.com/office/drawing/2014/main" id="{FA92C2E6-39BD-966E-7731-987192DA3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057382"/>
              </p:ext>
            </p:extLst>
          </p:nvPr>
        </p:nvGraphicFramePr>
        <p:xfrm>
          <a:off x="2651660" y="2058928"/>
          <a:ext cx="571500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6" imgW="571404" imgH="85310" progId="ChemDraw_x64.Document.6.0">
                  <p:embed/>
                </p:oleObj>
              </mc:Choice>
              <mc:Fallback>
                <p:oleObj name="CS ChemDraw 64-bit Drawing" r:id="rId16" imgW="571404" imgH="85310" progId="ChemDraw_x64.Document.6.0">
                  <p:embed/>
                  <p:pic>
                    <p:nvPicPr>
                      <p:cNvPr id="26" name="オブジェクト 25">
                        <a:extLst>
                          <a:ext uri="{FF2B5EF4-FFF2-40B4-BE49-F238E27FC236}">
                            <a16:creationId xmlns:a16="http://schemas.microsoft.com/office/drawing/2014/main" id="{FA92C2E6-39BD-966E-7731-987192DA3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51660" y="2058928"/>
                        <a:ext cx="571500" cy="8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オブジェクト 26">
            <a:extLst>
              <a:ext uri="{FF2B5EF4-FFF2-40B4-BE49-F238E27FC236}">
                <a16:creationId xmlns:a16="http://schemas.microsoft.com/office/drawing/2014/main" id="{9D9D469D-31AC-D2C9-D30E-30892F5D8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10765"/>
              </p:ext>
            </p:extLst>
          </p:nvPr>
        </p:nvGraphicFramePr>
        <p:xfrm>
          <a:off x="2656013" y="1467382"/>
          <a:ext cx="4079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408730" imgH="426550" progId="ChemDraw_x64.Document.6.0">
                  <p:embed/>
                </p:oleObj>
              </mc:Choice>
              <mc:Fallback>
                <p:oleObj name="CS ChemDraw 64-bit Drawing" r:id="rId2" imgW="408730" imgH="426550" progId="ChemDraw_x64.Document.6.0">
                  <p:embed/>
                  <p:pic>
                    <p:nvPicPr>
                      <p:cNvPr id="27" name="オブジェクト 26">
                        <a:extLst>
                          <a:ext uri="{FF2B5EF4-FFF2-40B4-BE49-F238E27FC236}">
                            <a16:creationId xmlns:a16="http://schemas.microsoft.com/office/drawing/2014/main" id="{9D9D469D-31AC-D2C9-D30E-30892F5D8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6013" y="1467382"/>
                        <a:ext cx="407987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オブジェクト 27">
            <a:extLst>
              <a:ext uri="{FF2B5EF4-FFF2-40B4-BE49-F238E27FC236}">
                <a16:creationId xmlns:a16="http://schemas.microsoft.com/office/drawing/2014/main" id="{723D5A1C-E046-8997-8114-9A936CFF7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541910"/>
              </p:ext>
            </p:extLst>
          </p:nvPr>
        </p:nvGraphicFramePr>
        <p:xfrm>
          <a:off x="7246017" y="2568271"/>
          <a:ext cx="4571211" cy="598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2" imgW="3259612" imgH="426550" progId="ChemDraw_x64.Document.6.0">
                  <p:embed/>
                </p:oleObj>
              </mc:Choice>
              <mc:Fallback>
                <p:oleObj name="CS ChemDraw 64-bit Drawing" r:id="rId22" imgW="3259612" imgH="426550" progId="ChemDraw_x64.Document.6.0">
                  <p:embed/>
                  <p:pic>
                    <p:nvPicPr>
                      <p:cNvPr id="28" name="オブジェクト 27">
                        <a:extLst>
                          <a:ext uri="{FF2B5EF4-FFF2-40B4-BE49-F238E27FC236}">
                            <a16:creationId xmlns:a16="http://schemas.microsoft.com/office/drawing/2014/main" id="{723D5A1C-E046-8997-8114-9A936CFF7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46017" y="2568271"/>
                        <a:ext cx="4571211" cy="598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AF0231B-3370-236F-3817-3560B6CB87DB}"/>
              </a:ext>
            </a:extLst>
          </p:cNvPr>
          <p:cNvSpPr txBox="1"/>
          <p:nvPr/>
        </p:nvSpPr>
        <p:spPr>
          <a:xfrm>
            <a:off x="5528316" y="2183431"/>
            <a:ext cx="1087480" cy="349702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spAutoFit/>
          </a:bodyPr>
          <a:lstStyle/>
          <a:p>
            <a:pPr algn="l"/>
            <a:r>
              <a:rPr kumimoji="1" lang="en-US" altLang="ja-JP"/>
              <a:t>n = 3,4</a:t>
            </a:r>
            <a:endParaRPr kumimoji="1" lang="ja-JP" altLang="en-US"/>
          </a:p>
        </p:txBody>
      </p:sp>
      <p:graphicFrame>
        <p:nvGraphicFramePr>
          <p:cNvPr id="30" name="オブジェクト 29">
            <a:extLst>
              <a:ext uri="{FF2B5EF4-FFF2-40B4-BE49-F238E27FC236}">
                <a16:creationId xmlns:a16="http://schemas.microsoft.com/office/drawing/2014/main" id="{5D098203-20C0-FE2A-7719-7D76C6386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0021"/>
              </p:ext>
            </p:extLst>
          </p:nvPr>
        </p:nvGraphicFramePr>
        <p:xfrm>
          <a:off x="4435645" y="1653519"/>
          <a:ext cx="330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8" imgW="330974" imgH="190543" progId="ChemDraw_x64.Document.6.0">
                  <p:embed/>
                </p:oleObj>
              </mc:Choice>
              <mc:Fallback>
                <p:oleObj name="CS ChemDraw 64-bit Drawing" r:id="rId8" imgW="330974" imgH="190543" progId="ChemDraw_x64.Document.6.0">
                  <p:embed/>
                  <p:pic>
                    <p:nvPicPr>
                      <p:cNvPr id="30" name="オブジェクト 29">
                        <a:extLst>
                          <a:ext uri="{FF2B5EF4-FFF2-40B4-BE49-F238E27FC236}">
                            <a16:creationId xmlns:a16="http://schemas.microsoft.com/office/drawing/2014/main" id="{5D098203-20C0-FE2A-7719-7D76C6386A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35645" y="1653519"/>
                        <a:ext cx="330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F18C635-B967-9C7A-1D4B-28428CC8F824}"/>
              </a:ext>
            </a:extLst>
          </p:cNvPr>
          <p:cNvCxnSpPr>
            <a:cxnSpLocks/>
          </p:cNvCxnSpPr>
          <p:nvPr/>
        </p:nvCxnSpPr>
        <p:spPr>
          <a:xfrm>
            <a:off x="4435645" y="2016065"/>
            <a:ext cx="96625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0F00AF4-BEE7-A490-189D-BDF411E35739}"/>
              </a:ext>
            </a:extLst>
          </p:cNvPr>
          <p:cNvCxnSpPr>
            <a:cxnSpLocks/>
          </p:cNvCxnSpPr>
          <p:nvPr/>
        </p:nvCxnSpPr>
        <p:spPr>
          <a:xfrm>
            <a:off x="5401898" y="2008996"/>
            <a:ext cx="0" cy="430870"/>
          </a:xfrm>
          <a:prstGeom prst="line">
            <a:avLst/>
          </a:prstGeom>
          <a:ln w="635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0F896EC-2725-11E4-0432-35FC45666F6D}"/>
              </a:ext>
            </a:extLst>
          </p:cNvPr>
          <p:cNvSpPr/>
          <p:nvPr/>
        </p:nvSpPr>
        <p:spPr>
          <a:xfrm>
            <a:off x="4812698" y="2568271"/>
            <a:ext cx="1370867" cy="745684"/>
          </a:xfrm>
          <a:prstGeom prst="round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B9E9A8B-C9E3-CB24-A539-5838B3DBF90C}"/>
              </a:ext>
            </a:extLst>
          </p:cNvPr>
          <p:cNvSpPr txBox="1"/>
          <p:nvPr/>
        </p:nvSpPr>
        <p:spPr>
          <a:xfrm>
            <a:off x="342730" y="2353837"/>
            <a:ext cx="740908" cy="307777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 algn="l"/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A-ALD</a:t>
            </a:r>
            <a:endParaRPr kumimoji="1" lang="ja-JP" altLang="en-US" sz="1400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222E71F-DDBE-4124-D98B-08410F854C78}"/>
              </a:ext>
            </a:extLst>
          </p:cNvPr>
          <p:cNvSpPr txBox="1"/>
          <p:nvPr/>
        </p:nvSpPr>
        <p:spPr>
          <a:xfrm>
            <a:off x="8156711" y="1874262"/>
            <a:ext cx="357181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ja-JP"/>
              <a:t>A-ALD </a:t>
            </a:r>
            <a:r>
              <a:rPr lang="ja-JP" altLang="en-US"/>
              <a:t>からの長鎖ポリエナール</a:t>
            </a:r>
            <a:endParaRPr lang="en-US" altLang="ja-JP"/>
          </a:p>
          <a:p>
            <a:r>
              <a:rPr lang="en-US" altLang="ja-JP"/>
              <a:t>450 nm </a:t>
            </a:r>
            <a:r>
              <a:rPr lang="ja-JP" altLang="en-US"/>
              <a:t>増、その後上昇止まる</a:t>
            </a:r>
            <a:endParaRPr lang="en-US" altLang="ja-JP"/>
          </a:p>
          <a:p>
            <a:r>
              <a:rPr lang="ja-JP" altLang="en-US"/>
              <a:t>前段で発生したエノラート分のみ上昇</a:t>
            </a:r>
            <a:endParaRPr lang="en-US" altLang="ja-JP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CCF6B43-8380-3A0A-284F-77E3A79F0AA5}"/>
              </a:ext>
            </a:extLst>
          </p:cNvPr>
          <p:cNvSpPr txBox="1"/>
          <p:nvPr/>
        </p:nvSpPr>
        <p:spPr>
          <a:xfrm>
            <a:off x="6258565" y="2509340"/>
            <a:ext cx="6719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/>
              <a:t>タンク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AA5C88B-E487-B255-3803-299844FBDA54}"/>
              </a:ext>
            </a:extLst>
          </p:cNvPr>
          <p:cNvCxnSpPr/>
          <p:nvPr/>
        </p:nvCxnSpPr>
        <p:spPr>
          <a:xfrm>
            <a:off x="6289964" y="2906056"/>
            <a:ext cx="80356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72BC3B0E-DDD7-B80E-A648-3910F488C4DB}"/>
              </a:ext>
            </a:extLst>
          </p:cNvPr>
          <p:cNvCxnSpPr>
            <a:cxnSpLocks/>
          </p:cNvCxnSpPr>
          <p:nvPr/>
        </p:nvCxnSpPr>
        <p:spPr>
          <a:xfrm>
            <a:off x="5108382" y="3320101"/>
            <a:ext cx="0" cy="83634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オブジェクト 38">
            <a:extLst>
              <a:ext uri="{FF2B5EF4-FFF2-40B4-BE49-F238E27FC236}">
                <a16:creationId xmlns:a16="http://schemas.microsoft.com/office/drawing/2014/main" id="{FA499FEE-61C7-250D-5E1A-6FE8965822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812438"/>
              </p:ext>
            </p:extLst>
          </p:nvPr>
        </p:nvGraphicFramePr>
        <p:xfrm>
          <a:off x="4172831" y="3984583"/>
          <a:ext cx="8937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8" imgW="893171" imgH="451070" progId="ChemDraw_x64.Document.6.0">
                  <p:embed/>
                </p:oleObj>
              </mc:Choice>
              <mc:Fallback>
                <p:oleObj name="CS ChemDraw 64-bit Drawing" r:id="rId18" imgW="893171" imgH="451070" progId="ChemDraw_x64.Document.6.0">
                  <p:embed/>
                  <p:pic>
                    <p:nvPicPr>
                      <p:cNvPr id="39" name="オブジェクト 38">
                        <a:extLst>
                          <a:ext uri="{FF2B5EF4-FFF2-40B4-BE49-F238E27FC236}">
                            <a16:creationId xmlns:a16="http://schemas.microsoft.com/office/drawing/2014/main" id="{FA499FEE-61C7-250D-5E1A-6FE8965822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72831" y="3984583"/>
                        <a:ext cx="893763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B15C193-EC63-1D74-52E1-A51B15318F46}"/>
              </a:ext>
            </a:extLst>
          </p:cNvPr>
          <p:cNvSpPr txBox="1"/>
          <p:nvPr/>
        </p:nvSpPr>
        <p:spPr>
          <a:xfrm>
            <a:off x="4494778" y="3442901"/>
            <a:ext cx="628698" cy="369332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 algn="l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H</a:t>
            </a:r>
            <a:r>
              <a:rPr kumimoji="1" lang="en-US" altLang="ja-JP" baseline="-2500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O</a:t>
            </a:r>
            <a:endParaRPr kumimoji="1" lang="ja-JP" altLang="en-US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D491C7CD-4CDA-C63B-5626-B5CB22F641BA}"/>
              </a:ext>
            </a:extLst>
          </p:cNvPr>
          <p:cNvCxnSpPr>
            <a:cxnSpLocks/>
          </p:cNvCxnSpPr>
          <p:nvPr/>
        </p:nvCxnSpPr>
        <p:spPr>
          <a:xfrm>
            <a:off x="5819581" y="3313955"/>
            <a:ext cx="0" cy="83634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0B3046B-0694-1D31-B242-234E56CF82FD}"/>
              </a:ext>
            </a:extLst>
          </p:cNvPr>
          <p:cNvSpPr txBox="1"/>
          <p:nvPr/>
        </p:nvSpPr>
        <p:spPr>
          <a:xfrm>
            <a:off x="5867412" y="3338252"/>
            <a:ext cx="1366080" cy="6463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 algn="l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ドラム缶、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SP</a:t>
            </a:r>
          </a:p>
          <a:p>
            <a:pPr algn="l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O</a:t>
            </a:r>
            <a:r>
              <a:rPr kumimoji="1" lang="en-US" altLang="ja-JP" baseline="-2500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01F00BF-B921-7C0B-3AAB-6C49915153F6}"/>
              </a:ext>
            </a:extLst>
          </p:cNvPr>
          <p:cNvSpPr txBox="1"/>
          <p:nvPr/>
        </p:nvSpPr>
        <p:spPr>
          <a:xfrm>
            <a:off x="5593707" y="4174594"/>
            <a:ext cx="241765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/>
              <a:t>酸化物（有機酸）</a:t>
            </a:r>
            <a:endParaRPr lang="en-US" altLang="ja-JP"/>
          </a:p>
          <a:p>
            <a:r>
              <a:rPr lang="ja-JP" altLang="en-US"/>
              <a:t>工業的には酸素があると</a:t>
            </a:r>
            <a:endParaRPr lang="en-US" altLang="ja-JP"/>
          </a:p>
          <a:p>
            <a:r>
              <a:rPr lang="ja-JP" altLang="en-US"/>
              <a:t>アルドールは抑制される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FD4A88D-EEAE-59B4-1A4F-9FB78499ABF3}"/>
              </a:ext>
            </a:extLst>
          </p:cNvPr>
          <p:cNvSpPr txBox="1"/>
          <p:nvPr/>
        </p:nvSpPr>
        <p:spPr>
          <a:xfrm>
            <a:off x="5474238" y="1956440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/>
              <a:t>短波長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971B421-8157-4699-3858-30AD58983242}"/>
              </a:ext>
            </a:extLst>
          </p:cNvPr>
          <p:cNvSpPr txBox="1"/>
          <p:nvPr/>
        </p:nvSpPr>
        <p:spPr>
          <a:xfrm>
            <a:off x="4194345" y="5006071"/>
            <a:ext cx="1087480" cy="349702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spAutoFit/>
          </a:bodyPr>
          <a:lstStyle/>
          <a:p>
            <a:pPr algn="l"/>
            <a:r>
              <a:rPr kumimoji="1" lang="en-US" altLang="ja-JP"/>
              <a:t>n = 3,4</a:t>
            </a:r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02EC4AD-3DF5-7128-B16A-C3911FD0F30B}"/>
              </a:ext>
            </a:extLst>
          </p:cNvPr>
          <p:cNvSpPr txBox="1"/>
          <p:nvPr/>
        </p:nvSpPr>
        <p:spPr>
          <a:xfrm>
            <a:off x="3882463" y="4446745"/>
            <a:ext cx="14718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ja-JP" altLang="en-US"/>
              <a:t>短波長のまま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0C90EC0-58EA-0BE0-8FC3-D0BADEB7C516}"/>
              </a:ext>
            </a:extLst>
          </p:cNvPr>
          <p:cNvSpPr txBox="1"/>
          <p:nvPr/>
        </p:nvSpPr>
        <p:spPr>
          <a:xfrm>
            <a:off x="583529" y="700252"/>
            <a:ext cx="5236052" cy="626701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spAutoFit/>
          </a:bodyPr>
          <a:lstStyle/>
          <a:p>
            <a:pPr algn="l"/>
            <a:r>
              <a:rPr kumimoji="1" lang="ja-JP" altLang="en-US"/>
              <a:t>脱水塔 </a:t>
            </a:r>
            <a:r>
              <a:rPr kumimoji="1" lang="en-US" altLang="ja-JP"/>
              <a:t>NaOH </a:t>
            </a:r>
            <a:r>
              <a:rPr kumimoji="1" lang="ja-JP" altLang="en-US"/>
              <a:t>添加時</a:t>
            </a:r>
            <a:endParaRPr kumimoji="1" lang="en-US" altLang="ja-JP"/>
          </a:p>
          <a:p>
            <a:pPr algn="l"/>
            <a:r>
              <a:rPr lang="en-US" altLang="ja-JP"/>
              <a:t>A-ALD </a:t>
            </a:r>
            <a:r>
              <a:rPr lang="ja-JP" altLang="en-US"/>
              <a:t>高濃度のため、アルドール促進、</a:t>
            </a:r>
            <a:r>
              <a:rPr lang="en-US" altLang="ja-JP"/>
              <a:t>330 nm </a:t>
            </a:r>
            <a:r>
              <a:rPr lang="ja-JP" altLang="en-US"/>
              <a:t>増</a:t>
            </a:r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6CF5779-4474-3278-8015-39E0E43E0463}"/>
              </a:ext>
            </a:extLst>
          </p:cNvPr>
          <p:cNvSpPr txBox="1"/>
          <p:nvPr/>
        </p:nvSpPr>
        <p:spPr>
          <a:xfrm>
            <a:off x="6130368" y="2909765"/>
            <a:ext cx="1050288" cy="369332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/>
          <a:p>
            <a:pPr algn="l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エノラート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3EC279A-F316-4D91-A7AB-DCF53F88BA53}"/>
              </a:ext>
            </a:extLst>
          </p:cNvPr>
          <p:cNvSpPr txBox="1"/>
          <p:nvPr/>
        </p:nvSpPr>
        <p:spPr>
          <a:xfrm>
            <a:off x="571118" y="3871061"/>
            <a:ext cx="2289732" cy="626701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spAutoFit/>
          </a:bodyPr>
          <a:lstStyle/>
          <a:p>
            <a:pPr algn="l"/>
            <a:r>
              <a:rPr kumimoji="1" lang="en-US" altLang="ja-JP"/>
              <a:t>EO </a:t>
            </a:r>
            <a:r>
              <a:rPr kumimoji="1" lang="ja-JP" altLang="en-US"/>
              <a:t>触媒不具合により</a:t>
            </a:r>
            <a:endParaRPr kumimoji="1" lang="en-US" altLang="ja-JP"/>
          </a:p>
          <a:p>
            <a:pPr algn="l"/>
            <a:r>
              <a:rPr kumimoji="1" lang="ja-JP" altLang="en-US"/>
              <a:t>各アルデヒド濃度上昇</a:t>
            </a: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2C4CEDC2-260C-45F1-0E53-1B2C154F68DA}"/>
              </a:ext>
            </a:extLst>
          </p:cNvPr>
          <p:cNvSpPr/>
          <p:nvPr/>
        </p:nvSpPr>
        <p:spPr>
          <a:xfrm>
            <a:off x="442996" y="1557498"/>
            <a:ext cx="632730" cy="1780754"/>
          </a:xfrm>
          <a:prstGeom prst="round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hlinkClick r:id="rId24"/>
            <a:extLst>
              <a:ext uri="{FF2B5EF4-FFF2-40B4-BE49-F238E27FC236}">
                <a16:creationId xmlns:a16="http://schemas.microsoft.com/office/drawing/2014/main" id="{7250A320-E592-741E-55D0-89C5EA63DE5F}"/>
              </a:ext>
            </a:extLst>
          </p:cNvPr>
          <p:cNvSpPr txBox="1"/>
          <p:nvPr/>
        </p:nvSpPr>
        <p:spPr>
          <a:xfrm>
            <a:off x="11121620" y="6254490"/>
            <a:ext cx="1213805" cy="339865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u="sng">
                <a:solidFill>
                  <a:schemeClr val="accent1"/>
                </a:solidFill>
              </a:rPr>
              <a:t>リンク</a:t>
            </a:r>
            <a:endParaRPr kumimoji="1" lang="ja-JP" altLang="en-US" u="sng" err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00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BFD208-32F2-D8D6-07FF-995B65DA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工程ごとで確認された事実と考えらる原理、仮説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1756C9-7789-7438-477C-EFA93FB3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1A3DEE44-4D43-6E25-FE49-D872F26D7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650206"/>
              </p:ext>
            </p:extLst>
          </p:nvPr>
        </p:nvGraphicFramePr>
        <p:xfrm>
          <a:off x="178900" y="691717"/>
          <a:ext cx="11834199" cy="6057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9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項目</a:t>
                      </a: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EO反応系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 (R-1101)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EG反応系 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(R-1401)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EG濃縮系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EG脱水系 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(C-1404)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MEG精製系 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(C-1501/1502)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DEG精製系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 (C-1503)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製品タンク </a:t>
                      </a:r>
                      <a:endParaRPr lang="en-US" sz="140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4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(T-555)</a:t>
                      </a:r>
                    </a:p>
                  </a:txBody>
                  <a:tcPr marL="27432" marR="18288" marT="18288" marB="18288">
                    <a:solidFill>
                      <a:srgbClr val="D7E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① 運転で見えた事実</a:t>
                      </a: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触媒選択性の低下で、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アルデヒド類（A-ALD・F-ALD）の副生が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増加</a:t>
                      </a:r>
                      <a:endParaRPr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原料EO中のA-ALD</a:t>
                      </a:r>
                      <a:r>
                        <a:rPr 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,F-ALD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濃度高めで推移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EG濃縮系出口（C-1403ボトム）のアルデヒド濃度は過去並み。</a:t>
                      </a:r>
                      <a:endParaRPr lang="en-US"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G脱水塔ボトム（C-1404）のアルデヒド濃度は過去並み。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MEG精製塔C-1502トップでA-ALDが一時的に異常高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（3〜7ppm、過去1ppm以下）。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物質収支から</a:t>
                      </a:r>
                      <a:r>
                        <a:rPr lang="en-US" altLang="ja-JP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C-1502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で増加したバランス。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endParaRPr lang="en-US" altLang="ja-JP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C-1501塔底温度を下げ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たのちに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A-ALDが低下。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製品DEG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ストリーム品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は常に規格内（APHA&lt;5）。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窒素封入タンクでAPHA&lt;5→25〜35へ上昇。残液は5/18（APHA30）以降は上昇せず。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大気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雰囲気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のドラム・SPでは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色相悪化が進行しない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・リン酸添加後</a:t>
                      </a:r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② 開放・検査で</a:t>
                      </a:r>
                      <a:endParaRPr lang="en-US" sz="105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見えた事実</a:t>
                      </a: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MEG精製塔C-1501／C-1502を開放、異常な汚れ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なし。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・C-1501塔底〜C-1502配管のSUS化部も錆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等の汚れなし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DEG精製塔C-1503トップに黒色付着物（鉄サビ）。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付着物中の有機酸は微小。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・減肉進展なし</a:t>
                      </a:r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製品タンクT-555／T-615を開放。異物は鉄サビ（T-615の一部は砂が過半＋鉄10〜12%）。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③ </a:t>
                      </a:r>
                      <a:r>
                        <a:rPr lang="ja-JP" altLang="en-US"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基礎研</a:t>
                      </a:r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で検証した事実</a:t>
                      </a: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ラボでEG反応器を模擬し、F-ALD・A-ALDを添加するとUVが悪化。</a:t>
                      </a: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C-1503の付着物をDEGに加えて保管すると380nmの吸収は出るが、実機の450nmは出ない。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蒸留DEGを短時間置いても450nmは出ない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＝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黒色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付着物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は色相悪化に影響しない</a:t>
                      </a:r>
                      <a:endParaRPr lang="en-US" altLang="ja-JP"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　</a:t>
                      </a:r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着色物質をGPC・GCで分析＝分子量200〜800・457nm吸収のポリエナール（ppbオーダー）。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CC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④ 一般原理</a:t>
                      </a:r>
                      <a:endParaRPr lang="en-US" sz="105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水が多く、アルドール縮合は進みにくい。</a:t>
                      </a:r>
                      <a:endParaRPr lang="en-US"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アルデヒドは主に遊離のままグリコールと共存して運ばれる。</a:t>
                      </a: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水が多い環境では縮合は進みにくい。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・過去の運転では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アルデヒドの大半は蒸気側からパージで系外へ抜け、一部は遊離のまま下流へ持ち込まれ得る。</a:t>
                      </a: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アルドール縮合は水を出す平衡反応で、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水が少ないほど縮合が進む。</a:t>
                      </a:r>
                      <a:endParaRPr lang="en-US"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縮合した重い化合物は沸点が高く、重質側に残りやすい。</a:t>
                      </a: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・高温、高塩基の条件で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レトロアルドール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反応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によりアルデヒドに戻る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反応が生じ得る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塩基性・高温下でアルドール縮合が進み、共役の短い前駆体（UV330nm付近・分子量150程度）ができる。</a:t>
                      </a: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前駆体どうしがさらに脱水縮合して共役が伸び、450nm（黄）に達する。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共役系は微量で発色する。</a:t>
                      </a:r>
                      <a:endParaRPr lang="en-US"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・酸素があると前駆体が有機酸へ酸化され、縮合が進まない。</a:t>
                      </a:r>
                    </a:p>
                    <a:p>
                      <a:endParaRPr sz="9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B2B2B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5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事実、原理から立てた工程ごとの仮説</a:t>
                      </a:r>
                      <a:endParaRPr lang="en-US" altLang="ja-JP" sz="1050" b="1">
                        <a:solidFill>
                          <a:srgbClr val="003F7E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アルデヒドが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増加</a:t>
                      </a:r>
                      <a:endParaRPr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アルデヒドがEG生成系に持ち込まれ、UV成分の素地になる。</a:t>
                      </a: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ALD</a:t>
                      </a:r>
                      <a:r>
                        <a:rPr lang="ja-JP" altLang="en-US" sz="9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の大半はパージされ、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一部が</a:t>
                      </a:r>
                      <a:r>
                        <a:rPr lang="en-US" altLang="ja-JP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ALD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から形を変えた状態で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下流へ持ち込まれ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た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アルデヒドが多い条件では、ここで縮合が進み、重い形で下流へ運ばれ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た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。</a:t>
                      </a: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温度を下げるとアルデヒド・前駆体が分解されず下流（DEG）へ回りやすい。</a:t>
                      </a: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前駆体が生成する場。鉄サビ・付着物は450nmの主因ではない（局所の380nm）。</a:t>
                      </a: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N2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雰囲気下において、色相悪化物質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が成長</a:t>
                      </a:r>
                      <a:r>
                        <a:rPr lang="ja-JP" altLang="en-US" sz="900" b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し、経時的に色相悪化。</a:t>
                      </a:r>
                      <a:endParaRPr lang="en-US" sz="900" b="1">
                        <a:solidFill>
                          <a:srgbClr val="222222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27432" marR="18288" marT="18288" marB="18288">
                    <a:solidFill>
                      <a:srgbClr val="00B0F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216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0278-7EE9-0075-08FD-79EF6081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CC6501-A3EF-D86B-1B38-4EB1B4BC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運転で確認された事実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11320A-E83C-1E2A-E896-C1BA30B9D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FC438C-38FD-4D1E-D281-5D5516AD0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83B46A9-A24A-A184-B328-651E968AD148}"/>
              </a:ext>
            </a:extLst>
          </p:cNvPr>
          <p:cNvSpPr/>
          <p:nvPr/>
        </p:nvSpPr>
        <p:spPr>
          <a:xfrm>
            <a:off x="2209800" y="-1154390"/>
            <a:ext cx="9692640" cy="45171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FontTx/>
              <a:buChar char="●"/>
            </a:pP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高ALD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濃度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条件下で運転を実施</a:t>
            </a:r>
          </a:p>
          <a:p>
            <a:pPr marL="342900" indent="-342900">
              <a:buSzPct val="100000"/>
              <a:buFontTx/>
              <a:buChar char="●"/>
            </a:pP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F-ALDとA-ALD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の双方が高水準で推移</a:t>
            </a:r>
            <a:endParaRPr kumimoji="0" lang="en-US" sz="1600" b="1">
              <a:solidFill>
                <a:srgbClr val="C700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AAD175AC-75E1-125B-E1FA-5EC31183DC45}"/>
              </a:ext>
            </a:extLst>
          </p:cNvPr>
          <p:cNvSpPr/>
          <p:nvPr/>
        </p:nvSpPr>
        <p:spPr>
          <a:xfrm>
            <a:off x="2148840" y="2000444"/>
            <a:ext cx="9814560" cy="13533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FontTx/>
              <a:buChar char="●"/>
            </a:pPr>
            <a:r>
              <a:rPr kumimoji="0" lang="en-US" altLang="ja-JP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NaOH</a:t>
            </a:r>
            <a:r>
              <a:rPr kumimoji="0" lang="ja-JP" alt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および</a:t>
            </a:r>
            <a:r>
              <a:rPr kumimoji="0" 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リン酸の投入により、G-ALD</a:t>
            </a:r>
            <a:r>
              <a:rPr kumimoji="0" lang="ja-JP" alt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の生成が</a:t>
            </a:r>
            <a:r>
              <a:rPr kumimoji="0" 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抑えられた</a:t>
            </a:r>
            <a:endParaRPr kumimoji="0" lang="en-US" sz="16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SzPct val="100000"/>
              <a:buFontTx/>
              <a:buChar char="●"/>
            </a:pP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3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月上～中旬にかけて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HUV220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は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東レ連絡値の水準まで増加</a:t>
            </a:r>
            <a:endParaRPr kumimoji="0" lang="en-US" sz="1600" b="1">
              <a:solidFill>
                <a:srgbClr val="C700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SzPct val="100000"/>
              <a:buFontTx/>
              <a:buChar char="●"/>
            </a:pP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HUV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悪化期間中、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C-1502においてF-ALD・A-ALD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が</a:t>
            </a: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C-1502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で</a:t>
            </a: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ALD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が生成するバランスとなっていた</a:t>
            </a:r>
            <a:endParaRPr kumimoji="0" lang="en-US" altLang="ja-JP" sz="1600" b="1">
              <a:solidFill>
                <a:srgbClr val="C7000B"/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34" charset="-120"/>
            </a:endParaRPr>
          </a:p>
          <a:p>
            <a:pPr>
              <a:buSzPct val="100000"/>
            </a:pP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　　 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C-1501のBTM温度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低減対応後、</a:t>
            </a: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ALD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の生成が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改善</a:t>
            </a:r>
          </a:p>
          <a:p>
            <a:pPr marL="342900" indent="-342900">
              <a:buSzPct val="100000"/>
              <a:buFontTx/>
              <a:buChar char="●"/>
            </a:pPr>
            <a:r>
              <a:rPr kumimoji="0" lang="ja-JP" altLang="en-US" sz="1600"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製品</a:t>
            </a:r>
            <a:r>
              <a:rPr kumimoji="0" lang="en-US" altLang="ja-JP" sz="1600"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MEG</a:t>
            </a:r>
            <a:r>
              <a:rPr kumimoji="0" lang="ja-JP" altLang="en-US" sz="1600"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中の水濃度が過去と比較して低めで推移</a:t>
            </a:r>
            <a:endParaRPr kumimoji="0" lang="en-US" sz="1600">
              <a:latin typeface="Meiryo UI" panose="020B0604030504040204" pitchFamily="50" charset="-128"/>
              <a:ea typeface="Meiryo UI" panose="020B0604030504040204" pitchFamily="50" charset="-128"/>
              <a:cs typeface="メイリオ" pitchFamily="34" charset="-12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F0E0447-2B10-EC95-35F9-1CA7895896C4}"/>
              </a:ext>
            </a:extLst>
          </p:cNvPr>
          <p:cNvSpPr/>
          <p:nvPr/>
        </p:nvSpPr>
        <p:spPr>
          <a:xfrm>
            <a:off x="2148840" y="3495255"/>
            <a:ext cx="9692640" cy="13533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FontTx/>
              <a:buChar char="●"/>
            </a:pP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DEGタンクにおいて色相が悪化（ストリーム品はAPHA 0）</a:t>
            </a:r>
            <a:endParaRPr kumimoji="0" lang="en-US" sz="1600">
              <a:solidFill>
                <a:srgbClr val="C700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SzPct val="100000"/>
              <a:buFontTx/>
              <a:buChar char="●"/>
            </a:pP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リン酸を継続して投入した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以降、</a:t>
            </a:r>
            <a:r>
              <a:rPr kumimoji="0" lang="en-US" altLang="ja-JP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T-615</a:t>
            </a:r>
            <a:r>
              <a:rPr kumimoji="0" lang="ja-JP" alt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で</a:t>
            </a:r>
            <a:r>
              <a:rPr kumimoji="0" lang="en-US" sz="1600" b="1">
                <a:solidFill>
                  <a:srgbClr val="C7000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色相が改善する傾向が見られる</a:t>
            </a:r>
            <a:endParaRPr kumimoji="0" lang="en-US" sz="1600">
              <a:solidFill>
                <a:srgbClr val="C700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899A1C2-9E83-AC29-71BB-2F020BFA2E20}"/>
              </a:ext>
            </a:extLst>
          </p:cNvPr>
          <p:cNvSpPr/>
          <p:nvPr/>
        </p:nvSpPr>
        <p:spPr>
          <a:xfrm>
            <a:off x="365760" y="513156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0" 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TEG</a:t>
            </a:r>
            <a:r>
              <a:rPr kumimoji="0" lang="ja-JP" alt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精製系</a:t>
            </a:r>
            <a:endParaRPr kumimoji="0" lang="en-US">
              <a:latin typeface="Calibri" panose="020F0502020204030204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B6BCBDF-D72E-C424-69EC-2FA95DC10F61}"/>
              </a:ext>
            </a:extLst>
          </p:cNvPr>
          <p:cNvSpPr/>
          <p:nvPr/>
        </p:nvSpPr>
        <p:spPr>
          <a:xfrm>
            <a:off x="2148840" y="5131566"/>
            <a:ext cx="6820989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FontTx/>
              <a:buChar char="●"/>
            </a:pPr>
            <a:r>
              <a:rPr kumimoji="0" 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34" charset="-120"/>
              </a:rPr>
              <a:t>運転管理値を含むすべての品質規格に対し、規定範囲内であることを確認</a:t>
            </a:r>
          </a:p>
          <a:p>
            <a:pPr marL="342900" indent="-342900">
              <a:buSzPct val="100000"/>
              <a:buFontTx/>
              <a:buChar char="●"/>
            </a:pPr>
            <a:r>
              <a:rPr kumimoji="0" lang="en-US" altLang="ja-JP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UV220nm</a:t>
            </a:r>
            <a:r>
              <a:rPr kumimoji="0" lang="ja-JP" altLang="en-US" sz="1600">
                <a:solidFill>
                  <a:srgbClr val="26262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は、東洋紡連絡値と比較して低い水準で推移</a:t>
            </a:r>
            <a:endParaRPr kumimoji="0" lang="en-US" sz="16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32CE737-44E8-AFDC-083C-AC3428F4353A}"/>
              </a:ext>
            </a:extLst>
          </p:cNvPr>
          <p:cNvSpPr/>
          <p:nvPr/>
        </p:nvSpPr>
        <p:spPr>
          <a:xfrm>
            <a:off x="414337" y="377776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0" 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DEG</a:t>
            </a:r>
            <a:r>
              <a:rPr kumimoji="0" lang="ja-JP" alt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精製系</a:t>
            </a:r>
            <a:endParaRPr kumimoji="0" lang="en-US">
              <a:latin typeface="Calibri" panose="020F0502020204030204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A97BEC4-18A2-4C3C-78EE-21F39249DA7A}"/>
              </a:ext>
            </a:extLst>
          </p:cNvPr>
          <p:cNvSpPr/>
          <p:nvPr/>
        </p:nvSpPr>
        <p:spPr>
          <a:xfrm>
            <a:off x="414337" y="2238755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0" 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MEG</a:t>
            </a:r>
            <a:r>
              <a:rPr kumimoji="0" lang="ja-JP" altLang="en-US" b="1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精製系</a:t>
            </a:r>
            <a:endParaRPr kumimoji="0" lang="en-US">
              <a:latin typeface="Calibri" panose="020F0502020204030204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8B7A8C2-07DD-3A2F-F79A-BBCECDFE48CD}"/>
              </a:ext>
            </a:extLst>
          </p:cNvPr>
          <p:cNvSpPr/>
          <p:nvPr/>
        </p:nvSpPr>
        <p:spPr>
          <a:xfrm>
            <a:off x="414337" y="868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0" lang="ja-JP" altLang="en-US" b="1">
                <a:latin typeface="メイリオ" pitchFamily="34" charset="0"/>
                <a:ea typeface="メイリオ" pitchFamily="34" charset="-122"/>
              </a:rPr>
              <a:t>原料</a:t>
            </a:r>
            <a:r>
              <a:rPr kumimoji="0" lang="en-US" altLang="ja-JP" b="1">
                <a:latin typeface="メイリオ" pitchFamily="34" charset="0"/>
                <a:ea typeface="メイリオ" pitchFamily="34" charset="-122"/>
              </a:rPr>
              <a:t>EO</a:t>
            </a:r>
            <a:endParaRPr kumimoji="0"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540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70E5-14F3-84E4-A05F-A4D6A974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E0E6C-FC80-F2C8-1952-7074D6F1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設備開放で確認された</a:t>
            </a:r>
            <a:r>
              <a:rPr kumimoji="1" lang="ja-JP" altLang="en-US"/>
              <a:t>事実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65F859-B6DC-742B-902F-631D8A41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■ 色相悪化物質ができる反応は、水が少なくなる脱水塔以降で起こると考えられる。そこでEG精製系（脱水塔以降の塔・配管・タンク）を中心に開放・検査した。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・開けた結果、DEG精製塔（C-1503）トップの黒色付着物（ほぼ鉄サビ）以外に、目立った汚れ・腐食・異物は見つからなかった。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・その黒色付着物（鉄サビ）をDEGに加えて保管したところ、色相悪化の450nmは現れなかった（基礎研）。＝鉄サビは色相悪化の原因ではない。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・各機器の肉厚を定修前に測定したが、有意な減りはなかった。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→ 設備や金属が原因で色相が悪くなったのではないと判断。残る上流側は色相悪化物質ができる反応の場ではないため、これ以上開ける必要はない。</a:t>
            </a:r>
          </a:p>
        </p:txBody>
      </p:sp>
    </p:spTree>
    <p:extLst>
      <p:ext uri="{BB962C8B-B14F-4D97-AF65-F5344CB8AC3E}">
        <p14:creationId xmlns:p14="http://schemas.microsoft.com/office/powerpoint/2010/main" val="217331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90A28F5-786B-648F-0E67-25F27A83E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26175F-9BCE-566D-4D0A-F167B53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0A18BF3-4997-4EC8-AEAF-934DA369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2026</a:t>
            </a:r>
            <a:r>
              <a:rPr lang="ja-JP" altLang="en-US"/>
              <a:t>年計画停止</a:t>
            </a:r>
            <a:r>
              <a:rPr lang="en-US" altLang="ja-JP"/>
              <a:t>_</a:t>
            </a:r>
            <a:r>
              <a:rPr lang="ja-JP" altLang="en-US"/>
              <a:t>検査箇所</a:t>
            </a:r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C82FD0B-1EA6-0650-D72D-1FA21B16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8" y="860192"/>
            <a:ext cx="9552544" cy="5365763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69FD0B1-CF7B-FFF0-F7B9-34F4AF18BFC4}"/>
              </a:ext>
            </a:extLst>
          </p:cNvPr>
          <p:cNvSpPr/>
          <p:nvPr/>
        </p:nvSpPr>
        <p:spPr>
          <a:xfrm>
            <a:off x="661289" y="2375417"/>
            <a:ext cx="330200" cy="1820328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3688449-1891-8DDD-2E62-D834BB110016}"/>
              </a:ext>
            </a:extLst>
          </p:cNvPr>
          <p:cNvSpPr/>
          <p:nvPr/>
        </p:nvSpPr>
        <p:spPr>
          <a:xfrm>
            <a:off x="3403179" y="2240280"/>
            <a:ext cx="267227" cy="2040137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1F0E3C7-9306-396E-7BD7-16197C3F3ABA}"/>
              </a:ext>
            </a:extLst>
          </p:cNvPr>
          <p:cNvSpPr/>
          <p:nvPr/>
        </p:nvSpPr>
        <p:spPr>
          <a:xfrm>
            <a:off x="4839703" y="2375418"/>
            <a:ext cx="274574" cy="1820328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224EA37-830B-E6A2-97DD-1AE6CF3B7B81}"/>
              </a:ext>
            </a:extLst>
          </p:cNvPr>
          <p:cNvSpPr/>
          <p:nvPr/>
        </p:nvSpPr>
        <p:spPr>
          <a:xfrm>
            <a:off x="6141265" y="2469851"/>
            <a:ext cx="401629" cy="1725894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B36291-715C-2058-0EB7-7F204E46B59B}"/>
              </a:ext>
            </a:extLst>
          </p:cNvPr>
          <p:cNvSpPr txBox="1"/>
          <p:nvPr/>
        </p:nvSpPr>
        <p:spPr>
          <a:xfrm>
            <a:off x="352368" y="849327"/>
            <a:ext cx="1126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/>
              <a:t>検査箇所</a:t>
            </a:r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F642EA3-A3A7-1135-8A1C-950B912B7C24}"/>
              </a:ext>
            </a:extLst>
          </p:cNvPr>
          <p:cNvSpPr/>
          <p:nvPr/>
        </p:nvSpPr>
        <p:spPr>
          <a:xfrm>
            <a:off x="123021" y="890609"/>
            <a:ext cx="211915" cy="239418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39B34C9-B9E5-6801-25A2-AE82F1A45546}"/>
              </a:ext>
            </a:extLst>
          </p:cNvPr>
          <p:cNvSpPr/>
          <p:nvPr/>
        </p:nvSpPr>
        <p:spPr>
          <a:xfrm>
            <a:off x="5588877" y="4972567"/>
            <a:ext cx="163108" cy="18971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5428F67-64BE-3485-1201-BAF1A355A503}"/>
              </a:ext>
            </a:extLst>
          </p:cNvPr>
          <p:cNvSpPr/>
          <p:nvPr/>
        </p:nvSpPr>
        <p:spPr>
          <a:xfrm>
            <a:off x="5445113" y="4100890"/>
            <a:ext cx="163108" cy="18971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7AFC487-ADE9-473F-DD28-9EC4DDF142A3}"/>
              </a:ext>
            </a:extLst>
          </p:cNvPr>
          <p:cNvSpPr/>
          <p:nvPr/>
        </p:nvSpPr>
        <p:spPr>
          <a:xfrm>
            <a:off x="4420499" y="2922301"/>
            <a:ext cx="163108" cy="18971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EB74C424-A937-A9B5-C294-AE7275A05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06" y="2476742"/>
            <a:ext cx="3483118" cy="29318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5ED23A2-8CE0-7F67-4CA0-655189803DB6}"/>
              </a:ext>
            </a:extLst>
          </p:cNvPr>
          <p:cNvSpPr/>
          <p:nvPr/>
        </p:nvSpPr>
        <p:spPr>
          <a:xfrm>
            <a:off x="9659558" y="3503596"/>
            <a:ext cx="937857" cy="93365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018C5DD-1DB2-8964-AB56-7DEBF93CC33A}"/>
              </a:ext>
            </a:extLst>
          </p:cNvPr>
          <p:cNvSpPr/>
          <p:nvPr/>
        </p:nvSpPr>
        <p:spPr>
          <a:xfrm>
            <a:off x="9659306" y="4551122"/>
            <a:ext cx="889411" cy="743552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9744025-6CC5-2493-A032-A419396D8ABB}"/>
              </a:ext>
            </a:extLst>
          </p:cNvPr>
          <p:cNvSpPr/>
          <p:nvPr/>
        </p:nvSpPr>
        <p:spPr>
          <a:xfrm>
            <a:off x="2919591" y="2685448"/>
            <a:ext cx="491027" cy="236853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1BC43F9-AACF-695B-1424-C307DB6A53FB}"/>
              </a:ext>
            </a:extLst>
          </p:cNvPr>
          <p:cNvSpPr/>
          <p:nvPr/>
        </p:nvSpPr>
        <p:spPr>
          <a:xfrm>
            <a:off x="11242382" y="4290600"/>
            <a:ext cx="163108" cy="18971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8BC7E68-4395-4B40-079B-D319C890ED73}"/>
              </a:ext>
            </a:extLst>
          </p:cNvPr>
          <p:cNvSpPr/>
          <p:nvPr/>
        </p:nvSpPr>
        <p:spPr>
          <a:xfrm>
            <a:off x="10756790" y="4100890"/>
            <a:ext cx="163108" cy="189710"/>
          </a:xfrm>
          <a:prstGeom prst="roundRect">
            <a:avLst/>
          </a:prstGeom>
          <a:solidFill>
            <a:srgbClr val="FF0000">
              <a:alpha val="33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FF30DC-EB80-FCD3-516B-1D6855323EA1}"/>
              </a:ext>
            </a:extLst>
          </p:cNvPr>
          <p:cNvSpPr txBox="1"/>
          <p:nvPr/>
        </p:nvSpPr>
        <p:spPr>
          <a:xfrm>
            <a:off x="1561801" y="6156031"/>
            <a:ext cx="2131603" cy="236853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C-1501BTM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フィルター下流→</a:t>
            </a:r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C-1502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配管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FCF527-3EDB-DFA0-8D24-483FD0D79AA7}"/>
              </a:ext>
            </a:extLst>
          </p:cNvPr>
          <p:cNvSpPr txBox="1"/>
          <p:nvPr/>
        </p:nvSpPr>
        <p:spPr>
          <a:xfrm>
            <a:off x="242501" y="6168832"/>
            <a:ext cx="1405288" cy="239418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C-1501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MEG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塔）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D91730F-578B-0EF8-8B34-023064371DFE}"/>
              </a:ext>
            </a:extLst>
          </p:cNvPr>
          <p:cNvSpPr txBox="1"/>
          <p:nvPr/>
        </p:nvSpPr>
        <p:spPr>
          <a:xfrm>
            <a:off x="4475302" y="6177262"/>
            <a:ext cx="1645307" cy="215622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C-1503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DEG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塔）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177881-2D6F-A30B-AE6C-D28CE6722166}"/>
              </a:ext>
            </a:extLst>
          </p:cNvPr>
          <p:cNvSpPr txBox="1"/>
          <p:nvPr/>
        </p:nvSpPr>
        <p:spPr>
          <a:xfrm>
            <a:off x="2896657" y="6332834"/>
            <a:ext cx="1713810" cy="335364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rPr kumimoji="1" lang="en-US" altLang="ja-JP" sz="1800" u="sng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C-1502</a:t>
            </a:r>
            <a:r>
              <a:rPr kumimoji="1" lang="ja-JP" altLang="en-US" sz="1800" u="sng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800" u="sng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800" u="sng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リサイクル塔</a:t>
            </a:r>
            <a:r>
              <a:rPr kumimoji="1" lang="en-US" altLang="ja-JP" sz="1800" u="sng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800" u="sng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533F0C0-243F-7172-5A5C-85807C4ABB68}"/>
              </a:ext>
            </a:extLst>
          </p:cNvPr>
          <p:cNvSpPr txBox="1"/>
          <p:nvPr/>
        </p:nvSpPr>
        <p:spPr>
          <a:xfrm>
            <a:off x="5751985" y="6174087"/>
            <a:ext cx="1376677" cy="296964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C-1504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</a:t>
            </a:r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DEG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リサイクル塔）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65C219C-2A12-724E-1264-680DFE10E947}"/>
              </a:ext>
            </a:extLst>
          </p:cNvPr>
          <p:cNvSpPr txBox="1"/>
          <p:nvPr/>
        </p:nvSpPr>
        <p:spPr>
          <a:xfrm>
            <a:off x="9741279" y="5727662"/>
            <a:ext cx="1569547" cy="230817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T-555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（製品タンク）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772497A-F140-AD6B-B477-8AEEC416870D}"/>
              </a:ext>
            </a:extLst>
          </p:cNvPr>
          <p:cNvSpPr txBox="1"/>
          <p:nvPr/>
        </p:nvSpPr>
        <p:spPr>
          <a:xfrm>
            <a:off x="1801358" y="851069"/>
            <a:ext cx="2131603" cy="451404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200" u="sng">
                <a:solidFill>
                  <a:schemeClr val="accent2">
                    <a:lumMod val="60000"/>
                    <a:lumOff val="40000"/>
                  </a:schemeClr>
                </a:solidFill>
              </a:rPr>
              <a:t>検査記録リンク</a:t>
            </a:r>
            <a:endParaRPr kumimoji="1" lang="ja-JP" altLang="en-US" sz="1200" u="sng" err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792B2CD-EFCE-E15C-5886-2278004AE366}"/>
              </a:ext>
            </a:extLst>
          </p:cNvPr>
          <p:cNvSpPr txBox="1"/>
          <p:nvPr/>
        </p:nvSpPr>
        <p:spPr>
          <a:xfrm>
            <a:off x="9741279" y="5950722"/>
            <a:ext cx="1664211" cy="343446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r>
              <a:rPr kumimoji="1" lang="en-US" altLang="ja-JP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T-615</a:t>
            </a:r>
            <a:r>
              <a:rPr kumimoji="1" lang="ja-JP" altLang="en-US" sz="1800">
                <a:solidFill>
                  <a:schemeClr val="accent2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（製品タンク）</a:t>
            </a:r>
            <a:endParaRPr kumimoji="1" lang="ja-JP" altLang="en-US" sz="1800">
              <a:solidFill>
                <a:schemeClr val="accent2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290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5F4C82B-4602-6EBF-8A11-39C432E6C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C1A37B-B506-A2E0-8744-54D7FA55A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三菱ケミカル株式会社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38946D5-8F11-0F5C-1095-D1CC8059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20" y="85235"/>
            <a:ext cx="9327072" cy="369332"/>
          </a:xfrm>
        </p:spPr>
        <p:txBody>
          <a:bodyPr/>
          <a:lstStyle/>
          <a:p>
            <a:r>
              <a:rPr kumimoji="1" lang="ja-JP" altLang="en-US"/>
              <a:t>機器開放要否判断と開放結果</a:t>
            </a:r>
            <a:r>
              <a:rPr kumimoji="1" lang="en-US" altLang="ja-JP"/>
              <a:t>_EG</a:t>
            </a:r>
            <a:r>
              <a:rPr kumimoji="1" lang="ja-JP" altLang="en-US"/>
              <a:t>プラント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B2FBF0C3-6175-D9F1-DE58-C0E4C1243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797222"/>
              </p:ext>
            </p:extLst>
          </p:nvPr>
        </p:nvGraphicFramePr>
        <p:xfrm>
          <a:off x="129920" y="447961"/>
          <a:ext cx="12041640" cy="6382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056">
                  <a:extLst>
                    <a:ext uri="{9D8B030D-6E8A-4147-A177-3AD203B41FA5}">
                      <a16:colId xmlns:a16="http://schemas.microsoft.com/office/drawing/2014/main" val="212039734"/>
                    </a:ext>
                  </a:extLst>
                </a:gridCol>
                <a:gridCol w="2384743">
                  <a:extLst>
                    <a:ext uri="{9D8B030D-6E8A-4147-A177-3AD203B41FA5}">
                      <a16:colId xmlns:a16="http://schemas.microsoft.com/office/drawing/2014/main" val="2370142299"/>
                    </a:ext>
                  </a:extLst>
                </a:gridCol>
                <a:gridCol w="2178368">
                  <a:extLst>
                    <a:ext uri="{9D8B030D-6E8A-4147-A177-3AD203B41FA5}">
                      <a16:colId xmlns:a16="http://schemas.microsoft.com/office/drawing/2014/main" val="3780125633"/>
                    </a:ext>
                  </a:extLst>
                </a:gridCol>
                <a:gridCol w="1135781">
                  <a:extLst>
                    <a:ext uri="{9D8B030D-6E8A-4147-A177-3AD203B41FA5}">
                      <a16:colId xmlns:a16="http://schemas.microsoft.com/office/drawing/2014/main" val="1272075647"/>
                    </a:ext>
                  </a:extLst>
                </a:gridCol>
                <a:gridCol w="2465692">
                  <a:extLst>
                    <a:ext uri="{9D8B030D-6E8A-4147-A177-3AD203B41FA5}">
                      <a16:colId xmlns:a16="http://schemas.microsoft.com/office/drawing/2014/main" val="3737987682"/>
                    </a:ext>
                  </a:extLst>
                </a:gridCol>
              </a:tblGrid>
              <a:tr h="267509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開放理由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開放不要理由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41466"/>
                  </a:ext>
                </a:extLst>
              </a:tr>
              <a:tr h="401263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C-1404(EG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脱水塔）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/>
                          <a:ea typeface="Meiryo UI"/>
                        </a:rPr>
                        <a:t>C-1404BTM</a:t>
                      </a:r>
                      <a:r>
                        <a:rPr kumimoji="1" lang="ja-JP" altLang="en-US" sz="1200">
                          <a:latin typeface="Meiryo UI"/>
                          <a:ea typeface="Meiryo UI"/>
                        </a:rPr>
                        <a:t>は</a:t>
                      </a:r>
                    </a:p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ALD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過去同様レベル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442977"/>
                  </a:ext>
                </a:extLst>
              </a:tr>
              <a:tr h="28287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C-1501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</a:t>
                      </a:r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MEG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塔）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A-ALD/F-ALD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濃度が高水準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塔壁等問題なし。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無し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655245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E-1501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塔リボイラー）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の状況過去同様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93724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E-1502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塔コンデンサー）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状況過去同様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687806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E-1503(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ベントコンデンサー）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19634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V-1501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（還流ベッセル）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82441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E-1504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（製品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クーラー）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10783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V-1502AB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レジン層）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366386"/>
                  </a:ext>
                </a:extLst>
              </a:tr>
              <a:tr h="521642">
                <a:tc>
                  <a:txBody>
                    <a:bodyPr/>
                    <a:lstStyle/>
                    <a:p>
                      <a:r>
                        <a:rPr kumimoji="1" lang="en-US" altLang="ja-JP" sz="1200" u="sng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C-1502</a:t>
                      </a:r>
                      <a:r>
                        <a:rPr kumimoji="1" lang="ja-JP" altLang="en-US" sz="1200" u="sng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 u="sng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MEG</a:t>
                      </a:r>
                      <a:r>
                        <a:rPr kumimoji="1" lang="ja-JP" altLang="en-US" sz="1200" u="sng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リサイクル塔</a:t>
                      </a:r>
                      <a:r>
                        <a:rPr kumimoji="1" lang="en-US" altLang="ja-JP" sz="1200" u="sng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200" u="sng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A-ALD/F-ALD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濃度が高水準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（物質収支上、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塔内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での生成を示唆）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塔壁過去同様で問題なし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450159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E-1505(MEG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リサイクル塔リボイラー）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状況過去同様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3448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E-1506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</a:t>
                      </a:r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MEG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リサイクル塔コンデンサー）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チムニー確認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過去同様で問題なし。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07888"/>
                  </a:ext>
                </a:extLst>
              </a:tr>
              <a:tr h="52164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C-1503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</a:t>
                      </a:r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DEG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塔）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色相悪化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TOP,MID</a:t>
                      </a:r>
                      <a:r>
                        <a:rPr kumimoji="1" lang="ja-JP" altLang="en-US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塔壁に黒色付着物</a:t>
                      </a:r>
                      <a:endParaRPr kumimoji="1" lang="en-US" altLang="ja-JP" sz="1100" b="1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lang="ja-JP" altLang="en-US" sz="1100" b="0">
                          <a:latin typeface="Meiryo UI"/>
                          <a:ea typeface="Meiryo UI"/>
                          <a:cs typeface="Meiryo UI"/>
                        </a:rPr>
                        <a:t>・減肉は</a:t>
                      </a:r>
                      <a:r>
                        <a:rPr lang="en-US" altLang="ja-JP" sz="1100" b="0">
                          <a:latin typeface="Meiryo UI"/>
                          <a:ea typeface="Meiryo UI"/>
                          <a:cs typeface="Meiryo UI"/>
                        </a:rPr>
                        <a:t>2023</a:t>
                      </a:r>
                      <a:r>
                        <a:rPr lang="ja-JP" altLang="en-US" sz="1100" b="0">
                          <a:latin typeface="Meiryo UI"/>
                          <a:ea typeface="Meiryo UI"/>
                          <a:cs typeface="Meiryo UI"/>
                        </a:rPr>
                        <a:t>年検査から進展なし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W/J</a:t>
                      </a:r>
                      <a:r>
                        <a:rPr kumimoji="1" lang="ja-JP" altLang="en-US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洗浄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81885"/>
                  </a:ext>
                </a:extLst>
              </a:tr>
              <a:tr h="52164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E-1507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塔リボイラー）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状況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過去同様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フィルター頻度過去同様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675336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E-1508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DEG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4"/>
                        </a:rPr>
                        <a:t>塔コンデンサー）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チムニー確認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底部に若干の黒色異物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清掃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付着性はなし。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08274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E-1509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（製品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クーラー）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製品ポンプ吸入フィルター異物少量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11478"/>
                  </a:ext>
                </a:extLst>
              </a:tr>
              <a:tr h="240758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C-1504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</a:t>
                      </a:r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DEG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リサイクル塔）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色相悪化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塔壁過去同様で問題なし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無し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625087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E-1510(DEG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リサイクル塔リボイラー）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状況過去同様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94774"/>
                  </a:ext>
                </a:extLst>
              </a:tr>
              <a:tr h="267509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E-1511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リサイクル塔コンデンサー）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635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073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03943C9-7A77-F57B-406F-258B7C3BE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A1623A-5E8E-FC68-F946-C83C300C0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三菱ケミカル株式会社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60ADA5A-954B-3263-ADC6-CAA1C1AE8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62554"/>
              </p:ext>
            </p:extLst>
          </p:nvPr>
        </p:nvGraphicFramePr>
        <p:xfrm>
          <a:off x="242501" y="970593"/>
          <a:ext cx="11932159" cy="502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680">
                  <a:extLst>
                    <a:ext uri="{9D8B030D-6E8A-4147-A177-3AD203B41FA5}">
                      <a16:colId xmlns:a16="http://schemas.microsoft.com/office/drawing/2014/main" val="212039734"/>
                    </a:ext>
                  </a:extLst>
                </a:gridCol>
                <a:gridCol w="1786467">
                  <a:extLst>
                    <a:ext uri="{9D8B030D-6E8A-4147-A177-3AD203B41FA5}">
                      <a16:colId xmlns:a16="http://schemas.microsoft.com/office/drawing/2014/main" val="2370142299"/>
                    </a:ext>
                  </a:extLst>
                </a:gridCol>
                <a:gridCol w="2040466">
                  <a:extLst>
                    <a:ext uri="{9D8B030D-6E8A-4147-A177-3AD203B41FA5}">
                      <a16:colId xmlns:a16="http://schemas.microsoft.com/office/drawing/2014/main" val="3780125633"/>
                    </a:ext>
                  </a:extLst>
                </a:gridCol>
                <a:gridCol w="2619854">
                  <a:extLst>
                    <a:ext uri="{9D8B030D-6E8A-4147-A177-3AD203B41FA5}">
                      <a16:colId xmlns:a16="http://schemas.microsoft.com/office/drawing/2014/main" val="1272075647"/>
                    </a:ext>
                  </a:extLst>
                </a:gridCol>
                <a:gridCol w="2465692">
                  <a:extLst>
                    <a:ext uri="{9D8B030D-6E8A-4147-A177-3AD203B41FA5}">
                      <a16:colId xmlns:a16="http://schemas.microsoft.com/office/drawing/2014/main" val="3737987682"/>
                    </a:ext>
                  </a:extLst>
                </a:gridCol>
              </a:tblGrid>
              <a:tr h="249869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配管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開放理由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開放不要理由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41466"/>
                  </a:ext>
                </a:extLst>
              </a:tr>
              <a:tr h="37480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C-1501BTM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C-1501BTM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フィルター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32375"/>
                  </a:ext>
                </a:extLst>
              </a:tr>
              <a:tr h="37480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C-1501BTM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フィルター下流→</a:t>
                      </a:r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C-1502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配管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2026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年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月に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SUS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655245"/>
                  </a:ext>
                </a:extLst>
              </a:tr>
              <a:tr h="37480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C-1501TOP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879483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C-1501MID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93724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C-1502TOP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C-1501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530587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C-1502BTM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C-1502BTM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555871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C-1503BTM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C-1503BTM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457082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C-1503TOP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チムニー開放結果より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製品ポンプ吸入フィルターの異物も少量のため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348654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C-1504TOP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900017"/>
                  </a:ext>
                </a:extLst>
              </a:tr>
              <a:tr h="224882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C-1504BTM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C-1505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C-1504TOP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開放結果より</a:t>
                      </a: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異常なしのため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402211"/>
                  </a:ext>
                </a:extLst>
              </a:tr>
            </a:tbl>
          </a:graphicData>
        </a:graphic>
      </p:graphicFrame>
      <p:sp>
        <p:nvSpPr>
          <p:cNvPr id="8" name="タイトル 3">
            <a:extLst>
              <a:ext uri="{FF2B5EF4-FFF2-40B4-BE49-F238E27FC236}">
                <a16:creationId xmlns:a16="http://schemas.microsoft.com/office/drawing/2014/main" id="{DED4F063-243C-F662-50C2-2B741456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8" y="255588"/>
            <a:ext cx="9326562" cy="368300"/>
          </a:xfrm>
        </p:spPr>
        <p:txBody>
          <a:bodyPr/>
          <a:lstStyle/>
          <a:p>
            <a:r>
              <a:rPr lang="ja-JP" altLang="en-US"/>
              <a:t>機器開放要否判断と開放結果</a:t>
            </a:r>
            <a:r>
              <a:rPr lang="en-US" altLang="ja-JP"/>
              <a:t>_EG</a:t>
            </a:r>
            <a:r>
              <a:rPr lang="ja-JP" altLang="en-US"/>
              <a:t>プラント配管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278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16C5615-4D44-D676-8062-BE27DE4EA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F24766-B5BD-E1F6-B300-A70A9F574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三菱ケミカル株式会社</a:t>
            </a:r>
          </a:p>
        </p:txBody>
      </p:sp>
      <p:sp>
        <p:nvSpPr>
          <p:cNvPr id="6" name="タイトル 3">
            <a:extLst>
              <a:ext uri="{FF2B5EF4-FFF2-40B4-BE49-F238E27FC236}">
                <a16:creationId xmlns:a16="http://schemas.microsoft.com/office/drawing/2014/main" id="{CF1D0FC2-CC79-69E6-B10C-688419B3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8" y="255588"/>
            <a:ext cx="9326562" cy="368300"/>
          </a:xfrm>
        </p:spPr>
        <p:txBody>
          <a:bodyPr/>
          <a:lstStyle/>
          <a:p>
            <a:r>
              <a:rPr lang="ja-JP" altLang="en-US"/>
              <a:t>機器開放要否判断と開放結果</a:t>
            </a:r>
            <a:r>
              <a:rPr lang="en-US" altLang="ja-JP"/>
              <a:t>_</a:t>
            </a:r>
            <a:r>
              <a:rPr lang="ja-JP" altLang="en-US"/>
              <a:t>共通配管帯</a:t>
            </a:r>
            <a:r>
              <a:rPr kumimoji="1" lang="ja-JP" altLang="en-US"/>
              <a:t>、操油課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08F6E271-9870-F71F-4892-F87F6899B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456135"/>
              </p:ext>
            </p:extLst>
          </p:nvPr>
        </p:nvGraphicFramePr>
        <p:xfrm>
          <a:off x="242501" y="1007710"/>
          <a:ext cx="11932159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056">
                  <a:extLst>
                    <a:ext uri="{9D8B030D-6E8A-4147-A177-3AD203B41FA5}">
                      <a16:colId xmlns:a16="http://schemas.microsoft.com/office/drawing/2014/main" val="212039734"/>
                    </a:ext>
                  </a:extLst>
                </a:gridCol>
                <a:gridCol w="2384743">
                  <a:extLst>
                    <a:ext uri="{9D8B030D-6E8A-4147-A177-3AD203B41FA5}">
                      <a16:colId xmlns:a16="http://schemas.microsoft.com/office/drawing/2014/main" val="2370142299"/>
                    </a:ext>
                  </a:extLst>
                </a:gridCol>
                <a:gridCol w="1443245">
                  <a:extLst>
                    <a:ext uri="{9D8B030D-6E8A-4147-A177-3AD203B41FA5}">
                      <a16:colId xmlns:a16="http://schemas.microsoft.com/office/drawing/2014/main" val="3780125633"/>
                    </a:ext>
                  </a:extLst>
                </a:gridCol>
                <a:gridCol w="1761423">
                  <a:extLst>
                    <a:ext uri="{9D8B030D-6E8A-4147-A177-3AD203B41FA5}">
                      <a16:colId xmlns:a16="http://schemas.microsoft.com/office/drawing/2014/main" val="1272075647"/>
                    </a:ext>
                  </a:extLst>
                </a:gridCol>
                <a:gridCol w="2465692">
                  <a:extLst>
                    <a:ext uri="{9D8B030D-6E8A-4147-A177-3AD203B41FA5}">
                      <a16:colId xmlns:a16="http://schemas.microsoft.com/office/drawing/2014/main" val="3737987682"/>
                    </a:ext>
                  </a:extLst>
                </a:gridCol>
              </a:tblGrid>
              <a:tr h="249869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開放理由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開放結果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41466"/>
                  </a:ext>
                </a:extLst>
              </a:tr>
              <a:tr h="37480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EOBL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→操油課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BL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操油→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EO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課へ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N2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圧送、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N2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共配品は色相問題なし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日間滞留）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74419"/>
                  </a:ext>
                </a:extLst>
              </a:tr>
              <a:tr h="37480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T-555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（製品タンク）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塔塔壁に黒色付着物ありのため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底部に若干の異物、底部側板に茶褐色の汚れ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洗浄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71754"/>
                  </a:ext>
                </a:extLst>
              </a:tr>
              <a:tr h="25301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T-615</a:t>
                      </a:r>
                      <a:r>
                        <a:rPr kumimoji="1" lang="ja-JP" altLang="en-US" sz="12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（製品タンク）</a:t>
                      </a:r>
                      <a:endParaRPr kumimoji="1" lang="ja-JP" altLang="en-US" sz="12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塔塔壁に黒色付着物ありのため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洗浄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82080"/>
                  </a:ext>
                </a:extLst>
              </a:tr>
              <a:tr h="25301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T-604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（製品タンク）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34315"/>
                  </a:ext>
                </a:extLst>
              </a:tr>
              <a:tr h="253014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船出荷ライン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液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HOLD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とし、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S/U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後の船出荷先を「色相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30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以上許容されるユーザー」</a:t>
                      </a:r>
                      <a:r>
                        <a:rPr kumimoji="1" lang="ja-JP" altLang="en-US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へ出荷</a:t>
                      </a:r>
                      <a:endParaRPr kumimoji="1" lang="ja-JP" altLang="en-US" sz="10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48259"/>
                  </a:ext>
                </a:extLst>
              </a:tr>
              <a:tr h="253014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ローリー、出荷ライン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液押し、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N2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24120"/>
                  </a:ext>
                </a:extLst>
              </a:tr>
              <a:tr h="253014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ドラム、石油缶出荷ライン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液押し、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N2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95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39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BB83-91E6-5E94-5824-318D570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1AC52-1C37-22AE-7C12-C8CC4DEF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基礎研で検証された</a:t>
            </a:r>
            <a:r>
              <a:rPr kumimoji="1" lang="ja-JP" altLang="en-US"/>
              <a:t>事実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F15C17-205A-CA3E-CB64-74F72BB2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■ 色相悪化物質の正体を調べた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・着色物質をGPC・GCで分析した → 分子量200〜800の共役の長い化合物（ポリエナール類）と分かった。量はごく微量（ppbオーダー）。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■ 鉄サビで色相悪化が起きるかを調べた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・鉄サビ（C-1503付着物・タンク異物）をDEGに加えて保管した → 色相悪化の450nmは現れなかった。＝鉄サビは色相悪化物質を作らない。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■ アルデヒドだけで色相悪化が起きるかを調べた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・アルデヒド（A-ALD・F-ALD）をDEGに加えて保管した（12日） → 450nmは現れなかった。＝アルデヒドを加えただけでは色相悪化は再現しない。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・ラボでEG反応系を模擬してアルデヒドを加えた → UV（短波長側）が悪化した（F-ALDとA-ALDの両方があるとより大きい）。＝アルデヒドがUV悪化のもとになることは確認。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※ 色相悪化（450nm）そのものを再現するには至っていない（要追検証）。</a:t>
            </a:r>
          </a:p>
        </p:txBody>
      </p:sp>
    </p:spTree>
    <p:extLst>
      <p:ext uri="{BB962C8B-B14F-4D97-AF65-F5344CB8AC3E}">
        <p14:creationId xmlns:p14="http://schemas.microsoft.com/office/powerpoint/2010/main" val="24050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75B0C-238A-4B74-9BB8-63C9C0770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50" y="475124"/>
            <a:ext cx="9548530" cy="369332"/>
          </a:xfrm>
        </p:spPr>
        <p:txBody>
          <a:bodyPr/>
          <a:lstStyle/>
          <a:p>
            <a:r>
              <a:rPr kumimoji="1" lang="ja-JP" altLang="en-US"/>
              <a:t>サンプル分析</a:t>
            </a:r>
            <a:br>
              <a:rPr kumimoji="1" lang="ja-JP" altLang="en-US"/>
            </a:b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F9E6C1-3B69-FDBD-95F8-81C312BB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5FDAF93-FFDB-0A8D-C9CF-44D69F6F0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01517"/>
              </p:ext>
            </p:extLst>
          </p:nvPr>
        </p:nvGraphicFramePr>
        <p:xfrm>
          <a:off x="129920" y="660593"/>
          <a:ext cx="10169113" cy="4284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182">
                  <a:extLst>
                    <a:ext uri="{9D8B030D-6E8A-4147-A177-3AD203B41FA5}">
                      <a16:colId xmlns:a16="http://schemas.microsoft.com/office/drawing/2014/main" val="212039734"/>
                    </a:ext>
                  </a:extLst>
                </a:gridCol>
                <a:gridCol w="2477944">
                  <a:extLst>
                    <a:ext uri="{9D8B030D-6E8A-4147-A177-3AD203B41FA5}">
                      <a16:colId xmlns:a16="http://schemas.microsoft.com/office/drawing/2014/main" val="2370142299"/>
                    </a:ext>
                  </a:extLst>
                </a:gridCol>
                <a:gridCol w="4969987">
                  <a:extLst>
                    <a:ext uri="{9D8B030D-6E8A-4147-A177-3AD203B41FA5}">
                      <a16:colId xmlns:a16="http://schemas.microsoft.com/office/drawing/2014/main" val="3780125633"/>
                    </a:ext>
                  </a:extLst>
                </a:gridCol>
              </a:tblGrid>
              <a:tr h="563273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サンプル採取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41466"/>
                  </a:ext>
                </a:extLst>
              </a:tr>
              <a:tr h="294038">
                <a:tc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C-1503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DEG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塔壁黒色付着物</a:t>
                      </a:r>
                      <a:endParaRPr kumimoji="1" lang="en-US" altLang="ja-JP" sz="11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MID</a:t>
                      </a:r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充填層塔壁</a:t>
                      </a:r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TG/DTA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：水＋有機物 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47%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、無機物 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53%</a:t>
                      </a:r>
                    </a:p>
                    <a:p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XRF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：無機物の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98.5%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が鉄 → ほぼサビと推定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lang="ja-JP" altLang="ja-JP" sz="1200">
                          <a:effectLst/>
                        </a:rPr>
                        <a:t>黒色付着物の粒径測定</a:t>
                      </a:r>
                      <a:endParaRPr lang="en-US" altLang="ja-JP" sz="1200">
                        <a:effectLst/>
                      </a:endParaRPr>
                    </a:p>
                    <a:p>
                      <a:endParaRPr kumimoji="1" lang="en-US" altLang="ja-JP" sz="120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付着物を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に添加し遮光・窒素雰囲気下で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日間保管した際の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UV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変化</a:t>
                      </a:r>
                      <a:r>
                        <a:rPr kumimoji="1" lang="ja-JP" altLang="en-US" sz="1200" b="0" i="0" kern="1200">
                          <a:solidFill>
                            <a:schemeClr val="dk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付着物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添加</a:t>
                      </a:r>
                      <a:r>
                        <a:rPr kumimoji="1" lang="ja-JP" alt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ja-JP" alt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付着物量に比例して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UV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が上昇するが、ピーク波長は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 nm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付近であり、実機の</a:t>
                      </a:r>
                      <a:r>
                        <a:rPr kumimoji="1" lang="en-US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 nm</a:t>
                      </a:r>
                      <a:r>
                        <a:rPr kumimoji="1" lang="ja-JP" altLang="ja-JP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ピーク成長とは別の現象と評価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kumimoji="1" lang="en-US" altLang="ja-JP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 fontAlgn="base"/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</a:t>
                      </a:r>
                      <a:r>
                        <a:rPr kumimoji="1" lang="ja-JP" alt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に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付着物を</a:t>
                      </a:r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添加し蒸留留出</a:t>
                      </a:r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を遮光＆</a:t>
                      </a:r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雰囲気で室温保管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 fontAlgn="base"/>
                      <a:r>
                        <a:rPr kumimoji="1" lang="ja-JP" alt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蒸留</a:t>
                      </a:r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日経過後、</a:t>
                      </a:r>
                      <a:r>
                        <a:rPr kumimoji="1" lang="en-US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 nm</a:t>
                      </a:r>
                      <a:r>
                        <a:rPr kumimoji="1" lang="ja-JP" altLang="ja-JP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ピーク成分の</a:t>
                      </a:r>
                      <a:r>
                        <a:rPr kumimoji="1" lang="ja-JP" alt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上昇なし</a:t>
                      </a:r>
                      <a:endParaRPr kumimoji="1" lang="en-US" altLang="ja-JP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442977"/>
                  </a:ext>
                </a:extLst>
              </a:tr>
              <a:tr h="322305">
                <a:tc rowSpan="2">
                  <a:txBody>
                    <a:bodyPr/>
                    <a:lstStyle/>
                    <a:p>
                      <a:r>
                        <a:rPr kumimoji="1" lang="en-US" altLang="ja-JP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T-555</a:t>
                      </a:r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タンク内部の異物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元素分析ではほぼ鉄であり、鉄錆と推定される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655245"/>
                  </a:ext>
                </a:extLst>
              </a:tr>
              <a:tr h="207196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入口ドレン滞留</a:t>
                      </a:r>
                      <a:r>
                        <a:rPr kumimoji="1" lang="en-US" altLang="ja-JP" sz="11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DEG</a:t>
                      </a:r>
                      <a:endParaRPr kumimoji="1" lang="ja-JP" altLang="en-US" sz="11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93724"/>
                  </a:ext>
                </a:extLst>
              </a:tr>
              <a:tr h="207196">
                <a:tc>
                  <a:txBody>
                    <a:bodyPr/>
                    <a:lstStyle/>
                    <a:p>
                      <a:endParaRPr kumimoji="1" lang="en-US" altLang="ja-JP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687806"/>
                  </a:ext>
                </a:extLst>
              </a:tr>
              <a:tr h="207196"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19634"/>
                  </a:ext>
                </a:extLst>
              </a:tr>
              <a:tr h="207196"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82441"/>
                  </a:ext>
                </a:extLst>
              </a:tr>
              <a:tr h="230218"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6351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F4F075-5725-7938-0A8E-21180FC1C2C5}"/>
              </a:ext>
            </a:extLst>
          </p:cNvPr>
          <p:cNvSpPr txBox="1"/>
          <p:nvPr/>
        </p:nvSpPr>
        <p:spPr>
          <a:xfrm>
            <a:off x="128016" y="5074920"/>
            <a:ext cx="1016812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  <a:ea typeface="游ゴシック"/>
                <a:cs typeface="游ゴシック"/>
              </a:rPr>
              <a:t>鉄錆と色相悪化（450 nm）の関係</a:t>
            </a:r>
          </a:p>
          <a:p>
            <a:r>
              <a:rPr sz="1400" b="0">
                <a:latin typeface="Arial"/>
                <a:ea typeface="游ゴシック"/>
                <a:cs typeface="游ゴシック"/>
              </a:rPr>
              <a:t>・T-555内部異物・DEG塔付着物はいずれもXRF／元素分析でほぼ鉄であり、鉄錆と推定</a:t>
            </a:r>
          </a:p>
          <a:p>
            <a:r>
              <a:rPr sz="1400" b="0">
                <a:latin typeface="Arial"/>
                <a:ea typeface="游ゴシック"/>
                <a:cs typeface="游ゴシック"/>
              </a:rPr>
              <a:t>・付着物をDEGに添加した試験では 380 nm 吸収のみが上昇し、本件色相悪化の指標である 450 nm ピークは形成されない</a:t>
            </a:r>
          </a:p>
          <a:p>
            <a:r>
              <a:rPr sz="1400" b="0">
                <a:latin typeface="Arial"/>
                <a:ea typeface="游ゴシック"/>
                <a:cs typeface="游ゴシック"/>
              </a:rPr>
              <a:t>　（蒸留留出DEGへの1%添加・遮光窒素雰囲気保管でも 450 nm の上昇なし）</a:t>
            </a:r>
          </a:p>
          <a:p>
            <a:r>
              <a:rPr sz="1400" b="0">
                <a:latin typeface="Arial"/>
                <a:ea typeface="游ゴシック"/>
                <a:cs typeface="游ゴシック"/>
              </a:rPr>
              <a:t>・したがって鉄錆は 450 nm 発色には寄与せず、本件の色相悪化（450 nm 成長）とは別機構と判断</a:t>
            </a:r>
          </a:p>
          <a:p>
            <a:r>
              <a:rPr sz="1400" b="0">
                <a:latin typeface="Arial"/>
                <a:ea typeface="游ゴシック"/>
                <a:cs typeface="游ゴシック"/>
              </a:rPr>
              <a:t>・タンク・塔は清掃済であり、スタートアップへの影響は小さい</a:t>
            </a:r>
          </a:p>
        </p:txBody>
      </p:sp>
    </p:spTree>
    <p:extLst>
      <p:ext uri="{BB962C8B-B14F-4D97-AF65-F5344CB8AC3E}">
        <p14:creationId xmlns:p14="http://schemas.microsoft.com/office/powerpoint/2010/main" val="116119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43ED0-E73F-112B-3867-DE65C246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スタートアップ時の対応</a:t>
            </a:r>
            <a:r>
              <a:rPr lang="en-US" altLang="ja-JP"/>
              <a:t>_</a:t>
            </a:r>
            <a:r>
              <a:rPr lang="ja-JP" altLang="en-US"/>
              <a:t>運転対応、設備対応、出荷対応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EF7BCF-1BBC-632A-FFC3-EA250289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B85C563B-C748-A8CA-E36E-FC813D742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487805"/>
              </p:ext>
            </p:extLst>
          </p:nvPr>
        </p:nvGraphicFramePr>
        <p:xfrm>
          <a:off x="411480" y="1078992"/>
          <a:ext cx="11430000" cy="337500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59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区分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項目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FFFFFF"/>
                          </a:solidFill>
                        </a:rPr>
                        <a:t>対応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741">
                <a:tc rowSpan="3"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運転対応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NaOH 投入有無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G-ALD抑制</a:t>
                      </a:r>
                      <a:r>
                        <a:rPr lang="ja-JP" altLang="en-US" sz="1600" b="0"/>
                        <a:t>のため投入したいが</a:t>
                      </a:r>
                      <a:r>
                        <a:rPr sz="1600" b="0"/>
                        <a:t>、</a:t>
                      </a:r>
                      <a:r>
                        <a:rPr lang="ja-JP" altLang="en-US" sz="1600" b="0"/>
                        <a:t>不純物（</a:t>
                      </a:r>
                      <a:r>
                        <a:rPr sz="1600" b="0"/>
                        <a:t>ALD</a:t>
                      </a:r>
                      <a:r>
                        <a:rPr lang="ja-JP" altLang="en-US" sz="1600" b="0"/>
                        <a:t>）</a:t>
                      </a:r>
                      <a:r>
                        <a:rPr sz="1600" b="0"/>
                        <a:t>が高い状態での添加は</a:t>
                      </a:r>
                      <a:r>
                        <a:rPr lang="en-US" altLang="ja-JP" sz="1600" b="0"/>
                        <a:t>ALD</a:t>
                      </a:r>
                      <a:r>
                        <a:rPr lang="ja-JP" altLang="en-US" sz="1600" b="0"/>
                        <a:t>の</a:t>
                      </a:r>
                      <a:r>
                        <a:rPr sz="1600" b="0"/>
                        <a:t>アルドール反応を促進し悪影響の懸念</a:t>
                      </a:r>
                      <a:r>
                        <a:rPr lang="ja-JP" altLang="en-US" sz="1600" b="0"/>
                        <a:t>あり</a:t>
                      </a:r>
                      <a:r>
                        <a:rPr sz="1600" b="0"/>
                        <a:t>。</a:t>
                      </a:r>
                      <a:r>
                        <a:rPr lang="ja-JP" altLang="en-US" sz="1600" b="0"/>
                        <a:t>　</a:t>
                      </a:r>
                      <a:endParaRPr lang="en-US" sz="1600" b="0"/>
                    </a:p>
                    <a:p>
                      <a:r>
                        <a:rPr sz="1600" b="0"/>
                        <a:t>EO</a:t>
                      </a:r>
                      <a:r>
                        <a:rPr lang="ja-JP" altLang="en-US" sz="1600" b="0"/>
                        <a:t>プラントでの</a:t>
                      </a:r>
                      <a:r>
                        <a:rPr sz="1600" b="0"/>
                        <a:t>不純物低減を確認した上で</a:t>
                      </a:r>
                      <a:r>
                        <a:rPr lang="ja-JP" altLang="en-US" sz="1600" b="0"/>
                        <a:t>投入タイミングを</a:t>
                      </a:r>
                      <a:r>
                        <a:rPr sz="1600" b="0"/>
                        <a:t>判断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596">
                <a:tc vMerge="1">
                  <a:txBody>
                    <a:bodyPr/>
                    <a:lstStyle/>
                    <a:p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54864" marR="45720" marT="18288" marB="18288"/>
                </a:tc>
                <a:tc>
                  <a:txBody>
                    <a:bodyPr/>
                    <a:lstStyle/>
                    <a:p>
                      <a:r>
                        <a:rPr sz="1600" b="0"/>
                        <a:t>リン酸（Na3PO4）投入有無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G-ALD抑制。DEG色相の改善傾向の実績あり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76">
                <a:tc vMerge="1">
                  <a:txBody>
                    <a:bodyPr/>
                    <a:lstStyle/>
                    <a:p>
                      <a:endParaRPr sz="105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/>
                </a:tc>
                <a:tc>
                  <a:txBody>
                    <a:bodyPr/>
                    <a:lstStyle/>
                    <a:p>
                      <a:r>
                        <a:rPr sz="1600" b="0"/>
                        <a:t>C-1501 塔底温度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不純物・HUV220の確認結果に基づき、</a:t>
                      </a:r>
                      <a:r>
                        <a:rPr lang="ja-JP" altLang="en-US" sz="1600" b="0"/>
                        <a:t>温度を</a:t>
                      </a:r>
                      <a:r>
                        <a:rPr sz="1600" b="0"/>
                        <a:t>下げるか否かを判断。</a:t>
                      </a:r>
                      <a:endParaRPr lang="en-US" sz="1600" b="0"/>
                    </a:p>
                    <a:p>
                      <a:r>
                        <a:rPr lang="en-US" sz="1600" b="0"/>
                        <a:t>(</a:t>
                      </a:r>
                      <a:r>
                        <a:rPr sz="1600" b="0"/>
                        <a:t>不純物高・HUV高の状態では安易に下げない</a:t>
                      </a:r>
                      <a:r>
                        <a:rPr lang="en-US" sz="1600" b="0"/>
                        <a:t>)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5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設備対応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製品DEGポンプ吸入ストレーナー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製品DEGラインへの異物混入抑制のためメッシュを細密化（40→250メッシュ）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596">
                <a:tc rowSpan="2"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出荷</a:t>
                      </a:r>
                      <a:r>
                        <a:rPr lang="ja-JP" altLang="en-US" sz="1600" b="1">
                          <a:solidFill>
                            <a:schemeClr val="tx1"/>
                          </a:solidFill>
                        </a:rPr>
                        <a:t>対応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オンスペック判断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各分析結果から製品としての可否を判断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607">
                <a:tc vMerge="1">
                  <a:txBody>
                    <a:bodyPr/>
                    <a:lstStyle/>
                    <a:p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54864" marR="45720" marT="18288" marB="18288"/>
                </a:tc>
                <a:tc>
                  <a:txBody>
                    <a:bodyPr/>
                    <a:lstStyle/>
                    <a:p>
                      <a:r>
                        <a:rPr sz="1600" b="0"/>
                        <a:t>出荷再開可否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上記判断を満たした段階で出荷を再開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54864" marR="45720" marT="18288" marB="1828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940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227A-EF4A-9071-2098-B73F25C0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11FDB-8EEC-51F4-6FC3-667BC0FA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運転対応実績</a:t>
            </a:r>
            <a:r>
              <a:rPr lang="ja-JP" altLang="en-US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と</a:t>
            </a:r>
            <a:r>
              <a:rPr lang="en-US" altLang="ja-JP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DEG</a:t>
            </a:r>
            <a:r>
              <a:rPr lang="ja-JP" altLang="en-US"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色相改善効果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601425C-0264-7956-7574-140731750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1D4E68-F542-47F2-4233-0393B95D8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プロセス技術部</a:t>
            </a:r>
            <a:r>
              <a:rPr lang="en-US" altLang="ja-JP"/>
              <a:t>EOG</a:t>
            </a:r>
            <a:r>
              <a:rPr lang="ja-JP" altLang="en-US"/>
              <a:t>モデルチェンジ</a:t>
            </a:r>
            <a:r>
              <a:rPr lang="en-US" altLang="ja-JP"/>
              <a:t>PJ</a:t>
            </a:r>
            <a:endParaRPr lang="ja-JP" altLang="en-US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86C3B785-6DA5-A7D6-EB05-31A40983B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34424"/>
              </p:ext>
            </p:extLst>
          </p:nvPr>
        </p:nvGraphicFramePr>
        <p:xfrm>
          <a:off x="365760" y="1036320"/>
          <a:ext cx="10850880" cy="4681728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実施事項</a:t>
                      </a:r>
                      <a:endParaRPr lang="en-US" sz="15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期間</a:t>
                      </a:r>
                      <a:endParaRPr lang="en-US" sz="15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DEG</a:t>
                      </a:r>
                      <a:r>
                        <a:rPr lang="ja-JP" altLang="en-US" sz="1500" b="1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色相影響</a:t>
                      </a:r>
                      <a:endParaRPr lang="en-US" sz="15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NaOH添加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2/26〜3/30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EG-BL回収率ダウン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3/5〜4/16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C-1501塔底温度ダウン (166〜167℃)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3月下旬〜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V-1403圧力ダウン (0.7→0.65MPaG)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3/30〜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MEG-R量低減 (8.5→5t/h)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4/18〜4/24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Na3PO4添加 (G-ALD抑制目的)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4/20〜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DEGリサイクル塔抜出増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4/9〜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C-1404 TOP水リサイクルカット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4/14〜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クエンチ補給+1t/h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4/16〜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EO脱水塔BTM抜出 2.5→3.5t/h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4/16〜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1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EG-B回収率 85→75%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4/16〜</a:t>
                      </a:r>
                      <a:endParaRPr lang="en-US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30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動作設定ボタン: 戻る/前へ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2B4C5D6-8BA4-3C69-3330-34A6E88B8299}"/>
              </a:ext>
            </a:extLst>
          </p:cNvPr>
          <p:cNvSpPr/>
          <p:nvPr/>
        </p:nvSpPr>
        <p:spPr>
          <a:xfrm>
            <a:off x="11656194" y="6474645"/>
            <a:ext cx="293305" cy="239419"/>
          </a:xfrm>
          <a:prstGeom prst="actionButtonBackPrevious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10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FC2DB-6DF8-11F9-0F29-ED7131BE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15</a:t>
            </a:fld>
            <a:endParaRPr kumimoji="1" lang="ja-JP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358930"/>
              </p:ext>
            </p:extLst>
          </p:nvPr>
        </p:nvGraphicFramePr>
        <p:xfrm>
          <a:off x="242501" y="1120228"/>
          <a:ext cx="11761603" cy="34655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434">
                  <a:extLst>
                    <a:ext uri="{9D8B030D-6E8A-4147-A177-3AD203B41FA5}">
                      <a16:colId xmlns:a16="http://schemas.microsoft.com/office/drawing/2014/main" val="2095822033"/>
                    </a:ext>
                  </a:extLst>
                </a:gridCol>
                <a:gridCol w="2883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区分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分析</a:t>
                      </a:r>
                      <a:r>
                        <a:rPr lang="ja-JP" altLang="en-US" sz="1600" b="1">
                          <a:solidFill>
                            <a:srgbClr val="FFFFFF"/>
                          </a:solidFill>
                        </a:rPr>
                        <a:t>箇所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分析項目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ねらい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管理基準値</a:t>
                      </a:r>
                      <a:endParaRPr lang="en-US" sz="16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対応者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頻度</a:t>
                      </a:r>
                      <a:endParaRPr sz="16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4"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製品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r>
                        <a:rPr lang="ja-JP" altLang="en-US" sz="1600" b="0"/>
                        <a:t>製品</a:t>
                      </a:r>
                      <a:r>
                        <a:rPr lang="en-US" altLang="ja-JP" sz="1600" b="0"/>
                        <a:t>DEG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 b="0"/>
                        <a:t>色相（</a:t>
                      </a:r>
                      <a:r>
                        <a:rPr lang="en-US" sz="1600" b="0"/>
                        <a:t>APHA）</a:t>
                      </a:r>
                      <a:endParaRPr 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sz="3200">
                        <a:solidFill>
                          <a:schemeClr val="tx1"/>
                        </a:solidFill>
                      </a:endParaRPr>
                    </a:p>
                  </a:txBody>
                  <a:tcPr marL="45720" marR="36576" marT="13716" marB="1371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sz="12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pH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UV（330 / 450 nm）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色相悪化の指標（450 nm）を吸光度で早期に把握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471889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sz="3200">
                        <a:solidFill>
                          <a:schemeClr val="tx1"/>
                        </a:solidFill>
                      </a:endParaRPr>
                    </a:p>
                  </a:txBody>
                  <a:tcPr marL="45720" marR="36576" marT="13716" marB="13716"/>
                </a:tc>
                <a:tc vMerge="1">
                  <a:txBody>
                    <a:bodyPr/>
                    <a:lstStyle/>
                    <a:p>
                      <a:endParaRPr sz="12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/>
                </a:tc>
                <a:tc>
                  <a:txBody>
                    <a:bodyPr/>
                    <a:lstStyle/>
                    <a:p>
                      <a:r>
                        <a:rPr sz="1600" b="0"/>
                        <a:t>経時変化（N2・遮光保管）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保管中に色相が成長しないか（悪化の進行）を確認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rowSpan="4"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EO</a:t>
                      </a:r>
                      <a:r>
                        <a:rPr lang="ja-JP" altLang="en-US" sz="1600" b="1">
                          <a:solidFill>
                            <a:schemeClr val="tx1"/>
                          </a:solidFill>
                        </a:rPr>
                        <a:t>プラント</a:t>
                      </a:r>
                      <a:endParaRPr lang="en-US" altLang="ja-JP" sz="1600" b="1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ja-JP" altLang="en-US" sz="1600" b="1">
                          <a:solidFill>
                            <a:schemeClr val="tx1"/>
                          </a:solidFill>
                        </a:rPr>
                        <a:t>不純部</a:t>
                      </a:r>
                      <a:r>
                        <a:rPr sz="1600" b="1">
                          <a:solidFill>
                            <a:schemeClr val="tx1"/>
                          </a:solidFill>
                        </a:rPr>
                        <a:t>バランス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600" b="0"/>
                        <a:t>EO</a:t>
                      </a:r>
                      <a:r>
                        <a:rPr lang="ja-JP" altLang="en-US" sz="1600" b="0"/>
                        <a:t>精製塔</a:t>
                      </a:r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600" b="0"/>
                        <a:t>ALD</a:t>
                      </a:r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sz="3200">
                        <a:solidFill>
                          <a:schemeClr val="tx1"/>
                        </a:solidFill>
                      </a:endParaRPr>
                    </a:p>
                  </a:txBody>
                  <a:tcPr marL="45720" marR="36576" marT="13716" marB="13716"/>
                </a:tc>
                <a:tc>
                  <a:txBody>
                    <a:bodyPr/>
                    <a:lstStyle/>
                    <a:p>
                      <a:r>
                        <a:rPr lang="en-US" altLang="ja-JP" sz="1600" b="0"/>
                        <a:t>EO</a:t>
                      </a:r>
                      <a:r>
                        <a:rPr lang="ja-JP" altLang="en-US" sz="1600" b="0"/>
                        <a:t>脱水塔</a:t>
                      </a:r>
                      <a:r>
                        <a:rPr lang="en-US" altLang="ja-JP" sz="1600" b="0"/>
                        <a:t>BTM</a:t>
                      </a:r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 b="0">
                          <a:latin typeface="游ゴシック"/>
                          <a:ea typeface="游ゴシック"/>
                          <a:cs typeface="游ゴシック"/>
                        </a:rPr>
                        <a:t>ジオキサン</a:t>
                      </a: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sz="3200">
                        <a:solidFill>
                          <a:schemeClr val="tx1"/>
                        </a:solidFill>
                      </a:endParaRPr>
                    </a:p>
                  </a:txBody>
                  <a:tcPr marL="45720" marR="36576" marT="13716" marB="13716"/>
                </a:tc>
                <a:tc>
                  <a:txBody>
                    <a:bodyPr/>
                    <a:lstStyle/>
                    <a:p>
                      <a:r>
                        <a:rPr lang="ja-JP" altLang="en-US" sz="1600" b="0">
                          <a:latin typeface="游ゴシック"/>
                          <a:ea typeface="游ゴシック"/>
                          <a:cs typeface="游ゴシック"/>
                        </a:rPr>
                        <a:t>排水系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 b="0">
                          <a:latin typeface="游ゴシック"/>
                          <a:ea typeface="游ゴシック"/>
                          <a:cs typeface="游ゴシック"/>
                        </a:rPr>
                        <a:t>有機酸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ja-JP" altLang="en-US"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sz="3200">
                        <a:solidFill>
                          <a:schemeClr val="tx1"/>
                        </a:solidFill>
                      </a:endParaRPr>
                    </a:p>
                  </a:txBody>
                  <a:tcPr marL="45720" marR="36576" marT="13716" marB="13716"/>
                </a:tc>
                <a:tc>
                  <a:txBody>
                    <a:bodyPr/>
                    <a:lstStyle/>
                    <a:p>
                      <a:r>
                        <a:rPr lang="en-US" altLang="ja-JP" sz="1600" b="0"/>
                        <a:t>EO</a:t>
                      </a:r>
                      <a:r>
                        <a:rPr lang="ja-JP" altLang="en-US" sz="1600" b="0"/>
                        <a:t>反応器出口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0"/>
                        <a:t>ALD</a:t>
                      </a:r>
                      <a:r>
                        <a:rPr lang="ja-JP" altLang="en-US" sz="1600" b="0"/>
                        <a:t>、有機酸、ジオキサン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</a:rPr>
                        <a:t>EG</a:t>
                      </a:r>
                      <a:r>
                        <a:rPr lang="ja-JP" altLang="en-US" sz="1600" b="1">
                          <a:solidFill>
                            <a:schemeClr val="tx1"/>
                          </a:solidFill>
                        </a:rPr>
                        <a:t>プラント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ja-JP" altLang="en-US" sz="1600" b="1">
                          <a:solidFill>
                            <a:schemeClr val="tx1"/>
                          </a:solidFill>
                        </a:rPr>
                        <a:t>不純物</a:t>
                      </a:r>
                      <a:r>
                        <a:rPr sz="1600" b="1">
                          <a:solidFill>
                            <a:schemeClr val="tx1"/>
                          </a:solidFill>
                        </a:rPr>
                        <a:t>バランス</a:t>
                      </a:r>
                      <a:endParaRPr sz="1600" b="1">
                        <a:solidFill>
                          <a:schemeClr val="tx1"/>
                        </a:solidFill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600" b="0">
                          <a:latin typeface="游ゴシック"/>
                          <a:ea typeface="游ゴシック"/>
                          <a:cs typeface="游ゴシック"/>
                        </a:rPr>
                        <a:t>EG</a:t>
                      </a:r>
                      <a:r>
                        <a:rPr lang="ja-JP" altLang="en-US" sz="1600" b="0">
                          <a:latin typeface="游ゴシック"/>
                          <a:ea typeface="游ゴシック"/>
                          <a:cs typeface="游ゴシック"/>
                        </a:rPr>
                        <a:t>系各所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ALD</a:t>
                      </a:r>
                      <a:r>
                        <a:rPr lang="ja-JP" altLang="en-US" sz="1600" b="0"/>
                        <a:t>、有機酸</a:t>
                      </a:r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 b="0">
                        <a:latin typeface="游ゴシック"/>
                        <a:ea typeface="游ゴシック"/>
                        <a:cs typeface="游ゴシック"/>
                      </a:endParaRPr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 marL="45720" marR="36576" marT="13716" marB="13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0FC2DB11-DEBE-7DFC-3CAE-D7E02B69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6" y="255264"/>
            <a:ext cx="5347193" cy="369332"/>
          </a:xfrm>
        </p:spPr>
        <p:txBody>
          <a:bodyPr/>
          <a:lstStyle/>
          <a:p>
            <a:r>
              <a:rPr lang="ja-JP" altLang="en-US"/>
              <a:t>スタートアップ時の対応</a:t>
            </a:r>
            <a:r>
              <a:rPr lang="en-US" altLang="ja-JP"/>
              <a:t>_</a:t>
            </a:r>
            <a:r>
              <a:rPr lang="ja-JP" altLang="en-US"/>
              <a:t>分析項目</a:t>
            </a:r>
          </a:p>
        </p:txBody>
      </p:sp>
    </p:spTree>
    <p:extLst>
      <p:ext uri="{BB962C8B-B14F-4D97-AF65-F5344CB8AC3E}">
        <p14:creationId xmlns:p14="http://schemas.microsoft.com/office/powerpoint/2010/main" val="365779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A1F877-65DA-8C28-8335-4DC372CF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FC45CA-1C04-5BC3-ABBE-9DD199E29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0C8794-3853-47EB-E146-0CDD2727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0B4A2A-6DE5-6E9F-E133-12760C53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608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5204-03B2-7BA8-B7EB-C2785559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7" y="-37813"/>
            <a:ext cx="9548530" cy="369332"/>
          </a:xfrm>
        </p:spPr>
        <p:txBody>
          <a:bodyPr/>
          <a:lstStyle/>
          <a:p>
            <a:r>
              <a:rPr lang="ja-JP" altLang="en-US" sz="1600"/>
              <a:t>DEG色相悪化メカニズム（推定）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891E-B3A2-86E1-E847-099CA0B7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13" y="474201"/>
            <a:ext cx="11848488" cy="623986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ja-JP" altLang="en-US" sz="1200" b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着色原因物質の分析（基礎研</a:t>
            </a:r>
            <a:r>
              <a:rPr lang="en-US" sz="1200" b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  <a:endParaRPr lang="en-US" sz="12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・GPC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にてブロードピークが確認され、分子量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200～800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の範囲であることが判明</a:t>
            </a:r>
            <a:endParaRPr lang="en-US" altLang="ja-JP" sz="1200">
              <a:cs typeface="Arial"/>
            </a:endParaRPr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・予想されるポリエナールの分子量は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278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から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26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ずつ増加し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300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前後であり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、GPC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結果と整合</a:t>
            </a:r>
            <a:endParaRPr lang="en-US" sz="1200"/>
          </a:p>
          <a:p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・457 nm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でクロマトをかけると複数ピークが検出され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、450 nm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に相関する化合物が複数存在することが示唆</a:t>
            </a:r>
            <a:endParaRPr lang="en-US" sz="1200">
              <a:cs typeface="Arial"/>
            </a:endParaRPr>
          </a:p>
          <a:p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・GC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では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6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検体が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UV（457 nm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）で捕捉され、分子量は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200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後半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～340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の範囲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・複数検体が類似のフラグメントパターン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（m/z = 57, 71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等）を持ち、ポリエナール由来と考えられる</a:t>
            </a:r>
            <a:endParaRPr lang="en-US" altLang="ja-JP" sz="1200">
              <a:cs typeface="Arial"/>
            </a:endParaRPr>
          </a:p>
          <a:p>
            <a:r>
              <a:rPr lang="en-US" altLang="ja-JP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・LC-MS</a:t>
            </a:r>
            <a:r>
              <a:rPr lang="ja-JP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は濃度が低すぎてピーク検出に至っていない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。</a:t>
            </a:r>
            <a:r>
              <a:rPr lang="en-US" altLang="ja-JP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LC</a:t>
            </a:r>
            <a:r>
              <a:rPr lang="ja-JP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分取による外部依頼も選択肢として残っており、継続トライの予定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。</a:t>
            </a:r>
            <a:endParaRPr lang="ja-JP"/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結論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：APHA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上昇に関与する着色物質はポリエナール類として判断している</a:t>
            </a:r>
            <a:endParaRPr lang="en-US" altLang="ja-JP" sz="1200">
              <a:cs typeface="Arial"/>
            </a:endParaRPr>
          </a:p>
          <a:p>
            <a:pPr marL="359410" lvl="1"/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　単一化合物への特定は困難であり、鎖長の異なる複数のポリエナールが寄与していると推定</a:t>
            </a:r>
            <a:endParaRPr lang="en-US" sz="1200">
              <a:cs typeface="Arial"/>
            </a:endParaRPr>
          </a:p>
          <a:p>
            <a:r>
              <a:rPr lang="ja-JP" altLang="en-US" sz="1200" b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推定メカニズムの整理</a:t>
            </a:r>
            <a:endParaRPr lang="en-US" altLang="ja-JP" sz="1200">
              <a:solidFill>
                <a:schemeClr val="accent2">
                  <a:lumMod val="60000"/>
                  <a:lumOff val="40000"/>
                </a:schemeClr>
              </a:solidFill>
              <a:latin typeface="Arial"/>
              <a:ea typeface="游ゴシック Medium"/>
              <a:cs typeface="Arial"/>
            </a:endParaRPr>
          </a:p>
          <a:p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・EO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反応器の選択性低下に伴い、アルデヒド類が通常より多く生成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・後段の反応・精製工程でアルドール縮合反応が進行し、ポリエナール前駆体（分子量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150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程度）が生成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・タンク保管中にさらに鎖伸長反応（脱水縮合）が進行し、分子量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300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前後まで上昇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・分子量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300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前後のポリエナールが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450 nm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に吸収を持ち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、APHA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値が上昇</a:t>
            </a:r>
            <a:endParaRPr lang="en-US" altLang="ja-JP" sz="1200">
              <a:cs typeface="Arial"/>
            </a:endParaRPr>
          </a:p>
          <a:p>
            <a:pPr>
              <a:buFont typeface="Arial"/>
            </a:pPr>
            <a:r>
              <a:rPr lang="ja-JP" altLang="en-US" sz="1200" b="1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その他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pPr>
              <a:buFont typeface="Arial"/>
            </a:pP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・NaOH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添加はアルドール反応を促進するため、大量のアルデヒド発生時には苛性ソーダを入れない方がよい可能性がある。ベンチ試験で確認予定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pPr>
              <a:buFont typeface="Arial"/>
            </a:pP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・窒素雰囲気下で色相悪化が抑制される傾向について、空気存在下では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CO</a:t>
            </a:r>
            <a:r>
              <a:rPr lang="en-US" altLang="ja-JP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₂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溶解による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pH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低下が考えられる。また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、DEG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は吸湿性があるため空気雰囲気下では水分を吸収し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pPr>
              <a:buFont typeface="Arial"/>
            </a:pP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　脱水縮合（鎖伸長反応）が抑制される可能性がある・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pPr>
              <a:buFont typeface="Arial"/>
            </a:pP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・</a:t>
            </a:r>
            <a:r>
              <a:rPr lang="ja-JP" altLang="en-US" sz="120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リン酸ナトリウム添加時に</a:t>
            </a:r>
            <a:r>
              <a:rPr lang="en-US" sz="120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DEG</a:t>
            </a:r>
            <a:r>
              <a:rPr lang="ja-JP" altLang="en-US" sz="120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游ゴシック"/>
                <a:ea typeface="游ゴシック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色相が改善した実績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について、リン酸そのものの効果よりも、リン酸ナトリウムとともに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C-1501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に持ち込まれた水分（数百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ppm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）が</a:t>
            </a:r>
            <a:endParaRPr lang="en-US" altLang="ja-JP" sz="1200">
              <a:solidFill>
                <a:srgbClr val="000000"/>
              </a:solidFill>
              <a:latin typeface="Arial"/>
              <a:ea typeface="游ゴシック Medium"/>
              <a:cs typeface="Arial"/>
            </a:endParaRPr>
          </a:p>
          <a:p>
            <a:pPr>
              <a:buFont typeface="Arial"/>
            </a:pP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　鎖伸長反応を抑制した可能性の方が高い。一方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MEG</a:t>
            </a:r>
            <a:r>
              <a:rPr lang="ja-JP" altLang="en-US" sz="1200">
                <a:solidFill>
                  <a:srgbClr val="242424"/>
                </a:solidFill>
                <a:highlight>
                  <a:srgbClr val="FFFFFF"/>
                </a:highlight>
                <a:latin typeface="游ゴシック"/>
                <a:ea typeface="游ゴシック"/>
              </a:rPr>
              <a:t>についてはグリコールアルデヒドに対するリン酸の効果が主因と考えられる　</a:t>
            </a:r>
            <a:endParaRPr lang="en-US" sz="120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E25AC-8B92-015F-1DC5-E123BBD5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7" name="テキスト ボックス 6">
            <a:hlinkClick r:id="rId5"/>
            <a:extLst>
              <a:ext uri="{FF2B5EF4-FFF2-40B4-BE49-F238E27FC236}">
                <a16:creationId xmlns:a16="http://schemas.microsoft.com/office/drawing/2014/main" id="{C3A1571D-D9E3-6854-6D72-A37725DABE39}"/>
              </a:ext>
            </a:extLst>
          </p:cNvPr>
          <p:cNvSpPr txBox="1"/>
          <p:nvPr/>
        </p:nvSpPr>
        <p:spPr>
          <a:xfrm>
            <a:off x="11070657" y="104868"/>
            <a:ext cx="2242686" cy="369332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100" u="sng">
                <a:solidFill>
                  <a:schemeClr val="accent2">
                    <a:lumMod val="60000"/>
                    <a:lumOff val="40000"/>
                  </a:schemeClr>
                </a:solidFill>
              </a:rPr>
              <a:t>報告書リンク</a:t>
            </a:r>
            <a:endParaRPr kumimoji="1" lang="ja-JP" altLang="en-US" sz="1100" u="sng" err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71D4E0C-87AE-EB5D-62D0-50C80D3FCC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45"/>
          <a:stretch>
            <a:fillRect/>
          </a:stretch>
        </p:blipFill>
        <p:spPr>
          <a:xfrm>
            <a:off x="7806484" y="2774482"/>
            <a:ext cx="3686081" cy="19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92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607B-6555-EBC0-329E-E8E3F569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スタートアップ時の対応</a:t>
            </a:r>
            <a:endParaRPr kumimoji="1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FC2DB-6DF8-11F9-0F29-ED7131BE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82E1C-6185-4585-A153-CAE015F6CA19}" type="slidenum">
              <a:rPr kumimoji="1" lang="ja-JP" altLang="en-US" smtClean="0"/>
              <a:t>18</a:t>
            </a:fld>
            <a:endParaRPr kumimoji="1" lang="ja-JP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BF5BA4-6459-1AC3-226F-C0768EA22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579611"/>
              </p:ext>
            </p:extLst>
          </p:nvPr>
        </p:nvGraphicFramePr>
        <p:xfrm>
          <a:off x="414336" y="786150"/>
          <a:ext cx="7881936" cy="2664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>
                  <a:extLst>
                    <a:ext uri="{9D8B030D-6E8A-4147-A177-3AD203B41FA5}">
                      <a16:colId xmlns:a16="http://schemas.microsoft.com/office/drawing/2014/main" val="89707226"/>
                    </a:ext>
                  </a:extLst>
                </a:gridCol>
                <a:gridCol w="1850491">
                  <a:extLst>
                    <a:ext uri="{9D8B030D-6E8A-4147-A177-3AD203B41FA5}">
                      <a16:colId xmlns:a16="http://schemas.microsoft.com/office/drawing/2014/main" val="2628035854"/>
                    </a:ext>
                  </a:extLst>
                </a:gridCol>
                <a:gridCol w="2267165">
                  <a:extLst>
                    <a:ext uri="{9D8B030D-6E8A-4147-A177-3AD203B41FA5}">
                      <a16:colId xmlns:a16="http://schemas.microsoft.com/office/drawing/2014/main" val="2062048930"/>
                    </a:ext>
                  </a:extLst>
                </a:gridCol>
              </a:tblGrid>
              <a:tr h="439146">
                <a:tc>
                  <a:txBody>
                    <a:bodyPr/>
                    <a:lstStyle/>
                    <a:p>
                      <a:r>
                        <a:rPr lang="ja-JP" altLang="en-US"/>
                        <a:t>分析頻度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EO</a:t>
                      </a:r>
                      <a:r>
                        <a:rPr lang="ja-JP" altLang="en-US"/>
                        <a:t>課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品質検査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250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色相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8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/>
                        <a:t>UV330,450nm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7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/>
                        <a:t>ph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経時変化（</a:t>
                      </a:r>
                      <a:r>
                        <a:rPr lang="en-US" altLang="ja-JP"/>
                        <a:t>N2</a:t>
                      </a:r>
                      <a:r>
                        <a:rPr lang="ja-JP" altLang="en-US"/>
                        <a:t>、遮光）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54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/>
                        <a:t>A-ALD,F-ALD,</a:t>
                      </a:r>
                      <a:r>
                        <a:rPr lang="ja-JP" altLang="en-US"/>
                        <a:t>有機酸、ジオキサン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/>
                        <a:t>EG</a:t>
                      </a:r>
                      <a:r>
                        <a:rPr lang="ja-JP" altLang="en-US"/>
                        <a:t>精製系</a:t>
                      </a:r>
                      <a:r>
                        <a:rPr lang="en-US" altLang="ja-JP"/>
                        <a:t>ALD</a:t>
                      </a:r>
                      <a:r>
                        <a:rPr lang="ja-JP" altLang="en-US"/>
                        <a:t>バランス分析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024101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E93B446-EF06-AA4E-3E7A-C1DE3EA1A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806599"/>
              </p:ext>
            </p:extLst>
          </p:nvPr>
        </p:nvGraphicFramePr>
        <p:xfrm>
          <a:off x="414335" y="3968539"/>
          <a:ext cx="11535163" cy="2606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679">
                  <a:extLst>
                    <a:ext uri="{9D8B030D-6E8A-4147-A177-3AD203B41FA5}">
                      <a16:colId xmlns:a16="http://schemas.microsoft.com/office/drawing/2014/main" val="3671555026"/>
                    </a:ext>
                  </a:extLst>
                </a:gridCol>
                <a:gridCol w="7815484">
                  <a:extLst>
                    <a:ext uri="{9D8B030D-6E8A-4147-A177-3AD203B41FA5}">
                      <a16:colId xmlns:a16="http://schemas.microsoft.com/office/drawing/2014/main" val="630908757"/>
                    </a:ext>
                  </a:extLst>
                </a:gridCol>
              </a:tblGrid>
              <a:tr h="427684">
                <a:tc>
                  <a:txBody>
                    <a:bodyPr/>
                    <a:lstStyle/>
                    <a:p>
                      <a:r>
                        <a:rPr lang="ja-JP" altLang="en-US"/>
                        <a:t>項目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対応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76637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r>
                        <a:rPr lang="ja-JP" altLang="en-US"/>
                        <a:t>オンスペック判断基準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73899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r>
                        <a:rPr lang="ja-JP" altLang="en-US"/>
                        <a:t>顧客払い出し判断基準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69739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r>
                        <a:rPr lang="ja-JP" altLang="en-US"/>
                        <a:t>初期送出タンク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80041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r>
                        <a:rPr lang="en-US" altLang="ja-JP"/>
                        <a:t>NaOH,</a:t>
                      </a:r>
                      <a:r>
                        <a:rPr lang="ja-JP" altLang="en-US"/>
                        <a:t>リン酸投入有無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539494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r>
                        <a:rPr lang="en-US" altLang="ja-JP"/>
                        <a:t>C-1501BTM</a:t>
                      </a:r>
                      <a:r>
                        <a:rPr lang="ja-JP" altLang="en-US"/>
                        <a:t>温度調整指針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678330"/>
                  </a:ext>
                </a:extLst>
              </a:tr>
              <a:tr h="34983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100">
                          <a:hlinkClick r:id="rId2"/>
                        </a:rPr>
                        <a:t>製品</a:t>
                      </a:r>
                      <a:r>
                        <a:rPr lang="en-US" altLang="ja-JP" sz="1100">
                          <a:hlinkClick r:id="rId2"/>
                        </a:rPr>
                        <a:t>DEG</a:t>
                      </a:r>
                      <a:r>
                        <a:rPr lang="ja-JP" altLang="en-US" sz="1100">
                          <a:hlinkClick r:id="rId2"/>
                        </a:rPr>
                        <a:t>ポンプ吸入ストレーナーメッシュ変更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1600"/>
                        <a:t>製品</a:t>
                      </a:r>
                      <a:r>
                        <a:rPr lang="en-US" altLang="ja-JP" sz="1600"/>
                        <a:t>DEG</a:t>
                      </a:r>
                      <a:r>
                        <a:rPr lang="ja-JP" altLang="en-US" sz="1600"/>
                        <a:t>ラインへの異物混入抑制のためメッシュサイズ変更 </a:t>
                      </a:r>
                      <a:r>
                        <a:rPr lang="en-US" altLang="ja-JP" sz="1600"/>
                        <a:t>40</a:t>
                      </a:r>
                      <a:r>
                        <a:rPr lang="ja-JP" altLang="en-US" sz="1600"/>
                        <a:t>⇒</a:t>
                      </a:r>
                      <a:r>
                        <a:rPr lang="en-US" altLang="ja-JP" sz="1600"/>
                        <a:t>250</a:t>
                      </a:r>
                      <a:r>
                        <a:rPr lang="ja-JP" altLang="en-US" sz="1600"/>
                        <a:t>メッシュ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9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967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7F9D-97B9-9191-AAD9-C265F57F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359D6A-788E-8697-0C1A-977AFE90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704"/>
            <a:ext cx="11530675" cy="540000"/>
          </a:xfrm>
        </p:spPr>
        <p:txBody>
          <a:bodyPr/>
          <a:lstStyle/>
          <a:p>
            <a:r>
              <a:rPr lang="en-US" altLang="ja-JP" dirty="0">
                <a:cs typeface="Meiryo UI" panose="020B0604030504040204" pitchFamily="50" charset="-128"/>
              </a:rPr>
              <a:t>【</a:t>
            </a:r>
            <a:r>
              <a:rPr lang="ja-JP" altLang="en-US" dirty="0">
                <a:cs typeface="Meiryo UI" panose="020B0604030504040204" pitchFamily="50" charset="-128"/>
              </a:rPr>
              <a:t>最終報告</a:t>
            </a:r>
            <a:r>
              <a:rPr lang="en-US" altLang="ja-JP" dirty="0">
                <a:cs typeface="Meiryo UI" panose="020B0604030504040204" pitchFamily="50" charset="-128"/>
              </a:rPr>
              <a:t>】</a:t>
            </a:r>
            <a:r>
              <a:rPr lang="ja-JP" altLang="en-US" dirty="0">
                <a:cs typeface="Meiryo UI" panose="020B0604030504040204" pitchFamily="50" charset="-128"/>
              </a:rPr>
              <a:t>茨城事業所 </a:t>
            </a:r>
            <a:r>
              <a:rPr lang="en-US" altLang="ja-JP" dirty="0">
                <a:cs typeface="Meiryo UI" panose="020B0604030504040204" pitchFamily="50" charset="-128"/>
              </a:rPr>
              <a:t>EO</a:t>
            </a:r>
            <a:r>
              <a:rPr lang="ja-JP" altLang="en-US" dirty="0">
                <a:cs typeface="Meiryo UI" panose="020B0604030504040204" pitchFamily="50" charset="-128"/>
              </a:rPr>
              <a:t>課　製品</a:t>
            </a:r>
            <a:r>
              <a:rPr lang="en-US" altLang="ja-JP" dirty="0">
                <a:cs typeface="Meiryo UI" panose="020B0604030504040204" pitchFamily="50" charset="-128"/>
              </a:rPr>
              <a:t>MEG</a:t>
            </a:r>
            <a:r>
              <a:rPr lang="ja-JP" altLang="en-US" dirty="0">
                <a:cs typeface="Meiryo UI" panose="020B0604030504040204" pitchFamily="50" charset="-128"/>
              </a:rPr>
              <a:t>水分上昇による</a:t>
            </a:r>
            <a:r>
              <a:rPr lang="en-US" altLang="ja-JP" dirty="0">
                <a:cs typeface="Meiryo UI" panose="020B0604030504040204" pitchFamily="50" charset="-128"/>
              </a:rPr>
              <a:t>EO/EG</a:t>
            </a:r>
            <a:r>
              <a:rPr lang="ja-JP" altLang="en-US" dirty="0">
                <a:cs typeface="Meiryo UI" panose="020B0604030504040204" pitchFamily="50" charset="-128"/>
              </a:rPr>
              <a:t>プラント停止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70D605-6286-E115-B830-B61FCAA69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19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スライド番号プレースホルダー 2">
            <a:extLst>
              <a:ext uri="{FF2B5EF4-FFF2-40B4-BE49-F238E27FC236}">
                <a16:creationId xmlns:a16="http://schemas.microsoft.com/office/drawing/2014/main" id="{9031DB79-811E-866C-12E2-2CD65F5F8DB2}"/>
              </a:ext>
            </a:extLst>
          </p:cNvPr>
          <p:cNvSpPr txBox="1">
            <a:spLocks/>
          </p:cNvSpPr>
          <p:nvPr/>
        </p:nvSpPr>
        <p:spPr>
          <a:xfrm>
            <a:off x="242501" y="6474646"/>
            <a:ext cx="343672" cy="239418"/>
          </a:xfrm>
          <a:prstGeom prst="rect">
            <a:avLst/>
          </a:prstGeom>
        </p:spPr>
        <p:txBody>
          <a:bodyPr vert="horz" lIns="0" tIns="45720" rIns="91440" bIns="45720" rtlCol="0" anchor="t" anchorCtr="0"/>
          <a:lstStyle>
            <a:defPPr>
              <a:defRPr lang="ja-JP"/>
            </a:defPPr>
            <a:lvl1pPr marL="0" algn="l" defTabSz="914400" rtl="0" eaLnBrk="1" latinLnBrk="0" hangingPunct="1">
              <a:defRPr kumimoji="1"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ja-JP" altLang="en-US" sz="14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433C8C9-2BDA-E18B-8E2F-8481F74C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806" y="1024931"/>
            <a:ext cx="6238246" cy="3260019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9CB7419-DF62-F410-5EA9-5B0BD3F57791}"/>
              </a:ext>
            </a:extLst>
          </p:cNvPr>
          <p:cNvSpPr/>
          <p:nvPr/>
        </p:nvSpPr>
        <p:spPr>
          <a:xfrm>
            <a:off x="194369" y="622397"/>
            <a:ext cx="5353112" cy="5605598"/>
          </a:xfrm>
          <a:prstGeom prst="roundRect">
            <a:avLst>
              <a:gd name="adj" fmla="val 2950"/>
            </a:avLst>
          </a:prstGeom>
          <a:solidFill>
            <a:srgbClr val="FFFF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発生日時：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　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　</a:t>
            </a:r>
            <a:r>
              <a:rPr kumimoji="1"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　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時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発生場所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茨城事業所　化成品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　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EO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　　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EG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プラント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対象設備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塔（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C-1501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発生</a:t>
            </a: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状況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定修後の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EG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プラントスタート後、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製品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の水分濃度が </a:t>
            </a:r>
            <a:endParaRPr kumimoji="1" lang="en-US" altLang="ja-JP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3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           Nor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100ppm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200ppm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に対し、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400ppm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程度で推移。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　  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塔周りの機器からの水分の漏れこみと判断し、　　　　　　　</a:t>
            </a:r>
            <a:endParaRPr kumimoji="1" lang="en-US" altLang="ja-JP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3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      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EO</a:t>
            </a:r>
            <a:r>
              <a:rPr lang="en-US" altLang="ja-JP" sz="13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EG</a:t>
            </a:r>
            <a:r>
              <a:rPr kumimoji="1" lang="ja-JP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プラントを停止した。　　　　　　　　　　　　　　　　　　　　</a:t>
            </a:r>
            <a:r>
              <a:rPr lang="ja-JP" altLang="en-US" sz="13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</a:t>
            </a:r>
            <a:endParaRPr lang="en-US" altLang="ja-JP" sz="1300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  <a:defRPr/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直接要因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2014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年リチュービング時の施工手順と環境により発生した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defRPr/>
            </a:pP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　　内在欠陥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間接要因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：記録、評価、真因分析プロセスが機能していない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応急処置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</a:t>
            </a:r>
            <a:r>
              <a:rPr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チューブシール溶接部の補修</a:t>
            </a:r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(36</a:t>
            </a:r>
            <a:r>
              <a:rPr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ヵ所</a:t>
            </a:r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、気密テスト</a:t>
            </a:r>
            <a:endParaRPr lang="en-US" altLang="ja-JP" sz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恒久対応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・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2014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年リチュービングチューブの再リチュービング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・リチュービング手順の基準織り込み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人的影響、設備損害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 なし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保安・環境・品質影響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　なし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生産影響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：トラブル判定「重」　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損失金額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136M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￥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内訳　生産ロス：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105M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￥、修繕費ロス：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24M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￥、廃棄費用：</a:t>
            </a:r>
            <a:r>
              <a:rPr lang="en-US" altLang="ja-JP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7M</a:t>
            </a:r>
            <a:r>
              <a:rPr lang="ja-JP" altLang="en-US" sz="13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￥</a:t>
            </a:r>
            <a:endParaRPr lang="en-US" altLang="ja-JP" sz="13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D07A62-35B7-9FA2-E038-AD217CA98D77}"/>
              </a:ext>
            </a:extLst>
          </p:cNvPr>
          <p:cNvSpPr txBox="1"/>
          <p:nvPr/>
        </p:nvSpPr>
        <p:spPr>
          <a:xfrm>
            <a:off x="5604512" y="490057"/>
            <a:ext cx="3203638" cy="563204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【MEG</a:t>
            </a:r>
            <a:r>
              <a:rPr kumimoji="1" lang="ja-JP" altLang="en-US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塔フローと水分濃度実績</a:t>
            </a:r>
            <a:r>
              <a:rPr kumimoji="1" lang="en-US" altLang="ja-JP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4D3245B-F0A3-2AE5-7404-507EF969A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96" y="4447145"/>
            <a:ext cx="5827313" cy="201021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91391C-664D-541B-BEC5-BC5D5622AE58}"/>
              </a:ext>
            </a:extLst>
          </p:cNvPr>
          <p:cNvSpPr txBox="1"/>
          <p:nvPr/>
        </p:nvSpPr>
        <p:spPr>
          <a:xfrm>
            <a:off x="8888392" y="4455650"/>
            <a:ext cx="1664526" cy="656854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400">
                <a:solidFill>
                  <a:srgbClr val="3399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製品</a:t>
            </a:r>
            <a:r>
              <a:rPr kumimoji="1" lang="en-US" altLang="ja-JP" sz="1400">
                <a:solidFill>
                  <a:srgbClr val="3399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400">
                <a:solidFill>
                  <a:srgbClr val="3399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水分濃度</a:t>
            </a:r>
            <a:endParaRPr kumimoji="1" lang="en-US" altLang="ja-JP" sz="1400">
              <a:solidFill>
                <a:srgbClr val="33993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>
                <a:solidFill>
                  <a:srgbClr val="3399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（オンライン計）</a:t>
            </a:r>
            <a:endParaRPr kumimoji="1" lang="ja-JP" altLang="en-US" sz="1400">
              <a:solidFill>
                <a:srgbClr val="33993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3ED5BD-97CB-C791-9403-9751337CD033}"/>
              </a:ext>
            </a:extLst>
          </p:cNvPr>
          <p:cNvSpPr txBox="1"/>
          <p:nvPr/>
        </p:nvSpPr>
        <p:spPr>
          <a:xfrm rot="16200000">
            <a:off x="4883916" y="4973661"/>
            <a:ext cx="2096211" cy="557254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製品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水分濃度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[ppm]</a:t>
            </a:r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CE3BE22-6692-D0E1-7855-05D9B2B2EDE8}"/>
              </a:ext>
            </a:extLst>
          </p:cNvPr>
          <p:cNvSpPr/>
          <p:nvPr/>
        </p:nvSpPr>
        <p:spPr>
          <a:xfrm>
            <a:off x="6202023" y="5927324"/>
            <a:ext cx="5611061" cy="253019"/>
          </a:xfrm>
          <a:prstGeom prst="rect">
            <a:avLst/>
          </a:prstGeom>
          <a:solidFill>
            <a:srgbClr val="92D050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通常水分濃度範囲</a:t>
            </a:r>
            <a:endParaRPr kumimoji="1" lang="ja-JP" altLang="en-US" sz="14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E16750-EC7A-5C4D-82EE-EDEA2EA8BC1F}"/>
              </a:ext>
            </a:extLst>
          </p:cNvPr>
          <p:cNvSpPr txBox="1"/>
          <p:nvPr/>
        </p:nvSpPr>
        <p:spPr>
          <a:xfrm>
            <a:off x="7408421" y="4447145"/>
            <a:ext cx="804243" cy="763073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endParaRPr kumimoji="1" lang="ja-JP" altLang="en-US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1560B76-A696-CB7C-4D45-C0B2ED8F0964}"/>
              </a:ext>
            </a:extLst>
          </p:cNvPr>
          <p:cNvCxnSpPr>
            <a:cxnSpLocks/>
          </p:cNvCxnSpPr>
          <p:nvPr/>
        </p:nvCxnSpPr>
        <p:spPr>
          <a:xfrm>
            <a:off x="6216999" y="5405015"/>
            <a:ext cx="5611061" cy="0"/>
          </a:xfrm>
          <a:prstGeom prst="line">
            <a:avLst/>
          </a:prstGeom>
          <a:ln w="222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0D144E-F047-A957-D366-BED6897100C9}"/>
              </a:ext>
            </a:extLst>
          </p:cNvPr>
          <p:cNvSpPr txBox="1"/>
          <p:nvPr/>
        </p:nvSpPr>
        <p:spPr>
          <a:xfrm>
            <a:off x="6225439" y="4947549"/>
            <a:ext cx="804243" cy="313589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水分規格：</a:t>
            </a:r>
            <a:r>
              <a:rPr kumimoji="1" lang="en-US" altLang="ja-JP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500ppm</a:t>
            </a:r>
            <a:r>
              <a:rPr kumimoji="1" lang="ja-JP" altLang="en-US" sz="14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1EE999D-8312-9D2D-0D55-A14B3AE06E81}"/>
              </a:ext>
            </a:extLst>
          </p:cNvPr>
          <p:cNvCxnSpPr>
            <a:cxnSpLocks/>
          </p:cNvCxnSpPr>
          <p:nvPr/>
        </p:nvCxnSpPr>
        <p:spPr>
          <a:xfrm>
            <a:off x="8187763" y="5931058"/>
            <a:ext cx="0" cy="2530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B0B58C07-1A63-B03E-E709-00EF00CAABF8}"/>
              </a:ext>
            </a:extLst>
          </p:cNvPr>
          <p:cNvSpPr/>
          <p:nvPr/>
        </p:nvSpPr>
        <p:spPr>
          <a:xfrm>
            <a:off x="9612655" y="3363645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ED4152-BFDF-9880-B6FA-203C2FDE7526}"/>
              </a:ext>
            </a:extLst>
          </p:cNvPr>
          <p:cNvSpPr txBox="1"/>
          <p:nvPr/>
        </p:nvSpPr>
        <p:spPr>
          <a:xfrm>
            <a:off x="5560184" y="2774720"/>
            <a:ext cx="1249122" cy="563205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ja-JP" altLang="en-US" sz="140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水分：</a:t>
            </a:r>
            <a:r>
              <a:rPr kumimoji="1" lang="en-US" altLang="ja-JP" sz="140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27ppm</a:t>
            </a:r>
          </a:p>
          <a:p>
            <a:pPr algn="l"/>
            <a:r>
              <a:rPr lang="ja-JP" altLang="en-US" sz="140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</a:t>
            </a:r>
            <a:r>
              <a:rPr lang="en-US" altLang="ja-JP" sz="140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(0.4kg/h)</a:t>
            </a:r>
            <a:endParaRPr kumimoji="1" lang="ja-JP" altLang="en-US" sz="140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9FD3F1-87E4-0DD8-459A-B343DBA0F57F}"/>
              </a:ext>
            </a:extLst>
          </p:cNvPr>
          <p:cNvSpPr txBox="1"/>
          <p:nvPr/>
        </p:nvSpPr>
        <p:spPr>
          <a:xfrm>
            <a:off x="5680008" y="1948085"/>
            <a:ext cx="914400" cy="476438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103ppm</a:t>
            </a:r>
          </a:p>
          <a:p>
            <a:pPr algn="l"/>
            <a:r>
              <a:rPr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(0.5kg/h)</a:t>
            </a:r>
            <a:endParaRPr kumimoji="1" lang="ja-JP" altLang="en-US" sz="1100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05DECB1-740D-A5CD-BF0D-01EED06C0291}"/>
              </a:ext>
            </a:extLst>
          </p:cNvPr>
          <p:cNvSpPr txBox="1"/>
          <p:nvPr/>
        </p:nvSpPr>
        <p:spPr>
          <a:xfrm>
            <a:off x="6046680" y="3238879"/>
            <a:ext cx="914400" cy="861039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231ppm</a:t>
            </a:r>
          </a:p>
          <a:p>
            <a:pPr algn="l"/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(1.45kg/h)</a:t>
            </a:r>
            <a:endParaRPr kumimoji="1" lang="ja-JP" altLang="en-US" sz="1200" err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1AAEDF-7926-E1EA-205D-6E189E877364}"/>
              </a:ext>
            </a:extLst>
          </p:cNvPr>
          <p:cNvSpPr txBox="1"/>
          <p:nvPr/>
        </p:nvSpPr>
        <p:spPr>
          <a:xfrm>
            <a:off x="11215902" y="2492894"/>
            <a:ext cx="962168" cy="699404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72000" rIns="72000" bIns="72000" rtlCol="0" anchor="t" anchorCtr="0">
            <a:spAutoFit/>
          </a:bodyPr>
          <a:lstStyle/>
          <a:p>
            <a:pPr algn="l"/>
            <a:r>
              <a:rPr kumimoji="1" lang="ja-JP" altLang="en-US" sz="12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水分</a:t>
            </a:r>
            <a:endParaRPr kumimoji="1" lang="en-US" altLang="ja-JP" sz="12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kumimoji="1" lang="en-US" altLang="ja-JP" sz="12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408ppm</a:t>
            </a:r>
          </a:p>
          <a:p>
            <a:pPr algn="l"/>
            <a:r>
              <a:rPr kumimoji="1" lang="en-US" altLang="ja-JP" sz="12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en-US" altLang="ja-JP" sz="12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6.0kg/h)</a:t>
            </a:r>
            <a:endParaRPr kumimoji="1" lang="ja-JP" altLang="en-US" b="1" err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81A7E2C-EDF0-140D-2F92-C0DE1C490C6C}"/>
              </a:ext>
            </a:extLst>
          </p:cNvPr>
          <p:cNvSpPr txBox="1"/>
          <p:nvPr/>
        </p:nvSpPr>
        <p:spPr>
          <a:xfrm>
            <a:off x="9787448" y="3477116"/>
            <a:ext cx="1027058" cy="391628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lIns="72000" tIns="72000" rIns="72000" bIns="72000" rtlCol="0" anchor="t" anchorCtr="0">
            <a:spAutoFit/>
          </a:bodyPr>
          <a:lstStyle/>
          <a:p>
            <a:pPr algn="l"/>
            <a:r>
              <a:rPr lang="ja-JP" altLang="en-US" sz="1600" b="1">
                <a:solidFill>
                  <a:srgbClr val="7030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製品</a:t>
            </a:r>
            <a:r>
              <a:rPr lang="en-US" altLang="ja-JP" sz="1600" b="1">
                <a:solidFill>
                  <a:srgbClr val="7030A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endParaRPr kumimoji="1" lang="ja-JP" altLang="en-US" sz="1600" b="1" err="1">
              <a:solidFill>
                <a:srgbClr val="7030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132946D-8DB9-D138-5D9E-74842CD3DB21}"/>
              </a:ext>
            </a:extLst>
          </p:cNvPr>
          <p:cNvSpPr/>
          <p:nvPr/>
        </p:nvSpPr>
        <p:spPr>
          <a:xfrm>
            <a:off x="5579150" y="3790033"/>
            <a:ext cx="830117" cy="398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69F1982B-791C-CF45-9586-35A9E5394232}"/>
              </a:ext>
            </a:extLst>
          </p:cNvPr>
          <p:cNvSpPr/>
          <p:nvPr/>
        </p:nvSpPr>
        <p:spPr>
          <a:xfrm>
            <a:off x="6690138" y="3348384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02BB9677-175B-AFC3-AF30-D877F0F88062}"/>
              </a:ext>
            </a:extLst>
          </p:cNvPr>
          <p:cNvSpPr/>
          <p:nvPr/>
        </p:nvSpPr>
        <p:spPr>
          <a:xfrm>
            <a:off x="5866356" y="2757569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31418A7-F5E8-ED2A-0C64-11D0FF7A5926}"/>
              </a:ext>
            </a:extLst>
          </p:cNvPr>
          <p:cNvSpPr/>
          <p:nvPr/>
        </p:nvSpPr>
        <p:spPr>
          <a:xfrm>
            <a:off x="6210649" y="2563900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81CFBB8-7F57-498C-7214-8316EC5A7C14}"/>
              </a:ext>
            </a:extLst>
          </p:cNvPr>
          <p:cNvSpPr txBox="1"/>
          <p:nvPr/>
        </p:nvSpPr>
        <p:spPr>
          <a:xfrm>
            <a:off x="5861919" y="1488543"/>
            <a:ext cx="805459" cy="432824"/>
          </a:xfrm>
          <a:prstGeom prst="rect">
            <a:avLst/>
          </a:prstGeom>
          <a:solidFill>
            <a:schemeClr val="bg1"/>
          </a:solidFill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2C0AB5A-8D91-6959-8BA4-4290257E8E57}"/>
              </a:ext>
            </a:extLst>
          </p:cNvPr>
          <p:cNvSpPr txBox="1"/>
          <p:nvPr/>
        </p:nvSpPr>
        <p:spPr>
          <a:xfrm>
            <a:off x="9078163" y="645986"/>
            <a:ext cx="2040152" cy="614418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rmAutofit/>
          </a:bodyPr>
          <a:lstStyle/>
          <a:p>
            <a:pPr algn="l"/>
            <a:r>
              <a:rPr kumimoji="1"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塔リボイラからの系内水分混入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ADBE859-B5CC-458A-D5B7-102A285FB1A3}"/>
              </a:ext>
            </a:extLst>
          </p:cNvPr>
          <p:cNvSpPr txBox="1"/>
          <p:nvPr/>
        </p:nvSpPr>
        <p:spPr>
          <a:xfrm>
            <a:off x="6998857" y="6316355"/>
            <a:ext cx="1053741" cy="1692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 anchor="t" anchorCtr="0">
            <a:spAutoFit/>
          </a:bodyPr>
          <a:lstStyle/>
          <a:p>
            <a:pPr algn="l"/>
            <a:r>
              <a:rPr kumimoji="1" lang="ja-JP" altLang="en-US" sz="1100">
                <a:latin typeface="Meiryo UI" panose="020B0604030504040204" pitchFamily="50" charset="-128"/>
                <a:ea typeface="Meiryo UI" panose="020B0604030504040204" pitchFamily="50" charset="-128"/>
              </a:rPr>
              <a:t>▲　</a:t>
            </a:r>
            <a:r>
              <a:rPr kumimoji="1"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2/16</a:t>
            </a:r>
            <a:r>
              <a:rPr kumimoji="1" lang="ja-JP" altLang="en-US" sz="11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0:00</a:t>
            </a:r>
            <a:endParaRPr kumimoji="1" lang="ja-JP" alt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2C6244E-A01B-CD41-8497-761D519F6A20}"/>
              </a:ext>
            </a:extLst>
          </p:cNvPr>
          <p:cNvSpPr txBox="1"/>
          <p:nvPr/>
        </p:nvSpPr>
        <p:spPr>
          <a:xfrm>
            <a:off x="6318649" y="5582518"/>
            <a:ext cx="1481666" cy="348540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  <a:cs typeface="Microsoft Himalaya" panose="01010100010101010101" pitchFamily="2" charset="0"/>
              </a:rPr>
              <a:t>2/15 18:00 MEG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  <a:cs typeface="Microsoft Himalaya" panose="01010100010101010101" pitchFamily="2" charset="0"/>
              </a:rPr>
              <a:t>抜出開始</a:t>
            </a:r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  <a:cs typeface="Microsoft Himalaya" panose="01010100010101010101" pitchFamily="2" charset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75D92BD-E065-BCC5-7A40-E6CD134B20EC}"/>
              </a:ext>
            </a:extLst>
          </p:cNvPr>
          <p:cNvSpPr txBox="1"/>
          <p:nvPr/>
        </p:nvSpPr>
        <p:spPr>
          <a:xfrm>
            <a:off x="10627576" y="1380001"/>
            <a:ext cx="1571511" cy="557451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EO</a:t>
            </a:r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E</a:t>
            </a:r>
            <a:r>
              <a:rPr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thylene </a:t>
            </a:r>
            <a:r>
              <a:rPr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O</a:t>
            </a:r>
            <a:r>
              <a:rPr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xide</a:t>
            </a:r>
            <a:endParaRPr kumimoji="1" lang="en-US" altLang="ja-JP" sz="105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M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ono-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E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thylene</a:t>
            </a:r>
          </a:p>
          <a:p>
            <a:pPr algn="l"/>
            <a:r>
              <a:rPr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　　　　　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G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lycol</a:t>
            </a:r>
            <a:endParaRPr kumimoji="1" lang="ja-JP" alt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67BF67D-8AE9-1618-2F1E-042BE25B8FB5}"/>
              </a:ext>
            </a:extLst>
          </p:cNvPr>
          <p:cNvSpPr txBox="1"/>
          <p:nvPr/>
        </p:nvSpPr>
        <p:spPr>
          <a:xfrm>
            <a:off x="5604512" y="4035247"/>
            <a:ext cx="3203638" cy="563204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水分濃度トレンド</a:t>
            </a:r>
            <a:r>
              <a:rPr kumimoji="1" lang="en-US" altLang="ja-JP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endParaRPr kumimoji="1" lang="ja-JP" altLang="en-US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ABA2212E-AF31-9F78-AC6A-B71A9051BE5C}"/>
              </a:ext>
            </a:extLst>
          </p:cNvPr>
          <p:cNvCxnSpPr>
            <a:cxnSpLocks/>
          </p:cNvCxnSpPr>
          <p:nvPr/>
        </p:nvCxnSpPr>
        <p:spPr>
          <a:xfrm flipH="1">
            <a:off x="6432462" y="5253518"/>
            <a:ext cx="187479" cy="131660"/>
          </a:xfrm>
          <a:prstGeom prst="line">
            <a:avLst/>
          </a:prstGeom>
          <a:ln w="2222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C797F02-9C7C-E32C-B746-3153F2D4F74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433329" y="4784077"/>
            <a:ext cx="455063" cy="410790"/>
          </a:xfrm>
          <a:prstGeom prst="line">
            <a:avLst/>
          </a:prstGeom>
          <a:ln w="19050">
            <a:solidFill>
              <a:srgbClr val="4CA54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7C7A3B4-9C75-ED0D-2885-CAB2F1037F6C}"/>
              </a:ext>
            </a:extLst>
          </p:cNvPr>
          <p:cNvCxnSpPr>
            <a:cxnSpLocks/>
            <a:endCxn id="24" idx="7"/>
          </p:cNvCxnSpPr>
          <p:nvPr/>
        </p:nvCxnSpPr>
        <p:spPr>
          <a:xfrm flipH="1">
            <a:off x="7670592" y="1077557"/>
            <a:ext cx="1351937" cy="1313024"/>
          </a:xfrm>
          <a:prstGeom prst="line">
            <a:avLst/>
          </a:prstGeom>
          <a:ln w="2222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CA1AACF-A634-A3A4-A30E-32A3E8A67325}"/>
              </a:ext>
            </a:extLst>
          </p:cNvPr>
          <p:cNvSpPr txBox="1"/>
          <p:nvPr/>
        </p:nvSpPr>
        <p:spPr>
          <a:xfrm>
            <a:off x="5673882" y="825785"/>
            <a:ext cx="3597894" cy="234286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M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ono-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E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thylene </a:t>
            </a:r>
            <a:r>
              <a:rPr kumimoji="1"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G</a:t>
            </a:r>
            <a:r>
              <a:rPr kumimoji="1"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lycol/</a:t>
            </a:r>
            <a:r>
              <a:rPr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EO</a:t>
            </a:r>
            <a:r>
              <a:rPr lang="ja-JP" alt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E</a:t>
            </a:r>
            <a:r>
              <a:rPr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thylene </a:t>
            </a:r>
            <a:r>
              <a:rPr lang="en-US" altLang="ja-JP" sz="1050" u="sng">
                <a:latin typeface="Meiryo UI" panose="020B0604030504040204" pitchFamily="50" charset="-128"/>
                <a:ea typeface="Meiryo UI" panose="020B0604030504040204" pitchFamily="50" charset="-128"/>
              </a:rPr>
              <a:t>O</a:t>
            </a:r>
            <a:r>
              <a:rPr lang="en-US" altLang="ja-JP" sz="1050">
                <a:latin typeface="Meiryo UI" panose="020B0604030504040204" pitchFamily="50" charset="-128"/>
                <a:ea typeface="Meiryo UI" panose="020B0604030504040204" pitchFamily="50" charset="-128"/>
              </a:rPr>
              <a:t>xide</a:t>
            </a:r>
            <a:endParaRPr kumimoji="1" lang="ja-JP" alt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1F65598-B475-84EE-623C-EBFA76E95FAE}"/>
              </a:ext>
            </a:extLst>
          </p:cNvPr>
          <p:cNvSpPr txBox="1"/>
          <p:nvPr/>
        </p:nvSpPr>
        <p:spPr>
          <a:xfrm>
            <a:off x="10892466" y="6281720"/>
            <a:ext cx="1053741" cy="1692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 anchor="t" anchorCtr="0">
            <a:spAutoFit/>
          </a:bodyPr>
          <a:lstStyle/>
          <a:p>
            <a:pPr algn="l"/>
            <a:r>
              <a:rPr kumimoji="1"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2/17</a:t>
            </a:r>
            <a:r>
              <a:rPr kumimoji="1" lang="ja-JP" altLang="en-US" sz="11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1100">
                <a:latin typeface="Meiryo UI" panose="020B0604030504040204" pitchFamily="50" charset="-128"/>
                <a:ea typeface="Meiryo UI" panose="020B0604030504040204" pitchFamily="50" charset="-128"/>
              </a:rPr>
              <a:t>0:00</a:t>
            </a:r>
            <a:r>
              <a:rPr kumimoji="1" lang="ja-JP" altLang="en-US" sz="1100">
                <a:latin typeface="Meiryo UI" panose="020B0604030504040204" pitchFamily="50" charset="-128"/>
                <a:ea typeface="Meiryo UI" panose="020B0604030504040204" pitchFamily="50" charset="-128"/>
              </a:rPr>
              <a:t>　▲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E2C56DA-4269-8D0B-5AEC-A9E5148C04C9}"/>
              </a:ext>
            </a:extLst>
          </p:cNvPr>
          <p:cNvSpPr txBox="1"/>
          <p:nvPr/>
        </p:nvSpPr>
        <p:spPr>
          <a:xfrm>
            <a:off x="6829056" y="3050840"/>
            <a:ext cx="1835363" cy="432824"/>
          </a:xfrm>
          <a:prstGeom prst="rect">
            <a:avLst/>
          </a:prstGeom>
          <a:noFill/>
        </p:spPr>
        <p:txBody>
          <a:bodyPr wrap="none" lIns="0" tIns="72000" rIns="234000" bIns="0" rtlCol="0" anchor="t" anchorCtr="0">
            <a:noAutofit/>
          </a:bodyPr>
          <a:lstStyle/>
          <a:p>
            <a:pPr algn="l"/>
            <a:r>
              <a:rPr kumimoji="1" lang="en-US" altLang="ja-JP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kumimoji="1" lang="ja-JP" altLang="en-US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塔リボイラー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D4D10625-E489-1D92-57B1-CFCD069A7140}"/>
              </a:ext>
            </a:extLst>
          </p:cNvPr>
          <p:cNvSpPr/>
          <p:nvPr/>
        </p:nvSpPr>
        <p:spPr>
          <a:xfrm>
            <a:off x="6914508" y="2260600"/>
            <a:ext cx="885807" cy="8875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2">
            <a:extLst>
              <a:ext uri="{FF2B5EF4-FFF2-40B4-BE49-F238E27FC236}">
                <a16:creationId xmlns:a16="http://schemas.microsoft.com/office/drawing/2014/main" id="{02B2B8CE-F579-3D1C-A964-25717B67E784}"/>
              </a:ext>
            </a:extLst>
          </p:cNvPr>
          <p:cNvSpPr txBox="1">
            <a:spLocks/>
          </p:cNvSpPr>
          <p:nvPr/>
        </p:nvSpPr>
        <p:spPr>
          <a:xfrm>
            <a:off x="638758" y="6474646"/>
            <a:ext cx="4456805" cy="239418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ja-JP" altLang="en-US" sz="1100">
                <a:solidFill>
                  <a:srgbClr val="000000"/>
                </a:solidFill>
                <a:latin typeface="Arial"/>
                <a:ea typeface="游ゴシック Medium"/>
              </a:rPr>
              <a:t>三菱ケミカル株式会社</a:t>
            </a:r>
          </a:p>
        </p:txBody>
      </p:sp>
      <p:sp>
        <p:nvSpPr>
          <p:cNvPr id="26" name="動作設定ボタン: 戻る/前へ 2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D0B52EA-C2F6-679A-6C8D-C87498D989E4}"/>
              </a:ext>
            </a:extLst>
          </p:cNvPr>
          <p:cNvSpPr/>
          <p:nvPr/>
        </p:nvSpPr>
        <p:spPr>
          <a:xfrm>
            <a:off x="11656194" y="6474645"/>
            <a:ext cx="293305" cy="239419"/>
          </a:xfrm>
          <a:prstGeom prst="actionButtonBackPrevious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22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35EBDD7-CDA7-76B6-7FC4-A9917E3E4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3010825-62E5-48F1-E655-915DF029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E-1501</a:t>
            </a:r>
            <a:r>
              <a:rPr kumimoji="1" lang="ja-JP" altLang="en-US"/>
              <a:t>補修前後の</a:t>
            </a:r>
            <a:r>
              <a:rPr kumimoji="1" lang="en-US" altLang="ja-JP"/>
              <a:t>MEG</a:t>
            </a:r>
            <a:r>
              <a:rPr kumimoji="1" lang="ja-JP" altLang="en-US"/>
              <a:t>塔周りの水分濃度推移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A991204-B9AB-05CE-F01F-2C756A61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43" y="3801900"/>
            <a:ext cx="4557070" cy="267274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F1CD8D-BBEA-5477-AE06-E9E2E71C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984" y="3738550"/>
            <a:ext cx="5395758" cy="2807252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C7051BC-4C64-DCF6-C215-601871043FF5}"/>
              </a:ext>
            </a:extLst>
          </p:cNvPr>
          <p:cNvSpPr txBox="1"/>
          <p:nvPr/>
        </p:nvSpPr>
        <p:spPr>
          <a:xfrm>
            <a:off x="7060798" y="3173036"/>
            <a:ext cx="796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/>
              <a:t>C-1502</a:t>
            </a:r>
            <a:endParaRPr kumimoji="1" lang="ja-JP" altLang="en-US" sz="1400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1D24058D-38EA-6573-F6CD-6355C76787D2}"/>
              </a:ext>
            </a:extLst>
          </p:cNvPr>
          <p:cNvCxnSpPr/>
          <p:nvPr/>
        </p:nvCxnSpPr>
        <p:spPr>
          <a:xfrm flipV="1">
            <a:off x="4159306" y="3989373"/>
            <a:ext cx="0" cy="2273862"/>
          </a:xfrm>
          <a:prstGeom prst="line">
            <a:avLst/>
          </a:prstGeom>
          <a:ln>
            <a:solidFill>
              <a:srgbClr val="FF000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FC653B2-EC8C-E8D0-31EF-53BA64E6FFAC}"/>
              </a:ext>
            </a:extLst>
          </p:cNvPr>
          <p:cNvSpPr txBox="1"/>
          <p:nvPr/>
        </p:nvSpPr>
        <p:spPr>
          <a:xfrm>
            <a:off x="731843" y="3504141"/>
            <a:ext cx="3626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/>
              <a:t>EG</a:t>
            </a:r>
            <a:r>
              <a:rPr lang="ja-JP" altLang="en-US" sz="1400"/>
              <a:t>脱水塔</a:t>
            </a:r>
            <a:r>
              <a:rPr lang="en-US" altLang="ja-JP" sz="1400"/>
              <a:t>BTM</a:t>
            </a:r>
            <a:r>
              <a:rPr lang="ja-JP" altLang="en-US" sz="1400"/>
              <a:t>水分濃度トレンド （計算値</a:t>
            </a:r>
            <a:r>
              <a:rPr lang="en-US" altLang="ja-JP" sz="1400"/>
              <a:t>)</a:t>
            </a:r>
            <a:endParaRPr kumimoji="1" lang="ja-JP" altLang="en-US" sz="1400"/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D117A17E-4D48-C905-F1D5-0820A540D169}"/>
              </a:ext>
            </a:extLst>
          </p:cNvPr>
          <p:cNvCxnSpPr>
            <a:cxnSpLocks/>
            <a:stCxn id="34" idx="5"/>
          </p:cNvCxnSpPr>
          <p:nvPr/>
        </p:nvCxnSpPr>
        <p:spPr>
          <a:xfrm flipH="1">
            <a:off x="3858428" y="3219148"/>
            <a:ext cx="672592" cy="2616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7D05104-1B55-61ED-C96D-7FF780D0A0D3}"/>
              </a:ext>
            </a:extLst>
          </p:cNvPr>
          <p:cNvSpPr txBox="1"/>
          <p:nvPr/>
        </p:nvSpPr>
        <p:spPr>
          <a:xfrm>
            <a:off x="3713457" y="6465406"/>
            <a:ext cx="4143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>
                <a:highlight>
                  <a:srgbClr val="FFFF00"/>
                </a:highlight>
              </a:rPr>
              <a:t>☝</a:t>
            </a:r>
            <a:r>
              <a:rPr lang="en-US" altLang="ja-JP" sz="1400">
                <a:highlight>
                  <a:srgbClr val="FFFF00"/>
                </a:highlight>
              </a:rPr>
              <a:t>E-1501</a:t>
            </a:r>
            <a:r>
              <a:rPr lang="ja-JP" altLang="en-US" sz="1400">
                <a:highlight>
                  <a:srgbClr val="FFFF00"/>
                </a:highlight>
              </a:rPr>
              <a:t>からの水分リークが顕著に増加</a:t>
            </a:r>
            <a:endParaRPr lang="en-US" altLang="ja-JP" sz="1400">
              <a:highlight>
                <a:srgbClr val="FFFF00"/>
              </a:highlight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449E0EB-3EFF-968E-79F7-90021C0FD341}"/>
              </a:ext>
            </a:extLst>
          </p:cNvPr>
          <p:cNvSpPr txBox="1"/>
          <p:nvPr/>
        </p:nvSpPr>
        <p:spPr>
          <a:xfrm rot="16200000">
            <a:off x="-1187021" y="4890752"/>
            <a:ext cx="3626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/>
              <a:t>水分濃度 </a:t>
            </a:r>
            <a:r>
              <a:rPr lang="en-US" altLang="ja-JP" sz="1400"/>
              <a:t>wtppm</a:t>
            </a:r>
            <a:endParaRPr kumimoji="1" lang="ja-JP" altLang="en-US" sz="140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2D0472CB-E2AB-81F0-EFB2-915123AA55C7}"/>
              </a:ext>
            </a:extLst>
          </p:cNvPr>
          <p:cNvSpPr txBox="1"/>
          <p:nvPr/>
        </p:nvSpPr>
        <p:spPr>
          <a:xfrm rot="16200000">
            <a:off x="4555618" y="4890752"/>
            <a:ext cx="3626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/>
              <a:t>水分濃度 </a:t>
            </a:r>
            <a:r>
              <a:rPr lang="en-US" altLang="ja-JP" sz="1400"/>
              <a:t>wtppm</a:t>
            </a:r>
            <a:endParaRPr kumimoji="1" lang="ja-JP" altLang="en-US" sz="14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C8D72391-B8D4-9A53-CF7C-2B33C05AD5C6}"/>
              </a:ext>
            </a:extLst>
          </p:cNvPr>
          <p:cNvSpPr txBox="1"/>
          <p:nvPr/>
        </p:nvSpPr>
        <p:spPr>
          <a:xfrm>
            <a:off x="7763100" y="6505604"/>
            <a:ext cx="4143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>
                <a:highlight>
                  <a:srgbClr val="FFFF00"/>
                </a:highlight>
              </a:rPr>
              <a:t>E-1501</a:t>
            </a:r>
            <a:r>
              <a:rPr lang="ja-JP" altLang="en-US" sz="1400">
                <a:highlight>
                  <a:srgbClr val="FFFF00"/>
                </a:highlight>
              </a:rPr>
              <a:t>補修後は製品中水分低めで推移☝</a:t>
            </a:r>
            <a:endParaRPr lang="en-US" altLang="ja-JP" sz="1400">
              <a:highlight>
                <a:srgbClr val="FFFF00"/>
              </a:highlight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9F387CA-5241-7E8B-C71D-0C1221A3000E}"/>
              </a:ext>
            </a:extLst>
          </p:cNvPr>
          <p:cNvSpPr txBox="1"/>
          <p:nvPr/>
        </p:nvSpPr>
        <p:spPr>
          <a:xfrm>
            <a:off x="6598949" y="3517479"/>
            <a:ext cx="3626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/>
              <a:t>MEG</a:t>
            </a:r>
            <a:r>
              <a:rPr lang="ja-JP" altLang="en-US" sz="1400"/>
              <a:t>塔</a:t>
            </a:r>
            <a:r>
              <a:rPr lang="en-US" altLang="ja-JP" sz="1400"/>
              <a:t>TOP </a:t>
            </a:r>
            <a:r>
              <a:rPr lang="ja-JP" altLang="en-US" sz="1400"/>
              <a:t>水分濃度トレンド</a:t>
            </a:r>
            <a:endParaRPr kumimoji="1" lang="ja-JP" altLang="en-US" sz="1400"/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A1E054FB-3CAF-1F87-AADF-6183F8517297}"/>
              </a:ext>
            </a:extLst>
          </p:cNvPr>
          <p:cNvGrpSpPr/>
          <p:nvPr/>
        </p:nvGrpSpPr>
        <p:grpSpPr>
          <a:xfrm>
            <a:off x="3403600" y="624596"/>
            <a:ext cx="5737758" cy="2792086"/>
            <a:chOff x="3236009" y="137799"/>
            <a:chExt cx="5905349" cy="3278883"/>
          </a:xfrm>
        </p:grpSpPr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2A6EF111-9CAA-3689-947E-9E098FD433D3}"/>
                </a:ext>
              </a:extLst>
            </p:cNvPr>
            <p:cNvSpPr/>
            <p:nvPr/>
          </p:nvSpPr>
          <p:spPr>
            <a:xfrm>
              <a:off x="5772150" y="2609850"/>
              <a:ext cx="212725" cy="485775"/>
            </a:xfrm>
            <a:custGeom>
              <a:avLst/>
              <a:gdLst>
                <a:gd name="csX0" fmla="*/ 212725 w 212725"/>
                <a:gd name="csY0" fmla="*/ 485775 h 485775"/>
                <a:gd name="csX1" fmla="*/ 212725 w 212725"/>
                <a:gd name="csY1" fmla="*/ 0 h 485775"/>
                <a:gd name="csX2" fmla="*/ 0 w 212725"/>
                <a:gd name="csY2" fmla="*/ 0 h 485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2725" h="485775">
                  <a:moveTo>
                    <a:pt x="212725" y="485775"/>
                  </a:moveTo>
                  <a:lnTo>
                    <a:pt x="212725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8EA7F382-CA54-2FB4-50A8-F0B9F56D613B}"/>
                </a:ext>
              </a:extLst>
            </p:cNvPr>
            <p:cNvSpPr/>
            <p:nvPr/>
          </p:nvSpPr>
          <p:spPr>
            <a:xfrm>
              <a:off x="3529149" y="1838235"/>
              <a:ext cx="540685" cy="10824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ja-JP" altLang="en-US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脱水塔</a:t>
              </a: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CFA5FCE0-A867-507E-6E2B-11D715DF03B5}"/>
                </a:ext>
              </a:extLst>
            </p:cNvPr>
            <p:cNvSpPr/>
            <p:nvPr/>
          </p:nvSpPr>
          <p:spPr>
            <a:xfrm>
              <a:off x="5227763" y="1792766"/>
              <a:ext cx="540685" cy="10824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altLang="ja-JP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MEG</a:t>
              </a:r>
              <a:r>
                <a:rPr lang="ja-JP" altLang="en-US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精製</a:t>
              </a:r>
              <a:r>
                <a:rPr kumimoji="1" lang="ja-JP" altLang="en-US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塔</a:t>
              </a: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C31D063B-1400-5A2B-8A87-82D70FDD99F8}"/>
                </a:ext>
              </a:extLst>
            </p:cNvPr>
            <p:cNvSpPr/>
            <p:nvPr/>
          </p:nvSpPr>
          <p:spPr>
            <a:xfrm>
              <a:off x="7335861" y="1696756"/>
              <a:ext cx="540685" cy="10824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ja-JP" altLang="en-US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リサイクル</a:t>
              </a:r>
              <a:r>
                <a:rPr kumimoji="1" lang="ja-JP" altLang="en-US" sz="140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塔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899BA8B-18C1-A483-EDE1-38DEF846AD39}"/>
                </a:ext>
              </a:extLst>
            </p:cNvPr>
            <p:cNvSpPr/>
            <p:nvPr/>
          </p:nvSpPr>
          <p:spPr>
            <a:xfrm>
              <a:off x="4792893" y="2251671"/>
              <a:ext cx="167310" cy="2018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cxnSp>
          <p:nvCxnSpPr>
            <p:cNvPr id="14" name="コネクタ: カギ線 13">
              <a:extLst>
                <a:ext uri="{FF2B5EF4-FFF2-40B4-BE49-F238E27FC236}">
                  <a16:creationId xmlns:a16="http://schemas.microsoft.com/office/drawing/2014/main" id="{3FB72882-784E-C548-4A21-958CE46CD4E8}"/>
                </a:ext>
              </a:extLst>
            </p:cNvPr>
            <p:cNvCxnSpPr>
              <a:cxnSpLocks/>
              <a:stCxn id="10" idx="2"/>
              <a:endCxn id="11" idx="1"/>
            </p:cNvCxnSpPr>
            <p:nvPr/>
          </p:nvCxnSpPr>
          <p:spPr>
            <a:xfrm rot="5400000" flipH="1" flipV="1">
              <a:off x="4220279" y="1913205"/>
              <a:ext cx="586697" cy="1428271"/>
            </a:xfrm>
            <a:prstGeom prst="bentConnector4">
              <a:avLst>
                <a:gd name="adj1" fmla="val -36017"/>
                <a:gd name="adj2" fmla="val 5946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コネクタ: カギ線 14">
              <a:extLst>
                <a:ext uri="{FF2B5EF4-FFF2-40B4-BE49-F238E27FC236}">
                  <a16:creationId xmlns:a16="http://schemas.microsoft.com/office/drawing/2014/main" id="{9FE7D561-0034-C27A-E9D9-DCBB547A1DAC}"/>
                </a:ext>
              </a:extLst>
            </p:cNvPr>
            <p:cNvCxnSpPr>
              <a:cxnSpLocks/>
              <a:stCxn id="10" idx="0"/>
              <a:endCxn id="29" idx="1"/>
            </p:cNvCxnSpPr>
            <p:nvPr/>
          </p:nvCxnSpPr>
          <p:spPr>
            <a:xfrm rot="5400000" flipH="1" flipV="1">
              <a:off x="3742866" y="1572834"/>
              <a:ext cx="322028" cy="20877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コネクタ: カギ線 15">
              <a:extLst>
                <a:ext uri="{FF2B5EF4-FFF2-40B4-BE49-F238E27FC236}">
                  <a16:creationId xmlns:a16="http://schemas.microsoft.com/office/drawing/2014/main" id="{5710F294-EB3C-E530-C0F4-0BAC00ABBE23}"/>
                </a:ext>
              </a:extLst>
            </p:cNvPr>
            <p:cNvCxnSpPr>
              <a:cxnSpLocks/>
              <a:stCxn id="11" idx="0"/>
              <a:endCxn id="24" idx="1"/>
            </p:cNvCxnSpPr>
            <p:nvPr/>
          </p:nvCxnSpPr>
          <p:spPr>
            <a:xfrm rot="5400000" flipH="1" flipV="1">
              <a:off x="5369862" y="1287858"/>
              <a:ext cx="633153" cy="37666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CD5325F2-1340-C433-F8B9-B41659003D43}"/>
                </a:ext>
              </a:extLst>
            </p:cNvPr>
            <p:cNvCxnSpPr>
              <a:cxnSpLocks/>
              <a:stCxn id="11" idx="2"/>
              <a:endCxn id="12" idx="1"/>
            </p:cNvCxnSpPr>
            <p:nvPr/>
          </p:nvCxnSpPr>
          <p:spPr>
            <a:xfrm rot="5400000" flipH="1" flipV="1">
              <a:off x="6098365" y="1637724"/>
              <a:ext cx="637237" cy="1837755"/>
            </a:xfrm>
            <a:prstGeom prst="bentConnector4">
              <a:avLst>
                <a:gd name="adj1" fmla="val -33160"/>
                <a:gd name="adj2" fmla="val 57355"/>
              </a:avLst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: カギ線 17">
              <a:extLst>
                <a:ext uri="{FF2B5EF4-FFF2-40B4-BE49-F238E27FC236}">
                  <a16:creationId xmlns:a16="http://schemas.microsoft.com/office/drawing/2014/main" id="{F4B9464A-4851-C15F-405C-A4000DD3A57F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16200000" flipH="1">
              <a:off x="7625540" y="2759873"/>
              <a:ext cx="366512" cy="405183"/>
            </a:xfrm>
            <a:prstGeom prst="bentConnector2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: カギ線 18">
              <a:extLst>
                <a:ext uri="{FF2B5EF4-FFF2-40B4-BE49-F238E27FC236}">
                  <a16:creationId xmlns:a16="http://schemas.microsoft.com/office/drawing/2014/main" id="{179D196E-066B-3533-3932-3A27435B234D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5768449" y="1922388"/>
              <a:ext cx="511597" cy="411605"/>
            </a:xfrm>
            <a:prstGeom prst="bentConnector3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10C561D-3C99-5D03-C4C9-0EA953E6AEC9}"/>
                </a:ext>
              </a:extLst>
            </p:cNvPr>
            <p:cNvSpPr txBox="1"/>
            <p:nvPr/>
          </p:nvSpPr>
          <p:spPr>
            <a:xfrm>
              <a:off x="3416581" y="3079892"/>
              <a:ext cx="7963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1400"/>
                <a:t>C-1404</a:t>
              </a:r>
              <a:endParaRPr kumimoji="1" lang="ja-JP" altLang="en-US" sz="140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371625C-41C1-CEC9-6320-87BA103A7DF2}"/>
                </a:ext>
              </a:extLst>
            </p:cNvPr>
            <p:cNvSpPr txBox="1"/>
            <p:nvPr/>
          </p:nvSpPr>
          <p:spPr>
            <a:xfrm>
              <a:off x="5175145" y="3053217"/>
              <a:ext cx="7963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1400"/>
                <a:t>C-1501</a:t>
              </a:r>
              <a:endParaRPr kumimoji="1" lang="ja-JP" altLang="en-US" sz="140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E66D0F8-206D-4712-3544-93579730A91E}"/>
                </a:ext>
              </a:extLst>
            </p:cNvPr>
            <p:cNvSpPr txBox="1"/>
            <p:nvPr/>
          </p:nvSpPr>
          <p:spPr>
            <a:xfrm>
              <a:off x="6280045" y="1652114"/>
              <a:ext cx="1052477" cy="540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/>
                <a:t>MEG</a:t>
              </a:r>
            </a:p>
            <a:p>
              <a:pPr algn="ctr"/>
              <a:r>
                <a:rPr lang="ja-JP" altLang="en-US" sz="1400"/>
                <a:t>リサイクル</a:t>
              </a:r>
              <a:endParaRPr kumimoji="1" lang="ja-JP" altLang="en-US" sz="140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F4AA14EA-6884-1341-B93F-8C0E540003C8}"/>
                </a:ext>
              </a:extLst>
            </p:cNvPr>
            <p:cNvSpPr txBox="1"/>
            <p:nvPr/>
          </p:nvSpPr>
          <p:spPr>
            <a:xfrm>
              <a:off x="5874770" y="1005724"/>
              <a:ext cx="571377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/>
                <a:t>IER</a:t>
              </a:r>
              <a:endParaRPr kumimoji="1" lang="ja-JP" altLang="en-US" sz="1400"/>
            </a:p>
          </p:txBody>
        </p: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3B38EFE9-DFCF-EFB1-7D18-7D484189F0F0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6446147" y="1159613"/>
              <a:ext cx="386453" cy="3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9888FA0-40CB-5D20-E126-5B558FE49439}"/>
                </a:ext>
              </a:extLst>
            </p:cNvPr>
            <p:cNvSpPr txBox="1"/>
            <p:nvPr/>
          </p:nvSpPr>
          <p:spPr>
            <a:xfrm>
              <a:off x="6833307" y="922521"/>
              <a:ext cx="660569" cy="540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/>
                <a:t>製品</a:t>
              </a:r>
              <a:r>
                <a:rPr lang="en-US" altLang="ja-JP" sz="1400"/>
                <a:t>MEG</a:t>
              </a:r>
              <a:endParaRPr kumimoji="1" lang="ja-JP" altLang="en-US" sz="1400"/>
            </a:p>
          </p:txBody>
        </p: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54E5A391-D1B1-AAE8-7DDB-EEC22D0A1F23}"/>
                </a:ext>
              </a:extLst>
            </p:cNvPr>
            <p:cNvCxnSpPr>
              <a:cxnSpLocks/>
              <a:stCxn id="12" idx="0"/>
              <a:endCxn id="11" idx="1"/>
            </p:cNvCxnSpPr>
            <p:nvPr/>
          </p:nvCxnSpPr>
          <p:spPr>
            <a:xfrm rot="16200000" flipH="1" flipV="1">
              <a:off x="6098365" y="826154"/>
              <a:ext cx="637237" cy="2378441"/>
            </a:xfrm>
            <a:prstGeom prst="bentConnector4">
              <a:avLst>
                <a:gd name="adj1" fmla="val -143252"/>
                <a:gd name="adj2" fmla="val 108719"/>
              </a:avLst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2DFE6CF2-D2EB-869F-9BC5-699A2771B880}"/>
                </a:ext>
              </a:extLst>
            </p:cNvPr>
            <p:cNvSpPr txBox="1"/>
            <p:nvPr/>
          </p:nvSpPr>
          <p:spPr>
            <a:xfrm>
              <a:off x="7828886" y="2989248"/>
              <a:ext cx="1166847" cy="3129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1400"/>
                <a:t>DEG/TEG</a:t>
              </a:r>
              <a:endParaRPr kumimoji="1" lang="ja-JP" altLang="en-US" sz="140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07C2B9F-E3E4-3343-FBB8-0C353CDC2CCB}"/>
                </a:ext>
              </a:extLst>
            </p:cNvPr>
            <p:cNvSpPr txBox="1"/>
            <p:nvPr/>
          </p:nvSpPr>
          <p:spPr>
            <a:xfrm>
              <a:off x="4008268" y="1245934"/>
              <a:ext cx="1071322" cy="540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400"/>
                <a:t>排水、</a:t>
              </a:r>
              <a:endParaRPr kumimoji="1" lang="en-US" altLang="ja-JP" sz="1400"/>
            </a:p>
            <a:p>
              <a:pPr algn="ctr"/>
              <a:r>
                <a:rPr kumimoji="1" lang="en-US" altLang="ja-JP" sz="1400"/>
                <a:t>EG</a:t>
              </a:r>
              <a:r>
                <a:rPr kumimoji="1" lang="ja-JP" altLang="en-US" sz="1400"/>
                <a:t>原料水</a:t>
              </a:r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11C997B5-3630-743C-EF1B-3D8570A99025}"/>
                </a:ext>
              </a:extLst>
            </p:cNvPr>
            <p:cNvSpPr/>
            <p:nvPr/>
          </p:nvSpPr>
          <p:spPr>
            <a:xfrm>
              <a:off x="6535442" y="1094169"/>
              <a:ext cx="151191" cy="154051"/>
            </a:xfrm>
            <a:prstGeom prst="ellipse">
              <a:avLst/>
            </a:prstGeom>
            <a:solidFill>
              <a:srgbClr val="A4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5E1DBA1E-D9DB-B28B-FCFB-3644CADF3161}"/>
                </a:ext>
              </a:extLst>
            </p:cNvPr>
            <p:cNvSpPr/>
            <p:nvPr/>
          </p:nvSpPr>
          <p:spPr>
            <a:xfrm>
              <a:off x="4267310" y="3053217"/>
              <a:ext cx="151191" cy="154051"/>
            </a:xfrm>
            <a:prstGeom prst="ellipse">
              <a:avLst/>
            </a:prstGeom>
            <a:solidFill>
              <a:srgbClr val="A4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68A34C76-182F-FEAA-DB98-B0C33C05D369}"/>
                </a:ext>
              </a:extLst>
            </p:cNvPr>
            <p:cNvSpPr/>
            <p:nvPr/>
          </p:nvSpPr>
          <p:spPr>
            <a:xfrm>
              <a:off x="5874770" y="2712065"/>
              <a:ext cx="221230" cy="236523"/>
            </a:xfrm>
            <a:prstGeom prst="ellipse">
              <a:avLst/>
            </a:prstGeom>
            <a:solidFill>
              <a:srgbClr val="F2F2F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3FA2B25F-F5F5-C39E-22EC-2A39067468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2305" y="2695132"/>
              <a:ext cx="295275" cy="236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BFAAEFF3-92F5-CC75-EF84-93E06D5B71DA}"/>
                </a:ext>
              </a:extLst>
            </p:cNvPr>
            <p:cNvSpPr txBox="1"/>
            <p:nvPr/>
          </p:nvSpPr>
          <p:spPr>
            <a:xfrm>
              <a:off x="5956477" y="2563555"/>
              <a:ext cx="6545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1000"/>
                <a:t>E-1501</a:t>
              </a:r>
              <a:endParaRPr kumimoji="1" lang="ja-JP" altLang="en-US" sz="1000"/>
            </a:p>
          </p:txBody>
        </p: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B1F3957D-EA2D-7A94-163A-86705C56F289}"/>
                </a:ext>
              </a:extLst>
            </p:cNvPr>
            <p:cNvCxnSpPr>
              <a:cxnSpLocks/>
              <a:stCxn id="32" idx="4"/>
            </p:cNvCxnSpPr>
            <p:nvPr/>
          </p:nvCxnSpPr>
          <p:spPr>
            <a:xfrm>
              <a:off x="6611038" y="1248220"/>
              <a:ext cx="2530320" cy="21684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BD40250B-38D3-D003-5B1F-9EC186CFAF4A}"/>
                </a:ext>
              </a:extLst>
            </p:cNvPr>
            <p:cNvSpPr/>
            <p:nvPr/>
          </p:nvSpPr>
          <p:spPr>
            <a:xfrm>
              <a:off x="4728198" y="1318661"/>
              <a:ext cx="2085820" cy="1106905"/>
            </a:xfrm>
            <a:custGeom>
              <a:avLst/>
              <a:gdLst>
                <a:gd name="csX0" fmla="*/ 0 w 1944303"/>
                <a:gd name="csY0" fmla="*/ 1106905 h 1106905"/>
                <a:gd name="csX1" fmla="*/ 654518 w 1944303"/>
                <a:gd name="csY1" fmla="*/ 1106905 h 1106905"/>
                <a:gd name="csX2" fmla="*/ 654518 w 1944303"/>
                <a:gd name="csY2" fmla="*/ 0 h 1106905"/>
                <a:gd name="csX3" fmla="*/ 1944303 w 1944303"/>
                <a:gd name="csY3" fmla="*/ 0 h 1106905"/>
                <a:gd name="csX0" fmla="*/ 0 w 1641783"/>
                <a:gd name="csY0" fmla="*/ 1098438 h 1106905"/>
                <a:gd name="csX1" fmla="*/ 351998 w 1641783"/>
                <a:gd name="csY1" fmla="*/ 1106905 h 1106905"/>
                <a:gd name="csX2" fmla="*/ 351998 w 1641783"/>
                <a:gd name="csY2" fmla="*/ 0 h 1106905"/>
                <a:gd name="csX3" fmla="*/ 1641783 w 1641783"/>
                <a:gd name="csY3" fmla="*/ 0 h 1106905"/>
                <a:gd name="csX0" fmla="*/ 0 w 1602748"/>
                <a:gd name="csY0" fmla="*/ 1115371 h 1115371"/>
                <a:gd name="csX1" fmla="*/ 312963 w 1602748"/>
                <a:gd name="csY1" fmla="*/ 1106905 h 1115371"/>
                <a:gd name="csX2" fmla="*/ 312963 w 1602748"/>
                <a:gd name="csY2" fmla="*/ 0 h 1115371"/>
                <a:gd name="csX3" fmla="*/ 1602748 w 1602748"/>
                <a:gd name="csY3" fmla="*/ 0 h 1115371"/>
                <a:gd name="csX0" fmla="*/ 0 w 1602748"/>
                <a:gd name="csY0" fmla="*/ 1102671 h 1106905"/>
                <a:gd name="csX1" fmla="*/ 312963 w 1602748"/>
                <a:gd name="csY1" fmla="*/ 1106905 h 1106905"/>
                <a:gd name="csX2" fmla="*/ 312963 w 1602748"/>
                <a:gd name="csY2" fmla="*/ 0 h 1106905"/>
                <a:gd name="csX3" fmla="*/ 1602748 w 1602748"/>
                <a:gd name="csY3" fmla="*/ 0 h 1106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02748" h="1106905">
                  <a:moveTo>
                    <a:pt x="0" y="1102671"/>
                  </a:moveTo>
                  <a:lnTo>
                    <a:pt x="312963" y="1106905"/>
                  </a:lnTo>
                  <a:lnTo>
                    <a:pt x="312963" y="0"/>
                  </a:lnTo>
                  <a:lnTo>
                    <a:pt x="1602748" y="0"/>
                  </a:lnTo>
                </a:path>
              </a:pathLst>
            </a:custGeom>
            <a:noFill/>
            <a:ln w="28575">
              <a:solidFill>
                <a:srgbClr val="009436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570EEA02-AB08-DAE1-399F-4669D8BC183D}"/>
                </a:ext>
              </a:extLst>
            </p:cNvPr>
            <p:cNvCxnSpPr/>
            <p:nvPr/>
          </p:nvCxnSpPr>
          <p:spPr>
            <a:xfrm>
              <a:off x="5984875" y="889000"/>
              <a:ext cx="829143" cy="0"/>
            </a:xfrm>
            <a:prstGeom prst="straightConnector1">
              <a:avLst/>
            </a:prstGeom>
            <a:ln w="28575">
              <a:solidFill>
                <a:srgbClr val="D69D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034279F0-B8CC-2C73-7EAB-23DCE088D0B3}"/>
                </a:ext>
              </a:extLst>
            </p:cNvPr>
            <p:cNvSpPr txBox="1"/>
            <p:nvPr/>
          </p:nvSpPr>
          <p:spPr>
            <a:xfrm>
              <a:off x="4229210" y="137799"/>
              <a:ext cx="19477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ja-JP" sz="1400"/>
                <a:t>EG</a:t>
              </a:r>
              <a:r>
                <a:rPr lang="ja-JP" altLang="en-US" sz="1400"/>
                <a:t>脱水塔由来の水：</a:t>
              </a:r>
              <a:endParaRPr kumimoji="1" lang="ja-JP" altLang="en-US" sz="1400"/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92D4993F-3B49-FBB3-0F00-D5E8678A8F7C}"/>
                </a:ext>
              </a:extLst>
            </p:cNvPr>
            <p:cNvSpPr txBox="1"/>
            <p:nvPr/>
          </p:nvSpPr>
          <p:spPr>
            <a:xfrm>
              <a:off x="3236009" y="384644"/>
              <a:ext cx="29790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ja-JP" sz="1400"/>
                <a:t>G-ALD</a:t>
              </a:r>
              <a:r>
                <a:rPr lang="ja-JP" altLang="en-US" sz="1400"/>
                <a:t>のアセタール化由来の水：</a:t>
              </a:r>
              <a:endParaRPr kumimoji="1" lang="ja-JP" altLang="en-US" sz="1400"/>
            </a:p>
          </p:txBody>
        </p: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23C40B17-08AD-828A-D5A9-43A816986EED}"/>
                </a:ext>
              </a:extLst>
            </p:cNvPr>
            <p:cNvCxnSpPr>
              <a:cxnSpLocks/>
            </p:cNvCxnSpPr>
            <p:nvPr/>
          </p:nvCxnSpPr>
          <p:spPr>
            <a:xfrm>
              <a:off x="6064470" y="276528"/>
              <a:ext cx="352893" cy="0"/>
            </a:xfrm>
            <a:prstGeom prst="straightConnector1">
              <a:avLst/>
            </a:prstGeom>
            <a:ln w="28575">
              <a:solidFill>
                <a:srgbClr val="D69D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2F6DA551-F696-43D3-3619-13CB3A9DA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61555" y="549579"/>
              <a:ext cx="352893" cy="0"/>
            </a:xfrm>
            <a:prstGeom prst="straightConnector1">
              <a:avLst/>
            </a:prstGeom>
            <a:ln w="28575">
              <a:solidFill>
                <a:srgbClr val="00772A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4" name="図 73">
            <a:extLst>
              <a:ext uri="{FF2B5EF4-FFF2-40B4-BE49-F238E27FC236}">
                <a16:creationId xmlns:a16="http://schemas.microsoft.com/office/drawing/2014/main" id="{52AA101A-8304-1913-AA8E-4C80E2BD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90" t="2580" r="27150" b="82468"/>
          <a:stretch>
            <a:fillRect/>
          </a:stretch>
        </p:blipFill>
        <p:spPr>
          <a:xfrm>
            <a:off x="7166205" y="4000289"/>
            <a:ext cx="2228736" cy="286202"/>
          </a:xfrm>
          <a:prstGeom prst="rect">
            <a:avLst/>
          </a:prstGeom>
        </p:spPr>
      </p:pic>
      <p:pic>
        <p:nvPicPr>
          <p:cNvPr id="75" name="図 74">
            <a:extLst>
              <a:ext uri="{FF2B5EF4-FFF2-40B4-BE49-F238E27FC236}">
                <a16:creationId xmlns:a16="http://schemas.microsoft.com/office/drawing/2014/main" id="{A341A242-11C4-8382-BE4A-2780DB9E4D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064" r="25660" b="52674"/>
          <a:stretch>
            <a:fillRect/>
          </a:stretch>
        </p:blipFill>
        <p:spPr>
          <a:xfrm>
            <a:off x="7227226" y="4627096"/>
            <a:ext cx="2228736" cy="234729"/>
          </a:xfrm>
          <a:prstGeom prst="rect">
            <a:avLst/>
          </a:prstGeom>
        </p:spPr>
      </p:pic>
      <p:pic>
        <p:nvPicPr>
          <p:cNvPr id="76" name="図 75">
            <a:extLst>
              <a:ext uri="{FF2B5EF4-FFF2-40B4-BE49-F238E27FC236}">
                <a16:creationId xmlns:a16="http://schemas.microsoft.com/office/drawing/2014/main" id="{E30CE28F-4E3C-463D-2A5A-BDA0162F36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" t="64053" r="12275" b="19511"/>
          <a:stretch>
            <a:fillRect/>
          </a:stretch>
        </p:blipFill>
        <p:spPr>
          <a:xfrm>
            <a:off x="7332522" y="5809227"/>
            <a:ext cx="2565234" cy="314625"/>
          </a:xfrm>
          <a:prstGeom prst="rect">
            <a:avLst/>
          </a:prstGeom>
        </p:spPr>
      </p:pic>
      <p:pic>
        <p:nvPicPr>
          <p:cNvPr id="79" name="図 78">
            <a:extLst>
              <a:ext uri="{FF2B5EF4-FFF2-40B4-BE49-F238E27FC236}">
                <a16:creationId xmlns:a16="http://schemas.microsoft.com/office/drawing/2014/main" id="{59465BF2-8C99-7FFA-F2A1-1109C9D8E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794" y="1414155"/>
            <a:ext cx="3295056" cy="940868"/>
          </a:xfrm>
          <a:prstGeom prst="rect">
            <a:avLst/>
          </a:prstGeom>
        </p:spPr>
      </p:pic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FDFFC98-8A17-5338-CA55-B4957499CE67}"/>
              </a:ext>
            </a:extLst>
          </p:cNvPr>
          <p:cNvSpPr txBox="1"/>
          <p:nvPr/>
        </p:nvSpPr>
        <p:spPr>
          <a:xfrm>
            <a:off x="8388085" y="1038905"/>
            <a:ext cx="297907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400" b="1" u="sng"/>
              <a:t>G-ALD</a:t>
            </a:r>
            <a:r>
              <a:rPr lang="ja-JP" altLang="en-US" sz="1400" b="1" u="sng"/>
              <a:t>のアセタール化</a:t>
            </a:r>
            <a:endParaRPr kumimoji="1" lang="ja-JP" altLang="en-US" sz="1400" b="1" u="sng"/>
          </a:p>
        </p:txBody>
      </p:sp>
      <p:sp>
        <p:nvSpPr>
          <p:cNvPr id="3" name="動作設定ボタン: 戻る/前へ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8F2D07B-C230-E2FB-3953-5297A4FF374E}"/>
              </a:ext>
            </a:extLst>
          </p:cNvPr>
          <p:cNvSpPr/>
          <p:nvPr/>
        </p:nvSpPr>
        <p:spPr>
          <a:xfrm>
            <a:off x="11656194" y="6474645"/>
            <a:ext cx="293305" cy="239419"/>
          </a:xfrm>
          <a:prstGeom prst="actionButtonBackPrevious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41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55DA7CB-87F5-A10B-8460-0179C7AF8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21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F8ECDA6-26BB-EC1E-EFF4-415BDAEA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da-DK" altLang="ja-JP"/>
              <a:t>MEG</a:t>
            </a:r>
            <a:r>
              <a:rPr kumimoji="1" lang="ja-JP" altLang="da-DK"/>
              <a:t>塔</a:t>
            </a:r>
            <a:r>
              <a:rPr kumimoji="1" lang="da-DK" altLang="ja-JP"/>
              <a:t>TOP(IER</a:t>
            </a:r>
            <a:r>
              <a:rPr kumimoji="1" lang="ja-JP" altLang="da-DK"/>
              <a:t>前</a:t>
            </a:r>
            <a:r>
              <a:rPr kumimoji="1" lang="da-DK" altLang="ja-JP"/>
              <a:t>)</a:t>
            </a:r>
            <a:r>
              <a:rPr kumimoji="1" lang="en-US" altLang="ja-JP"/>
              <a:t> AALD</a:t>
            </a:r>
            <a:r>
              <a:rPr kumimoji="1" lang="ja-JP" altLang="en-US"/>
              <a:t>と</a:t>
            </a:r>
            <a:r>
              <a:rPr lang="en-US" altLang="ja-JP"/>
              <a:t>HUV220nm</a:t>
            </a:r>
            <a:r>
              <a:rPr lang="ja-JP" altLang="en-US"/>
              <a:t>の挙動</a:t>
            </a:r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CD60A93-35DA-4C8E-936E-758F6F74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10" y="927299"/>
            <a:ext cx="5369896" cy="296411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238E12C-4C10-AA51-8C15-301B5C2A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10" y="4036741"/>
            <a:ext cx="5451178" cy="221970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564BCAD-E768-5BCB-5457-3B49D1017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212" y="3428999"/>
            <a:ext cx="5233606" cy="28274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1378B3-9F5D-6C32-DCB7-FCBF9AAAB504}"/>
              </a:ext>
            </a:extLst>
          </p:cNvPr>
          <p:cNvSpPr txBox="1"/>
          <p:nvPr/>
        </p:nvSpPr>
        <p:spPr>
          <a:xfrm>
            <a:off x="3222111" y="2697479"/>
            <a:ext cx="3443094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lvl="0">
              <a:defRPr/>
            </a:pPr>
            <a:r>
              <a:rPr lang="en-US" altLang="ja-JP" sz="1600">
                <a:solidFill>
                  <a:srgbClr val="A40000"/>
                </a:solidFill>
                <a:latin typeface="+mn-ea"/>
              </a:rPr>
              <a:t>MEG</a:t>
            </a:r>
            <a:r>
              <a:rPr lang="ja-JP" altLang="en-US" sz="1600">
                <a:solidFill>
                  <a:srgbClr val="A40000"/>
                </a:solidFill>
                <a:latin typeface="+mn-ea"/>
              </a:rPr>
              <a:t>塔</a:t>
            </a:r>
            <a:r>
              <a:rPr lang="en-US" altLang="ja-JP" sz="1600">
                <a:solidFill>
                  <a:srgbClr val="A40000"/>
                </a:solidFill>
                <a:latin typeface="+mn-ea"/>
              </a:rPr>
              <a:t>TOP(IER</a:t>
            </a:r>
            <a:r>
              <a:rPr lang="ja-JP" altLang="en-US" sz="1600">
                <a:solidFill>
                  <a:srgbClr val="A40000"/>
                </a:solidFill>
                <a:latin typeface="+mn-ea"/>
              </a:rPr>
              <a:t>前</a:t>
            </a:r>
            <a:r>
              <a:rPr lang="en-US" altLang="ja-JP" sz="1600">
                <a:solidFill>
                  <a:srgbClr val="A40000"/>
                </a:solidFill>
                <a:latin typeface="+mn-ea"/>
              </a:rPr>
              <a:t>)AALD wtppm</a:t>
            </a:r>
            <a:endParaRPr lang="ja-JP" altLang="en-US" sz="1600">
              <a:solidFill>
                <a:srgbClr val="A40000"/>
              </a:solidFill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67D3A4-8C6F-60E9-7772-620FED28B172}"/>
              </a:ext>
            </a:extLst>
          </p:cNvPr>
          <p:cNvSpPr txBox="1"/>
          <p:nvPr/>
        </p:nvSpPr>
        <p:spPr>
          <a:xfrm>
            <a:off x="3756602" y="1569470"/>
            <a:ext cx="2908603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lvl="0">
              <a:defRPr/>
            </a:pPr>
            <a:r>
              <a:rPr lang="ja-JP" altLang="en-US" sz="1600">
                <a:solidFill>
                  <a:schemeClr val="accent1"/>
                </a:solidFill>
                <a:latin typeface="+mn-ea"/>
              </a:rPr>
              <a:t>製品</a:t>
            </a:r>
            <a:r>
              <a:rPr lang="en-US" altLang="ja-JP" sz="1600">
                <a:solidFill>
                  <a:schemeClr val="accent1"/>
                </a:solidFill>
                <a:latin typeface="+mn-ea"/>
              </a:rPr>
              <a:t>MEG HUV220nm -logT</a:t>
            </a:r>
            <a:endParaRPr lang="ja-JP" altLang="en-US" sz="16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06FC703-16DE-603A-AF1F-9D40ABC069D2}"/>
              </a:ext>
            </a:extLst>
          </p:cNvPr>
          <p:cNvSpPr txBox="1"/>
          <p:nvPr/>
        </p:nvSpPr>
        <p:spPr>
          <a:xfrm>
            <a:off x="7012860" y="2994258"/>
            <a:ext cx="4200571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lvl="0">
              <a:defRPr/>
            </a:pPr>
            <a:r>
              <a:rPr lang="ja-JP" altLang="en-US" sz="1600">
                <a:latin typeface="+mn-ea"/>
              </a:rPr>
              <a:t>参考：</a:t>
            </a:r>
            <a:r>
              <a:rPr lang="en-US" altLang="ja-JP" sz="1600">
                <a:latin typeface="+mn-ea"/>
              </a:rPr>
              <a:t>2016</a:t>
            </a:r>
            <a:r>
              <a:rPr lang="ja-JP" altLang="en-US" sz="1600">
                <a:latin typeface="+mn-ea"/>
              </a:rPr>
              <a:t>以降の</a:t>
            </a:r>
            <a:r>
              <a:rPr lang="en-US" altLang="ja-JP" sz="1600">
                <a:latin typeface="+mn-ea"/>
              </a:rPr>
              <a:t>C-1501BTM</a:t>
            </a:r>
            <a:r>
              <a:rPr lang="ja-JP" altLang="en-US" sz="1600">
                <a:latin typeface="+mn-ea"/>
              </a:rPr>
              <a:t>温度実績</a:t>
            </a:r>
          </a:p>
        </p:txBody>
      </p:sp>
      <p:sp>
        <p:nvSpPr>
          <p:cNvPr id="3" name="動作設定ボタン: 戻る/前へ 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07B9424-D4AF-CF60-E7EA-140B4FA53C25}"/>
              </a:ext>
            </a:extLst>
          </p:cNvPr>
          <p:cNvSpPr/>
          <p:nvPr/>
        </p:nvSpPr>
        <p:spPr>
          <a:xfrm>
            <a:off x="11656194" y="6474645"/>
            <a:ext cx="293305" cy="239419"/>
          </a:xfrm>
          <a:prstGeom prst="actionButtonBackPrevious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736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14AB-92C8-282C-12EA-5C2A4EFB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C71721D-0FBB-5D00-56AB-8747EC176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394356-8693-4048-8EAF-2BF05B04AA80}" type="slidenum">
              <a:rPr lang="ja-JP" altLang="en-US" smtClean="0"/>
              <a:pPr/>
              <a:t>22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CA5BB68-8401-36F5-8529-008DD73C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98" y="661077"/>
            <a:ext cx="9327072" cy="369332"/>
          </a:xfrm>
        </p:spPr>
        <p:txBody>
          <a:bodyPr/>
          <a:lstStyle/>
          <a:p>
            <a:r>
              <a:rPr kumimoji="1" lang="en-US" altLang="ja-JP"/>
              <a:t>AALD/FALD </a:t>
            </a:r>
            <a:r>
              <a:rPr lang="ja-JP" altLang="en-US"/>
              <a:t>バランス</a:t>
            </a:r>
            <a:r>
              <a:rPr kumimoji="1" lang="ja-JP" altLang="en-US"/>
              <a:t>　</a:t>
            </a:r>
            <a:r>
              <a:rPr kumimoji="1" lang="en-US" altLang="ja-JP"/>
              <a:t>(g/h)</a:t>
            </a:r>
            <a:r>
              <a:rPr lang="ja-JP" altLang="en-US"/>
              <a:t> </a:t>
            </a:r>
            <a:br>
              <a:rPr lang="en-US" altLang="ja-JP"/>
            </a:br>
            <a:endParaRPr kumimoji="1" lang="ja-JP" altLang="en-US">
              <a:highlight>
                <a:srgbClr val="FFFF00"/>
              </a:highlight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EE7408E-26E7-1BE1-D211-2ACD80A55C53}"/>
              </a:ext>
            </a:extLst>
          </p:cNvPr>
          <p:cNvSpPr/>
          <p:nvPr/>
        </p:nvSpPr>
        <p:spPr>
          <a:xfrm>
            <a:off x="442243" y="3198567"/>
            <a:ext cx="540685" cy="10824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脱水塔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CC74398-B831-4F26-A022-48C0F3904257}"/>
              </a:ext>
            </a:extLst>
          </p:cNvPr>
          <p:cNvSpPr/>
          <p:nvPr/>
        </p:nvSpPr>
        <p:spPr>
          <a:xfrm>
            <a:off x="2140857" y="3153098"/>
            <a:ext cx="540685" cy="10824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MEG</a:t>
            </a:r>
            <a:r>
              <a:rPr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精製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1374CD6-5BAE-C582-11E2-B58B3FB40132}"/>
              </a:ext>
            </a:extLst>
          </p:cNvPr>
          <p:cNvSpPr/>
          <p:nvPr/>
        </p:nvSpPr>
        <p:spPr>
          <a:xfrm>
            <a:off x="4248955" y="3057088"/>
            <a:ext cx="540685" cy="10824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リサイクル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塔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3291F4F-07CF-E47F-F739-C48AD9C01B76}"/>
              </a:ext>
            </a:extLst>
          </p:cNvPr>
          <p:cNvSpPr/>
          <p:nvPr/>
        </p:nvSpPr>
        <p:spPr>
          <a:xfrm>
            <a:off x="1705987" y="3612003"/>
            <a:ext cx="167310" cy="201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6F83CB6F-1ED0-541B-5224-51A2711F1D04}"/>
              </a:ext>
            </a:extLst>
          </p:cNvPr>
          <p:cNvCxnSpPr>
            <a:cxnSpLocks/>
            <a:stCxn id="11" idx="2"/>
            <a:endCxn id="12" idx="1"/>
          </p:cNvCxnSpPr>
          <p:nvPr/>
        </p:nvCxnSpPr>
        <p:spPr>
          <a:xfrm rot="5400000" flipH="1" flipV="1">
            <a:off x="1133373" y="3273537"/>
            <a:ext cx="586697" cy="1428271"/>
          </a:xfrm>
          <a:prstGeom prst="bentConnector4">
            <a:avLst>
              <a:gd name="adj1" fmla="val -36017"/>
              <a:gd name="adj2" fmla="val 5946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8697B44F-7838-2803-3EB2-2185DFD4549A}"/>
              </a:ext>
            </a:extLst>
          </p:cNvPr>
          <p:cNvCxnSpPr>
            <a:cxnSpLocks/>
            <a:stCxn id="11" idx="0"/>
            <a:endCxn id="34" idx="1"/>
          </p:cNvCxnSpPr>
          <p:nvPr/>
        </p:nvCxnSpPr>
        <p:spPr>
          <a:xfrm rot="5400000" flipH="1" flipV="1">
            <a:off x="655960" y="2933166"/>
            <a:ext cx="322028" cy="20877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16AE3F48-6A6C-6B39-B772-F8658E024B33}"/>
              </a:ext>
            </a:extLst>
          </p:cNvPr>
          <p:cNvCxnSpPr>
            <a:cxnSpLocks/>
            <a:stCxn id="12" idx="0"/>
            <a:endCxn id="29" idx="1"/>
          </p:cNvCxnSpPr>
          <p:nvPr/>
        </p:nvCxnSpPr>
        <p:spPr>
          <a:xfrm rot="5400000" flipH="1" flipV="1">
            <a:off x="2282956" y="2648190"/>
            <a:ext cx="633153" cy="37666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65DD5AEF-894A-1C92-5379-078E67E9FA06}"/>
              </a:ext>
            </a:extLst>
          </p:cNvPr>
          <p:cNvCxnSpPr>
            <a:cxnSpLocks/>
            <a:stCxn id="12" idx="2"/>
            <a:endCxn id="13" idx="1"/>
          </p:cNvCxnSpPr>
          <p:nvPr/>
        </p:nvCxnSpPr>
        <p:spPr>
          <a:xfrm rot="5400000" flipH="1" flipV="1">
            <a:off x="3011459" y="2998056"/>
            <a:ext cx="637237" cy="1837755"/>
          </a:xfrm>
          <a:prstGeom prst="bentConnector4">
            <a:avLst>
              <a:gd name="adj1" fmla="val -33160"/>
              <a:gd name="adj2" fmla="val 57355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1A7B5A2C-6F08-7C3F-B1B3-B3CF0DF577BB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4538634" y="4120205"/>
            <a:ext cx="366512" cy="405183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A1445E3E-2E69-5931-A6EE-64FCA1C946BD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 flipV="1">
            <a:off x="2681543" y="3282720"/>
            <a:ext cx="511597" cy="411605"/>
          </a:xfrm>
          <a:prstGeom prst="bentConnector3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B2915C0-755E-3575-AA69-DACD46C0CAB4}"/>
              </a:ext>
            </a:extLst>
          </p:cNvPr>
          <p:cNvSpPr txBox="1"/>
          <p:nvPr/>
        </p:nvSpPr>
        <p:spPr>
          <a:xfrm>
            <a:off x="329675" y="4440224"/>
            <a:ext cx="796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/>
              <a:t>C-1404</a:t>
            </a:r>
            <a:endParaRPr kumimoji="1" lang="ja-JP" altLang="en-US" sz="140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5A6998F-89C0-3734-8D2E-52C3ADD1808E}"/>
              </a:ext>
            </a:extLst>
          </p:cNvPr>
          <p:cNvSpPr txBox="1"/>
          <p:nvPr/>
        </p:nvSpPr>
        <p:spPr>
          <a:xfrm>
            <a:off x="2088239" y="4413549"/>
            <a:ext cx="796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/>
              <a:t>C-1501</a:t>
            </a:r>
            <a:endParaRPr kumimoji="1" lang="ja-JP" altLang="en-US" sz="14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B546516-152D-E901-405B-D92F25D0CFDD}"/>
              </a:ext>
            </a:extLst>
          </p:cNvPr>
          <p:cNvSpPr txBox="1"/>
          <p:nvPr/>
        </p:nvSpPr>
        <p:spPr>
          <a:xfrm>
            <a:off x="3973892" y="4533368"/>
            <a:ext cx="796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/>
              <a:t>C-1502</a:t>
            </a:r>
            <a:endParaRPr kumimoji="1" lang="ja-JP" altLang="en-US" sz="14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1D97AF6-E9E8-1029-0714-F4C45A1AB70C}"/>
              </a:ext>
            </a:extLst>
          </p:cNvPr>
          <p:cNvSpPr txBox="1"/>
          <p:nvPr/>
        </p:nvSpPr>
        <p:spPr>
          <a:xfrm>
            <a:off x="3193139" y="3012446"/>
            <a:ext cx="1052477" cy="5405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400"/>
              <a:t>MEG</a:t>
            </a:r>
          </a:p>
          <a:p>
            <a:pPr algn="ctr"/>
            <a:r>
              <a:rPr lang="ja-JP" altLang="en-US" sz="1400"/>
              <a:t>リサイクル</a:t>
            </a:r>
            <a:endParaRPr kumimoji="1" lang="ja-JP" altLang="en-US" sz="14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E8DF973-CCE7-2D8B-31BE-5BF37FF233A5}"/>
              </a:ext>
            </a:extLst>
          </p:cNvPr>
          <p:cNvSpPr txBox="1"/>
          <p:nvPr/>
        </p:nvSpPr>
        <p:spPr>
          <a:xfrm>
            <a:off x="2787864" y="2366056"/>
            <a:ext cx="57137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400"/>
              <a:t>IER</a:t>
            </a:r>
            <a:endParaRPr kumimoji="1" lang="ja-JP" altLang="en-US" sz="1400"/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7BD91E9A-CCA3-4530-8A2D-8BE2CF0C6E54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3359241" y="2519945"/>
            <a:ext cx="582021" cy="29051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C83D9DD-2B3C-279E-61C5-57D4BD91ED8D}"/>
              </a:ext>
            </a:extLst>
          </p:cNvPr>
          <p:cNvSpPr txBox="1"/>
          <p:nvPr/>
        </p:nvSpPr>
        <p:spPr>
          <a:xfrm>
            <a:off x="3941262" y="2540188"/>
            <a:ext cx="660569" cy="5405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400"/>
              <a:t>製品</a:t>
            </a:r>
            <a:r>
              <a:rPr lang="en-US" altLang="ja-JP" sz="1400"/>
              <a:t>MEG</a:t>
            </a:r>
            <a:endParaRPr kumimoji="1" lang="ja-JP" altLang="en-US" sz="1400"/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8F5D9AD7-2136-EB9D-3BD9-5B053B927C80}"/>
              </a:ext>
            </a:extLst>
          </p:cNvPr>
          <p:cNvCxnSpPr>
            <a:cxnSpLocks/>
            <a:stCxn id="13" idx="0"/>
            <a:endCxn id="12" idx="1"/>
          </p:cNvCxnSpPr>
          <p:nvPr/>
        </p:nvCxnSpPr>
        <p:spPr>
          <a:xfrm rot="16200000" flipH="1" flipV="1">
            <a:off x="3011459" y="2186486"/>
            <a:ext cx="637237" cy="2378441"/>
          </a:xfrm>
          <a:prstGeom prst="bentConnector4">
            <a:avLst>
              <a:gd name="adj1" fmla="val -143252"/>
              <a:gd name="adj2" fmla="val 108719"/>
            </a:avLst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D7C27F6-0E52-1E39-40DA-CF6F49AD3F84}"/>
              </a:ext>
            </a:extLst>
          </p:cNvPr>
          <p:cNvSpPr txBox="1"/>
          <p:nvPr/>
        </p:nvSpPr>
        <p:spPr>
          <a:xfrm>
            <a:off x="4741980" y="4349580"/>
            <a:ext cx="1166847" cy="31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/>
              <a:t>DEG/TEG</a:t>
            </a:r>
            <a:endParaRPr kumimoji="1" lang="ja-JP" altLang="en-US" sz="14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592098E-1710-AD90-7D44-17093E28AC85}"/>
              </a:ext>
            </a:extLst>
          </p:cNvPr>
          <p:cNvSpPr txBox="1"/>
          <p:nvPr/>
        </p:nvSpPr>
        <p:spPr>
          <a:xfrm>
            <a:off x="921362" y="2606266"/>
            <a:ext cx="1071322" cy="5405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400"/>
              <a:t>排水、</a:t>
            </a:r>
            <a:endParaRPr kumimoji="1" lang="en-US" altLang="ja-JP" sz="1400"/>
          </a:p>
          <a:p>
            <a:pPr algn="ctr"/>
            <a:r>
              <a:rPr kumimoji="1" lang="en-US" altLang="ja-JP" sz="1400"/>
              <a:t>EG</a:t>
            </a:r>
            <a:r>
              <a:rPr kumimoji="1" lang="ja-JP" altLang="en-US" sz="1400"/>
              <a:t>原料水</a:t>
            </a: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383CA931-A7C1-6B4A-BEBF-F484DE7E5CE9}"/>
              </a:ext>
            </a:extLst>
          </p:cNvPr>
          <p:cNvSpPr/>
          <p:nvPr/>
        </p:nvSpPr>
        <p:spPr>
          <a:xfrm>
            <a:off x="4360231" y="2249111"/>
            <a:ext cx="151191" cy="154051"/>
          </a:xfrm>
          <a:prstGeom prst="ellipse">
            <a:avLst/>
          </a:prstGeom>
          <a:solidFill>
            <a:srgbClr val="A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F0FDE8A8-F037-742F-8C8C-F72A1F79E81B}"/>
              </a:ext>
            </a:extLst>
          </p:cNvPr>
          <p:cNvSpPr/>
          <p:nvPr/>
        </p:nvSpPr>
        <p:spPr>
          <a:xfrm>
            <a:off x="2310357" y="2712779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C23DC4F4-82EA-6A23-6919-770393AC1EE5}"/>
              </a:ext>
            </a:extLst>
          </p:cNvPr>
          <p:cNvSpPr/>
          <p:nvPr/>
        </p:nvSpPr>
        <p:spPr>
          <a:xfrm>
            <a:off x="4450640" y="4281807"/>
            <a:ext cx="151191" cy="154051"/>
          </a:xfrm>
          <a:prstGeom prst="ellipse">
            <a:avLst/>
          </a:prstGeom>
          <a:solidFill>
            <a:srgbClr val="A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CAD85FEE-0273-1723-3522-350C4CC18220}"/>
              </a:ext>
            </a:extLst>
          </p:cNvPr>
          <p:cNvSpPr/>
          <p:nvPr/>
        </p:nvSpPr>
        <p:spPr>
          <a:xfrm>
            <a:off x="1666172" y="3649018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17596AEE-8DFE-F75F-BEA2-05A25795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57" y="799588"/>
            <a:ext cx="5715798" cy="2419688"/>
          </a:xfrm>
          <a:prstGeom prst="rect">
            <a:avLst/>
          </a:prstGeom>
        </p:spPr>
      </p:pic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073FA3E-424F-4884-59D1-A4FF97DF6802}"/>
              </a:ext>
            </a:extLst>
          </p:cNvPr>
          <p:cNvCxnSpPr/>
          <p:nvPr/>
        </p:nvCxnSpPr>
        <p:spPr>
          <a:xfrm>
            <a:off x="6953583" y="2678066"/>
            <a:ext cx="4786308" cy="0"/>
          </a:xfrm>
          <a:prstGeom prst="line">
            <a:avLst/>
          </a:prstGeom>
          <a:ln w="19050">
            <a:solidFill>
              <a:srgbClr val="A4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楕円 34">
            <a:extLst>
              <a:ext uri="{FF2B5EF4-FFF2-40B4-BE49-F238E27FC236}">
                <a16:creationId xmlns:a16="http://schemas.microsoft.com/office/drawing/2014/main" id="{3B418EE1-8C5C-57EE-0192-BA24FAA9B824}"/>
              </a:ext>
            </a:extLst>
          </p:cNvPr>
          <p:cNvSpPr/>
          <p:nvPr/>
        </p:nvSpPr>
        <p:spPr>
          <a:xfrm>
            <a:off x="3144557" y="4367829"/>
            <a:ext cx="151191" cy="154051"/>
          </a:xfrm>
          <a:prstGeom prst="ellipse">
            <a:avLst/>
          </a:prstGeom>
          <a:solidFill>
            <a:srgbClr val="A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7AEB59A9-090F-655D-E333-966EBF65D0AE}"/>
              </a:ext>
            </a:extLst>
          </p:cNvPr>
          <p:cNvSpPr/>
          <p:nvPr/>
        </p:nvSpPr>
        <p:spPr>
          <a:xfrm>
            <a:off x="3137182" y="4195529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7B39CC08-8D8C-5379-AAD8-D6643F33C8AF}"/>
              </a:ext>
            </a:extLst>
          </p:cNvPr>
          <p:cNvSpPr/>
          <p:nvPr/>
        </p:nvSpPr>
        <p:spPr>
          <a:xfrm>
            <a:off x="4506872" y="2242665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7E678036-73BE-B23B-544D-835990671205}"/>
              </a:ext>
            </a:extLst>
          </p:cNvPr>
          <p:cNvSpPr/>
          <p:nvPr/>
        </p:nvSpPr>
        <p:spPr>
          <a:xfrm>
            <a:off x="2800693" y="3595966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3FB67892-25BC-16F9-2D15-38B9732147D4}"/>
              </a:ext>
            </a:extLst>
          </p:cNvPr>
          <p:cNvSpPr/>
          <p:nvPr/>
        </p:nvSpPr>
        <p:spPr>
          <a:xfrm>
            <a:off x="1666172" y="3801624"/>
            <a:ext cx="151191" cy="154051"/>
          </a:xfrm>
          <a:prstGeom prst="ellipse">
            <a:avLst/>
          </a:prstGeom>
          <a:solidFill>
            <a:srgbClr val="007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DDCF4079-CCB0-5E1A-2F7B-45FE94AF888D}"/>
              </a:ext>
            </a:extLst>
          </p:cNvPr>
          <p:cNvSpPr/>
          <p:nvPr/>
        </p:nvSpPr>
        <p:spPr>
          <a:xfrm>
            <a:off x="4611965" y="4304158"/>
            <a:ext cx="151191" cy="154051"/>
          </a:xfrm>
          <a:prstGeom prst="ellipse">
            <a:avLst/>
          </a:prstGeom>
          <a:solidFill>
            <a:srgbClr val="007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5501C95-7F0A-EE55-D4AC-BD70068E21C7}"/>
              </a:ext>
            </a:extLst>
          </p:cNvPr>
          <p:cNvSpPr txBox="1"/>
          <p:nvPr/>
        </p:nvSpPr>
        <p:spPr>
          <a:xfrm>
            <a:off x="9470082" y="2400570"/>
            <a:ext cx="4041988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↓</a:t>
            </a:r>
            <a:r>
              <a:rPr kumimoji="1" lang="en-US" altLang="ja-JP" sz="11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C-1502</a:t>
            </a:r>
            <a:r>
              <a:rPr lang="ja-JP" altLang="en-US" sz="110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lang="en-US" altLang="ja-JP" sz="1100">
                <a:solidFill>
                  <a:sysClr val="windowText" lastClr="000000"/>
                </a:solidFill>
                <a:latin typeface="+mn-ea"/>
              </a:rPr>
              <a:t>AALD</a:t>
            </a:r>
            <a:r>
              <a:rPr lang="ja-JP" altLang="en-US" sz="1100">
                <a:solidFill>
                  <a:sysClr val="windowText" lastClr="000000"/>
                </a:solidFill>
                <a:latin typeface="+mn-ea"/>
              </a:rPr>
              <a:t>バランス実績</a:t>
            </a:r>
            <a:r>
              <a:rPr lang="en-US" altLang="ja-JP" sz="1100">
                <a:solidFill>
                  <a:sysClr val="windowText" lastClr="000000"/>
                </a:solidFill>
                <a:latin typeface="+mn-ea"/>
              </a:rPr>
              <a:t>(2022)</a:t>
            </a:r>
            <a:endParaRPr kumimoji="1" lang="ja-JP" altLang="en-US" sz="1100" b="0" i="0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ECC296F2-746D-2A80-397C-593CA4ECA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91" y="3679346"/>
            <a:ext cx="5744377" cy="2372056"/>
          </a:xfrm>
          <a:prstGeom prst="rect">
            <a:avLst/>
          </a:prstGeom>
        </p:spPr>
      </p:pic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9768BFA-5CE9-9ACF-6A53-45751554625A}"/>
              </a:ext>
            </a:extLst>
          </p:cNvPr>
          <p:cNvCxnSpPr/>
          <p:nvPr/>
        </p:nvCxnSpPr>
        <p:spPr>
          <a:xfrm>
            <a:off x="6782202" y="5256107"/>
            <a:ext cx="4786308" cy="0"/>
          </a:xfrm>
          <a:prstGeom prst="line">
            <a:avLst/>
          </a:prstGeom>
          <a:ln w="19050">
            <a:solidFill>
              <a:srgbClr val="A4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6818F52-AEED-295C-B28A-FB7E6C79C374}"/>
              </a:ext>
            </a:extLst>
          </p:cNvPr>
          <p:cNvSpPr txBox="1"/>
          <p:nvPr/>
        </p:nvSpPr>
        <p:spPr>
          <a:xfrm>
            <a:off x="9736545" y="4957198"/>
            <a:ext cx="4041988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↓</a:t>
            </a:r>
            <a:r>
              <a:rPr kumimoji="1" lang="en-US" altLang="ja-JP" sz="11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C-1502</a:t>
            </a:r>
            <a:r>
              <a:rPr lang="ja-JP" altLang="en-US" sz="110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lang="en-US" altLang="ja-JP" sz="1100">
                <a:solidFill>
                  <a:sysClr val="windowText" lastClr="000000"/>
                </a:solidFill>
                <a:latin typeface="+mn-ea"/>
              </a:rPr>
              <a:t>FALD</a:t>
            </a:r>
            <a:r>
              <a:rPr lang="ja-JP" altLang="en-US" sz="1100">
                <a:solidFill>
                  <a:sysClr val="windowText" lastClr="000000"/>
                </a:solidFill>
                <a:latin typeface="+mn-ea"/>
              </a:rPr>
              <a:t>バランス実績</a:t>
            </a:r>
            <a:r>
              <a:rPr lang="en-US" altLang="ja-JP" sz="1100">
                <a:solidFill>
                  <a:sysClr val="windowText" lastClr="000000"/>
                </a:solidFill>
                <a:latin typeface="+mn-ea"/>
              </a:rPr>
              <a:t>(2022)</a:t>
            </a:r>
            <a:endParaRPr kumimoji="1" lang="ja-JP" altLang="en-US" sz="1100" b="0" i="0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E707AA3-85C2-CB5F-A401-B82512FE4D38}"/>
              </a:ext>
            </a:extLst>
          </p:cNvPr>
          <p:cNvSpPr txBox="1"/>
          <p:nvPr/>
        </p:nvSpPr>
        <p:spPr>
          <a:xfrm>
            <a:off x="5694557" y="677128"/>
            <a:ext cx="4041988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AALD</a:t>
            </a:r>
            <a:r>
              <a:rPr kumimoji="1" lang="ja-JP" altLang="en-US" sz="160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バランス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ED4E1A4-2EA5-8466-F864-3D1C9F026D50}"/>
              </a:ext>
            </a:extLst>
          </p:cNvPr>
          <p:cNvSpPr txBox="1"/>
          <p:nvPr/>
        </p:nvSpPr>
        <p:spPr>
          <a:xfrm>
            <a:off x="5780074" y="3541034"/>
            <a:ext cx="4041988" cy="731520"/>
          </a:xfrm>
          <a:prstGeom prst="rect">
            <a:avLst/>
          </a:prstGeom>
          <a:noFill/>
        </p:spPr>
        <p:txBody>
          <a:bodyPr wrap="square" lIns="0" tIns="72000" rIns="234000" bIns="0" rtlCol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b="1" u="sng">
                <a:solidFill>
                  <a:sysClr val="windowText" lastClr="000000"/>
                </a:solidFill>
                <a:latin typeface="+mn-ea"/>
              </a:rPr>
              <a:t>F</a:t>
            </a:r>
            <a:r>
              <a:rPr kumimoji="1" lang="en-US" altLang="ja-JP" sz="160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ALD</a:t>
            </a:r>
            <a:r>
              <a:rPr kumimoji="1" lang="ja-JP" altLang="en-US" sz="160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バランス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D12C9FAB-1BDC-4A14-44DC-040AE0E48752}"/>
              </a:ext>
            </a:extLst>
          </p:cNvPr>
          <p:cNvSpPr txBox="1"/>
          <p:nvPr/>
        </p:nvSpPr>
        <p:spPr>
          <a:xfrm>
            <a:off x="102564" y="1390694"/>
            <a:ext cx="2271777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400"/>
              <a:t>バランス計算 使用箇所：</a:t>
            </a:r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0D3FD707-B1E2-1770-6751-34FF7F487BD5}"/>
              </a:ext>
            </a:extLst>
          </p:cNvPr>
          <p:cNvSpPr/>
          <p:nvPr/>
        </p:nvSpPr>
        <p:spPr>
          <a:xfrm>
            <a:off x="2722067" y="1450840"/>
            <a:ext cx="151191" cy="154051"/>
          </a:xfrm>
          <a:prstGeom prst="ellipse">
            <a:avLst/>
          </a:prstGeom>
          <a:solidFill>
            <a:srgbClr val="A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3C7DD173-F59A-75AA-CB19-D3B7F199D29E}"/>
              </a:ext>
            </a:extLst>
          </p:cNvPr>
          <p:cNvSpPr/>
          <p:nvPr/>
        </p:nvSpPr>
        <p:spPr>
          <a:xfrm>
            <a:off x="2530351" y="1450841"/>
            <a:ext cx="151191" cy="1540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4DE55CF2-0EEA-94C8-4102-51A97E64BAA1}"/>
              </a:ext>
            </a:extLst>
          </p:cNvPr>
          <p:cNvSpPr/>
          <p:nvPr/>
        </p:nvSpPr>
        <p:spPr>
          <a:xfrm>
            <a:off x="2936083" y="1462478"/>
            <a:ext cx="151191" cy="154051"/>
          </a:xfrm>
          <a:prstGeom prst="ellipse">
            <a:avLst/>
          </a:prstGeom>
          <a:solidFill>
            <a:srgbClr val="007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" name="動作設定ボタン: 戻る/前へ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5EA604A-1660-8C43-23C0-F2B312904F6A}"/>
              </a:ext>
            </a:extLst>
          </p:cNvPr>
          <p:cNvSpPr/>
          <p:nvPr/>
        </p:nvSpPr>
        <p:spPr>
          <a:xfrm>
            <a:off x="11656194" y="6474645"/>
            <a:ext cx="293305" cy="239419"/>
          </a:xfrm>
          <a:prstGeom prst="actionButtonBackPrevious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25357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どこで色相悪化物質ができるか（工程と反応場）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EO反応系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866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EG反応系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8300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EG濃縮系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8734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EG脱水系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9168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MEG精製系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96020" y="1325880"/>
            <a:ext cx="1417320" cy="713232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DEG精製系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00360" y="1325880"/>
            <a:ext cx="1417320" cy="713232"/>
          </a:xfrm>
          <a:prstGeom prst="roundRect">
            <a:avLst/>
          </a:prstGeom>
          <a:solidFill>
            <a:srgbClr val="FFF6E0"/>
          </a:solidFill>
          <a:ln w="13970">
            <a:solidFill>
              <a:srgbClr val="C0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C07A00"/>
                </a:solidFill>
                <a:latin typeface="游ゴシック"/>
                <a:ea typeface="游ゴシック"/>
                <a:cs typeface="游ゴシック"/>
              </a:rPr>
              <a:t>製品タンク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0078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40512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10946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81380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51814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10222484" y="1609343"/>
            <a:ext cx="268732" cy="146304"/>
          </a:xfrm>
          <a:prstGeom prst="rightArrow">
            <a:avLst/>
          </a:prstGeom>
          <a:solidFill>
            <a:srgbClr val="00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2212848"/>
            <a:ext cx="4826000" cy="329184"/>
          </a:xfrm>
          <a:prstGeom prst="roundRect">
            <a:avLst/>
          </a:prstGeom>
          <a:solidFill>
            <a:srgbClr val="F0F2F4"/>
          </a:solidFill>
          <a:ln w="9525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水が多い → 反応しない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7340" y="2212848"/>
            <a:ext cx="6530340" cy="329184"/>
          </a:xfrm>
          <a:prstGeom prst="roundRect">
            <a:avLst/>
          </a:prstGeom>
          <a:solidFill>
            <a:srgbClr val="FFF6E0"/>
          </a:solidFill>
          <a:ln w="12700">
            <a:solidFill>
              <a:srgbClr val="C0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C07A00"/>
                </a:solidFill>
                <a:latin typeface="游ゴシック"/>
                <a:ea typeface="游ゴシック"/>
                <a:cs typeface="游ゴシック"/>
              </a:rPr>
              <a:t>色相悪化物質ができる反応場（水が少ない＝脱水塔以降）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246120"/>
            <a:ext cx="4826000" cy="1371600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アルデヒドはそのまま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CH3CHO</a:t>
            </a:r>
          </a:p>
          <a:p>
            <a:pPr algn="ctr"/>
            <a:r>
              <a:rPr sz="95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（水が多いと反応しない）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6347" y="2542032"/>
            <a:ext cx="21945" cy="704088"/>
          </a:xfrm>
          <a:prstGeom prst="round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1600" y="3246120"/>
            <a:ext cx="1828800" cy="1371600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5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ここから反応が始まる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アルデヒドどうしが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つながり始める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5027" y="2542032"/>
            <a:ext cx="21945" cy="704088"/>
          </a:xfrm>
          <a:prstGeom prst="round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77380" y="3566160"/>
            <a:ext cx="1645920" cy="731520"/>
          </a:xfrm>
          <a:prstGeom prst="roundRect">
            <a:avLst/>
          </a:prstGeom>
          <a:solidFill>
            <a:srgbClr val="F2F4F6"/>
          </a:solidFill>
          <a:ln w="11430">
            <a:solidFill>
              <a:srgbClr val="C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通過</a:t>
            </a:r>
          </a:p>
          <a:p>
            <a:pPr algn="ctr"/>
            <a:r>
              <a:rPr sz="95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新たな反応なし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89367" y="2542032"/>
            <a:ext cx="21945" cy="704088"/>
          </a:xfrm>
          <a:prstGeom prst="roundRect">
            <a:avLst/>
          </a:prstGeom>
          <a:solidFill>
            <a:srgbClr val="D9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21700" y="3246120"/>
            <a:ext cx="1965960" cy="1371600"/>
          </a:xfrm>
          <a:prstGeom prst="roundRect">
            <a:avLst/>
          </a:prstGeom>
          <a:solidFill>
            <a:srgbClr val="EBEFF2"/>
          </a:solidFill>
          <a:ln w="13970">
            <a:solidFill>
              <a:srgbClr val="005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003F7E"/>
                </a:solidFill>
                <a:latin typeface="游ゴシック"/>
                <a:ea typeface="游ゴシック"/>
                <a:cs typeface="游ゴシック"/>
              </a:rPr>
              <a:t>色のもと（前駆体）ができる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CH3-(CH=CH)3-CHO</a:t>
            </a:r>
          </a:p>
          <a:p>
            <a:pPr algn="ctr"/>
            <a:r>
              <a:rPr sz="95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まだ淡い・330nm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3707" y="2542032"/>
            <a:ext cx="21945" cy="704088"/>
          </a:xfrm>
          <a:prstGeom prst="round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5999" y="3246120"/>
            <a:ext cx="2011680" cy="1371600"/>
          </a:xfrm>
          <a:prstGeom prst="roundRect">
            <a:avLst/>
          </a:prstGeom>
          <a:solidFill>
            <a:srgbClr val="FFF6E0"/>
          </a:solidFill>
          <a:ln w="15875">
            <a:solidFill>
              <a:srgbClr val="C0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C07A00"/>
                </a:solidFill>
                <a:latin typeface="游ゴシック"/>
                <a:ea typeface="游ゴシック"/>
                <a:cs typeface="游ゴシック"/>
              </a:rPr>
              <a:t>色相悪化物質に育つ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CH3-(CH=CH)n-CHO</a:t>
            </a:r>
          </a:p>
          <a:p>
            <a:pPr algn="ctr"/>
            <a:r>
              <a:rPr sz="1000" b="1">
                <a:solidFill>
                  <a:srgbClr val="C07A00"/>
                </a:solidFill>
                <a:latin typeface="游ゴシック"/>
                <a:ea typeface="游ゴシック"/>
                <a:cs typeface="游ゴシック"/>
              </a:rPr>
              <a:t>黄色・450nm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98047" y="2542032"/>
            <a:ext cx="21945" cy="704088"/>
          </a:xfrm>
          <a:prstGeom prst="round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846320"/>
            <a:ext cx="1146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・水が多いEG反応〜濃縮では、アルデヒドはそのまま運ばれる（だから上流では色がつかない）。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・水が少なくなる脱水塔以降で、アルデヒドどうしがつながって大きくなり、色のもと（前駆体）ができる。製品タンクの長期保管でさらに大きくなって黄色（450nm）に。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・酸素があるとアルデヒドが別の物質（有機酸）に変わって反応が止まる（窒素タンクで進み、空気に触れると止まる）。温度を下げるとアルデヒドが分解されず下流へ回る。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（巻末）補足資料の一覧　※本編の流れで使うもの・聞かれた時に出すもの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本編：発生事象→推定メカニズム→工程ごとの事実（運転・設備・基礎研）→計画停止対応→S/U時の対応。下記は補足として後ろに置く。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035040"/>
                <a:gridCol w="1371600"/>
              </a:tblGrid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補足資料（タイトル）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記載する内容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状態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検査箇所・機器開放要否と結果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EG精製系の開放箇所と、開けなくてよい理由（脱水塔以降が縮合の場）。C-1503以外に異常なし。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あり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サンプル分析（鉄錆と450nm）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付着物・タンク異物はほぼ鉄サビ。DEG添加で380nmのみ＝450nmを作らない。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あり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運転対応実績とDEG色相への影響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NaOH・温度・回収率・還流などの影響（『改善効果』でなく『影響』表現）。温度↓・NaOHはS/U条件の根拠。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要整理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MEG塔リボイラー(E-1501)穴と水分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2025/10〜の水混入で水分が高めに見えた経緯。修理後は低めで推移。※本筋を混乱させるため聞かれた時のみ。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あり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AALD/FALDバランス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C-1502で見かけ上ALDが生成（塔間循環）。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あり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UV330nm 活性剤投入有無の比較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早期色相判断の可否検討。停止前（活性剤なし）と5月（リン酸あり）の比較データ。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要整理（製造）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リン酸の到達位置（C-1503壁面P分析）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リン酸が効いた場所の絞り込み。XRFでP検出有無。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結果待ち（基礎研）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DEG/TEGリサイクル系のALDバランス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上流から下流まで関係箇所を網羅したことを示す。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分析待ち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対策会議までに用意・確認する資料（佐野さんと整理）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666666"/>
                </a:solidFill>
                <a:latin typeface="游ゴシック"/>
                <a:ea typeface="游ゴシック"/>
                <a:cs typeface="游ゴシック"/>
              </a:rPr>
              <a:t>メカニズム→開放の紐付けを月曜にRD・木村含めて詰める。下記を揃える。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852160"/>
                <a:gridCol w="2103120"/>
              </a:tblGrid>
              <a:tr h="62701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項目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内容・狙い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3F7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担当・期限</a:t>
                      </a:r>
                    </a:p>
                  </a:txBody>
                  <a:tcPr anchor="ctr" marL="45720" marT="18288" marB="18288">
                    <a:solidFill>
                      <a:srgbClr val="EBEFF2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メカニズムの確定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推定メカニズムに基づき開放箇所を紐づける筋を固める（金属触媒でなくアルデヒド由来）。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月曜：佐野・高橋・RD・木村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リン酸の到達位置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C-1503壁面のP分析（XRF）。反応場の絞り込み材料。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基礎研（野田）・近日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DEG/TEGリサイクル系バランス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関係する上流〜下流を網羅したと示すALDバランス。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S/U会議まで・要レビュー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UV330nmの比較データ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活性剤投入有無での早期判断の可否。比較対象（トラブル前データ）も。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製造・データ整理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初期流動品の監視運用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一発目はタンクで1週間〜10日UV経時を確認。運転条件変更時の扱いも。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品証と来週調整</a:t>
                      </a:r>
                    </a:p>
                  </a:txBody>
                  <a:tcPr anchor="ctr" marL="45720" marT="18288" marB="18288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運転対応実績の整理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温度・NaOH・回収率・還流の『影響』。改善効果ありと書かない。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本編から補足へ</a:t>
                      </a:r>
                    </a:p>
                  </a:txBody>
                  <a:tcPr anchor="ctr" marL="45720" marT="18288" marB="18288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in template_Blue and Cool gray">
  <a:themeElements>
    <a:clrScheme name="blue and cool gray 1">
      <a:dk1>
        <a:srgbClr val="000000"/>
      </a:dk1>
      <a:lt1>
        <a:srgbClr val="FFFFFF"/>
      </a:lt1>
      <a:dk2>
        <a:srgbClr val="D6E0E5"/>
      </a:dk2>
      <a:lt2>
        <a:srgbClr val="EBEFF2"/>
      </a:lt2>
      <a:accent1>
        <a:srgbClr val="005BAB"/>
      </a:accent1>
      <a:accent2>
        <a:srgbClr val="003F7E"/>
      </a:accent2>
      <a:accent3>
        <a:srgbClr val="8A9093"/>
      </a:accent3>
      <a:accent4>
        <a:srgbClr val="B3BBBF"/>
      </a:accent4>
      <a:accent5>
        <a:srgbClr val="D7E0E5"/>
      </a:accent5>
      <a:accent6>
        <a:srgbClr val="6F92CC"/>
      </a:accent6>
      <a:hlink>
        <a:srgbClr val="005BAB"/>
      </a:hlink>
      <a:folHlink>
        <a:srgbClr val="000000"/>
      </a:folHlink>
    </a:clrScheme>
    <a:fontScheme name="游ゴシックMR＋Arial">
      <a:majorFont>
        <a:latin typeface="Arial"/>
        <a:ea typeface="游ゴシック"/>
        <a:cs typeface=""/>
      </a:majorFont>
      <a:minorFont>
        <a:latin typeface="Arial"/>
        <a:ea typeface="游ゴシック Medium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00FF"/>
        </a:solidFill>
        <a:ln>
          <a:solidFill>
            <a:srgbClr val="0000FF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72000" rIns="234000" bIns="0" anchor="t" anchorCtr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90904_KIOXIA_PPTTemplate_16×9_EN.pptx" id="{5AD8D898-F077-B642-BDB7-6C321C9FDD91}" vid="{90AFABDF-A4D8-0844-B6E0-EEFE7C005DB1}"/>
    </a:ext>
  </a:extLst>
</a:theme>
</file>

<file path=ppt/theme/theme2.xml><?xml version="1.0" encoding="utf-8"?>
<a:theme xmlns:a="http://schemas.openxmlformats.org/drawingml/2006/main" name="13_Basic templat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72000" rIns="234000" bIns="0" anchor="t" anchorCtr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CG_PPT_template_confidential_jp_16_9_メイリオ_Onodera.potx" id="{31355D5F-194C-40D1-89D7-55709F389C65}" vid="{34A5398F-9B00-4E7A-A1AF-B1B05C57776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1777EA4116404EBCD08B01038DDD81" ma:contentTypeVersion="11" ma:contentTypeDescription="新しいドキュメントを作成します。" ma:contentTypeScope="" ma:versionID="e8467fdb1e700d9a56c8e9754f18a21b">
  <xsd:schema xmlns:xsd="http://www.w3.org/2001/XMLSchema" xmlns:xs="http://www.w3.org/2001/XMLSchema" xmlns:p="http://schemas.microsoft.com/office/2006/metadata/properties" xmlns:ns2="6274f615-996e-4d4a-96d1-1958034f14d4" xmlns:ns3="11a50968-8ed5-4cc4-a3c1-125207e326f1" targetNamespace="http://schemas.microsoft.com/office/2006/metadata/properties" ma:root="true" ma:fieldsID="14337017600c68fde88e50e2c4b09256" ns2:_="" ns3:_="">
    <xsd:import namespace="6274f615-996e-4d4a-96d1-1958034f14d4"/>
    <xsd:import namespace="11a50968-8ed5-4cc4-a3c1-125207e326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74f615-996e-4d4a-96d1-1958034f14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8ec21e9-19a1-4e51-8266-82527bcf33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50968-8ed5-4cc4-a3c1-125207e326f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989f4f-a55e-4664-9cc5-c95c85b57d68}" ma:internalName="TaxCatchAll" ma:showField="CatchAllData" ma:web="11a50968-8ed5-4cc4-a3c1-125207e326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a50968-8ed5-4cc4-a3c1-125207e326f1" xsi:nil="true"/>
    <lcf76f155ced4ddcb4097134ff3c332f xmlns="6274f615-996e-4d4a-96d1-1958034f14d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B411E0-F5DC-409A-AB13-B854FFF65545}">
  <ds:schemaRefs>
    <ds:schemaRef ds:uri="11a50968-8ed5-4cc4-a3c1-125207e326f1"/>
    <ds:schemaRef ds:uri="6274f615-996e-4d4a-96d1-1958034f14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C91D0F-875C-45F5-8C50-156BC000D3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A672AD-688F-4051-BFAD-DB42F238CB31}">
  <ds:schemaRefs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6274f615-996e-4d4a-96d1-1958034f14d4"/>
    <ds:schemaRef ds:uri="http://schemas.microsoft.com/office/2006/documentManagement/types"/>
    <ds:schemaRef ds:uri="11a50968-8ed5-4cc4-a3c1-125207e326f1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3063</Words>
  <Application>Microsoft Office PowerPoint</Application>
  <PresentationFormat>ワイド画面</PresentationFormat>
  <Paragraphs>584</Paragraphs>
  <Slides>22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Meiryo UI</vt:lpstr>
      <vt:lpstr>ＭＳ ゴシック</vt:lpstr>
      <vt:lpstr>メイリオ</vt:lpstr>
      <vt:lpstr>游ゴシック</vt:lpstr>
      <vt:lpstr>Arial</vt:lpstr>
      <vt:lpstr>Calibri</vt:lpstr>
      <vt:lpstr>Main template_Blue and Cool gray</vt:lpstr>
      <vt:lpstr>13_Basic template</vt:lpstr>
      <vt:lpstr>CS ChemDraw 64-bit Drawing</vt:lpstr>
      <vt:lpstr>DEG色相対応 S/U前会議</vt:lpstr>
      <vt:lpstr>DEG色相悪化 発生事象</vt:lpstr>
      <vt:lpstr>APHA （450 nm）上昇推定メカニズム</vt:lpstr>
      <vt:lpstr>工程ごとで確認された事実と考えらる原理、仮説</vt:lpstr>
      <vt:lpstr>運転で確認された事実</vt:lpstr>
      <vt:lpstr>設備開放で確認された事実</vt:lpstr>
      <vt:lpstr>2026年計画停止_検査箇所</vt:lpstr>
      <vt:lpstr>機器開放要否判断と開放結果_EGプラント</vt:lpstr>
      <vt:lpstr>機器開放要否判断と開放結果_EGプラント配管</vt:lpstr>
      <vt:lpstr>機器開放要否判断と開放結果_共通配管帯、操油課</vt:lpstr>
      <vt:lpstr>基礎研で検証された事実</vt:lpstr>
      <vt:lpstr>サンプル分析 </vt:lpstr>
      <vt:lpstr>スタートアップ時の対応_運転対応、設備対応、出荷対応</vt:lpstr>
      <vt:lpstr>運転対応実績とDEG色相改善効果</vt:lpstr>
      <vt:lpstr>スタートアップ時の対応_分析項目</vt:lpstr>
      <vt:lpstr>PowerPoint プレゼンテーション</vt:lpstr>
      <vt:lpstr>DEG色相悪化メカニズム（推定）</vt:lpstr>
      <vt:lpstr>スタートアップ時の対応</vt:lpstr>
      <vt:lpstr>【最終報告】茨城事業所 EO課　製品MEG水分上昇によるEO/EGプラント停止</vt:lpstr>
      <vt:lpstr>E-1501補修前後のMEG塔周りの水分濃度推移</vt:lpstr>
      <vt:lpstr>MEG塔TOP(IER前) AALDとHUV220nmの挙動</vt:lpstr>
      <vt:lpstr>AALD/FALD バランス　(g/h)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hara kyota/2308861/原　恭太</dc:creator>
  <cp:keywords/>
  <dc:description/>
  <cp:lastModifiedBy>hirao kazuaki/0465811/平尾　一陽</cp:lastModifiedBy>
  <cp:revision>2</cp:revision>
  <cp:lastPrinted>2026-04-20T10:22:20Z</cp:lastPrinted>
  <dcterms:created xsi:type="dcterms:W3CDTF">2022-06-15T12:36:54Z</dcterms:created>
  <dcterms:modified xsi:type="dcterms:W3CDTF">2026-06-22T02:03:22Z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0x010100121777EA4116404EBCD08B01038DDD81</vt:lpwstr>
  </property>
  <property fmtid="{D5CDD505-2E9C-101B-9397-08002B2CF9AE}" pid="3" name="MediaServiceImageTags">
    <vt:lpwstr/>
  </property>
  <property fmtid="{D5CDD505-2E9C-101B-9397-08002B2CF9AE}" pid="4" name="NXPowerLiteLastOptimized">
    <vt:lpwstr>1534308</vt:lpwstr>
  </property>
  <property fmtid="{D5CDD505-2E9C-101B-9397-08002B2CF9AE}" pid="5" name="NXPowerLiteSettings">
    <vt:lpwstr>E700052003A000</vt:lpwstr>
  </property>
  <property fmtid="{D5CDD505-2E9C-101B-9397-08002B2CF9AE}" pid="6" name="NXPowerLiteVersion">
    <vt:lpwstr>D9.1.3</vt:lpwstr>
  </property>
</Properties>
</file>